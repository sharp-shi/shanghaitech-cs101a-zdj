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573" r:id="rId3"/>
    <p:sldId id="470" r:id="rId5"/>
    <p:sldId id="583" r:id="rId6"/>
    <p:sldId id="584" r:id="rId7"/>
    <p:sldId id="586" r:id="rId8"/>
    <p:sldId id="585" r:id="rId9"/>
    <p:sldId id="587" r:id="rId10"/>
    <p:sldId id="588" r:id="rId11"/>
    <p:sldId id="608" r:id="rId12"/>
    <p:sldId id="609" r:id="rId13"/>
    <p:sldId id="589" r:id="rId14"/>
    <p:sldId id="590" r:id="rId15"/>
    <p:sldId id="591" r:id="rId16"/>
    <p:sldId id="592" r:id="rId17"/>
    <p:sldId id="593" r:id="rId18"/>
    <p:sldId id="594" r:id="rId19"/>
    <p:sldId id="595" r:id="rId20"/>
    <p:sldId id="596" r:id="rId21"/>
    <p:sldId id="597" r:id="rId22"/>
    <p:sldId id="598" r:id="rId23"/>
    <p:sldId id="599" r:id="rId24"/>
    <p:sldId id="600" r:id="rId25"/>
    <p:sldId id="601" r:id="rId26"/>
    <p:sldId id="602" r:id="rId27"/>
    <p:sldId id="603" r:id="rId28"/>
    <p:sldId id="604" r:id="rId29"/>
    <p:sldId id="605" r:id="rId30"/>
    <p:sldId id="606" r:id="rId31"/>
    <p:sldId id="607" r:id="rId32"/>
    <p:sldId id="471" r:id="rId33"/>
    <p:sldId id="574" r:id="rId34"/>
    <p:sldId id="475" r:id="rId35"/>
    <p:sldId id="476" r:id="rId36"/>
    <p:sldId id="477" r:id="rId37"/>
    <p:sldId id="478" r:id="rId38"/>
    <p:sldId id="480" r:id="rId39"/>
    <p:sldId id="620" r:id="rId40"/>
    <p:sldId id="621" r:id="rId41"/>
    <p:sldId id="619" r:id="rId42"/>
    <p:sldId id="610" r:id="rId43"/>
    <p:sldId id="611" r:id="rId44"/>
    <p:sldId id="612" r:id="rId45"/>
    <p:sldId id="613" r:id="rId46"/>
    <p:sldId id="614" r:id="rId47"/>
    <p:sldId id="615" r:id="rId48"/>
    <p:sldId id="616" r:id="rId49"/>
    <p:sldId id="617" r:id="rId50"/>
    <p:sldId id="618" r:id="rId51"/>
    <p:sldId id="479" r:id="rId52"/>
    <p:sldId id="482" r:id="rId53"/>
    <p:sldId id="484" r:id="rId54"/>
    <p:sldId id="485" r:id="rId55"/>
    <p:sldId id="486" r:id="rId56"/>
    <p:sldId id="487" r:id="rId57"/>
    <p:sldId id="488" r:id="rId58"/>
    <p:sldId id="489" r:id="rId59"/>
    <p:sldId id="490" r:id="rId60"/>
    <p:sldId id="491" r:id="rId61"/>
    <p:sldId id="492" r:id="rId62"/>
    <p:sldId id="493" r:id="rId63"/>
    <p:sldId id="494" r:id="rId64"/>
    <p:sldId id="495" r:id="rId65"/>
    <p:sldId id="496" r:id="rId66"/>
    <p:sldId id="497" r:id="rId67"/>
    <p:sldId id="498" r:id="rId68"/>
    <p:sldId id="499" r:id="rId69"/>
    <p:sldId id="500" r:id="rId70"/>
    <p:sldId id="501" r:id="rId71"/>
    <p:sldId id="502" r:id="rId72"/>
    <p:sldId id="582" r:id="rId73"/>
    <p:sldId id="503" r:id="rId74"/>
    <p:sldId id="504" r:id="rId75"/>
    <p:sldId id="505" r:id="rId76"/>
    <p:sldId id="506" r:id="rId77"/>
    <p:sldId id="508" r:id="rId78"/>
    <p:sldId id="507" r:id="rId79"/>
    <p:sldId id="509" r:id="rId80"/>
    <p:sldId id="510" r:id="rId81"/>
    <p:sldId id="511" r:id="rId82"/>
    <p:sldId id="512" r:id="rId83"/>
    <p:sldId id="575" r:id="rId84"/>
    <p:sldId id="272" r:id="rId85"/>
    <p:sldId id="273" r:id="rId86"/>
    <p:sldId id="274" r:id="rId87"/>
    <p:sldId id="513" r:id="rId88"/>
    <p:sldId id="515" r:id="rId89"/>
    <p:sldId id="516" r:id="rId90"/>
    <p:sldId id="517" r:id="rId91"/>
    <p:sldId id="518" r:id="rId92"/>
    <p:sldId id="519" r:id="rId93"/>
    <p:sldId id="520" r:id="rId94"/>
    <p:sldId id="521" r:id="rId95"/>
    <p:sldId id="522" r:id="rId96"/>
    <p:sldId id="523" r:id="rId97"/>
    <p:sldId id="524" r:id="rId98"/>
    <p:sldId id="525" r:id="rId99"/>
    <p:sldId id="526" r:id="rId100"/>
    <p:sldId id="527" r:id="rId101"/>
    <p:sldId id="528" r:id="rId102"/>
    <p:sldId id="529" r:id="rId103"/>
    <p:sldId id="530" r:id="rId104"/>
    <p:sldId id="534" r:id="rId105"/>
    <p:sldId id="576" r:id="rId106"/>
    <p:sldId id="577" r:id="rId107"/>
    <p:sldId id="578" r:id="rId108"/>
    <p:sldId id="579" r:id="rId109"/>
    <p:sldId id="580" r:id="rId110"/>
    <p:sldId id="581" r:id="rId111"/>
    <p:sldId id="567" r:id="rId112"/>
    <p:sldId id="568" r:id="rId113"/>
    <p:sldId id="569" r:id="rId11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E7169FAC-53BA-4B01-B276-F8F148BBF44E}">
          <p14:sldIdLst>
            <p14:sldId id="573"/>
            <p14:sldId id="470"/>
            <p14:sldId id="583"/>
            <p14:sldId id="584"/>
            <p14:sldId id="586"/>
            <p14:sldId id="585"/>
            <p14:sldId id="587"/>
            <p14:sldId id="588"/>
            <p14:sldId id="608"/>
            <p14:sldId id="609"/>
            <p14:sldId id="589"/>
            <p14:sldId id="590"/>
            <p14:sldId id="591"/>
            <p14:sldId id="592"/>
            <p14:sldId id="593"/>
            <p14:sldId id="594"/>
            <p14:sldId id="595"/>
            <p14:sldId id="596"/>
            <p14:sldId id="597"/>
            <p14:sldId id="598"/>
            <p14:sldId id="599"/>
            <p14:sldId id="600"/>
            <p14:sldId id="601"/>
            <p14:sldId id="602"/>
            <p14:sldId id="603"/>
            <p14:sldId id="604"/>
            <p14:sldId id="605"/>
            <p14:sldId id="606"/>
            <p14:sldId id="607"/>
            <p14:sldId id="471"/>
          </p14:sldIdLst>
        </p14:section>
        <p14:section name="Untitled Section" id="{3C1D797D-F292-4E69-A0B4-5F97DC0DE73E}">
          <p14:sldIdLst>
            <p14:sldId id="574"/>
            <p14:sldId id="475"/>
            <p14:sldId id="476"/>
            <p14:sldId id="477"/>
            <p14:sldId id="478"/>
            <p14:sldId id="480"/>
            <p14:sldId id="620"/>
            <p14:sldId id="621"/>
            <p14:sldId id="619"/>
            <p14:sldId id="610"/>
            <p14:sldId id="611"/>
            <p14:sldId id="612"/>
            <p14:sldId id="613"/>
            <p14:sldId id="614"/>
            <p14:sldId id="615"/>
            <p14:sldId id="616"/>
            <p14:sldId id="617"/>
            <p14:sldId id="618"/>
            <p14:sldId id="479"/>
            <p14:sldId id="482"/>
            <p14:sldId id="484"/>
            <p14:sldId id="485"/>
            <p14:sldId id="486"/>
            <p14:sldId id="487"/>
            <p14:sldId id="488"/>
            <p14:sldId id="489"/>
            <p14:sldId id="490"/>
            <p14:sldId id="491"/>
            <p14:sldId id="492"/>
            <p14:sldId id="493"/>
            <p14:sldId id="494"/>
            <p14:sldId id="495"/>
            <p14:sldId id="496"/>
            <p14:sldId id="497"/>
            <p14:sldId id="498"/>
            <p14:sldId id="499"/>
            <p14:sldId id="500"/>
            <p14:sldId id="501"/>
            <p14:sldId id="502"/>
            <p14:sldId id="582"/>
            <p14:sldId id="503"/>
            <p14:sldId id="504"/>
            <p14:sldId id="505"/>
            <p14:sldId id="506"/>
            <p14:sldId id="508"/>
            <p14:sldId id="507"/>
            <p14:sldId id="509"/>
            <p14:sldId id="510"/>
            <p14:sldId id="511"/>
            <p14:sldId id="512"/>
          </p14:sldIdLst>
        </p14:section>
        <p14:section name="Untitled Section" id="{FED46A3A-0226-450C-A042-4DD213C887FF}">
          <p14:sldIdLst>
            <p14:sldId id="575"/>
            <p14:sldId id="272"/>
            <p14:sldId id="273"/>
            <p14:sldId id="274"/>
            <p14:sldId id="513"/>
            <p14:sldId id="515"/>
            <p14:sldId id="516"/>
            <p14:sldId id="517"/>
            <p14:sldId id="518"/>
            <p14:sldId id="519"/>
            <p14:sldId id="520"/>
            <p14:sldId id="521"/>
            <p14:sldId id="522"/>
            <p14:sldId id="523"/>
            <p14:sldId id="524"/>
            <p14:sldId id="525"/>
            <p14:sldId id="526"/>
            <p14:sldId id="527"/>
            <p14:sldId id="528"/>
            <p14:sldId id="529"/>
            <p14:sldId id="530"/>
            <p14:sldId id="534"/>
            <p14:sldId id="576"/>
            <p14:sldId id="577"/>
            <p14:sldId id="578"/>
            <p14:sldId id="579"/>
            <p14:sldId id="580"/>
          </p14:sldIdLst>
        </p14:section>
        <p14:section name="Untitled Section" id="{2D2A5FF3-E8CB-48DE-9601-0330B484D27B}">
          <p14:sldIdLst>
            <p14:sldId id="581"/>
            <p14:sldId id="567"/>
            <p14:sldId id="568"/>
            <p14:sldId id="5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DF71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36" autoAdjust="0"/>
    <p:restoredTop sz="67978" autoAdjust="0"/>
  </p:normalViewPr>
  <p:slideViewPr>
    <p:cSldViewPr showGuides="1">
      <p:cViewPr varScale="1">
        <p:scale>
          <a:sx n="62" d="100"/>
          <a:sy n="62" d="100"/>
        </p:scale>
        <p:origin x="1518" y="4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40" d="100"/>
        <a:sy n="140" d="100"/>
      </p:scale>
      <p:origin x="0" y="-33084"/>
    </p:cViewPr>
  </p:sorterViewPr>
  <p:notesViewPr>
    <p:cSldViewPr>
      <p:cViewPr varScale="1">
        <p:scale>
          <a:sx n="92" d="100"/>
          <a:sy n="92" d="100"/>
        </p:scale>
        <p:origin x="-3768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7" Type="http://schemas.openxmlformats.org/officeDocument/2006/relationships/tableStyles" Target="tableStyles.xml"/><Relationship Id="rId116" Type="http://schemas.openxmlformats.org/officeDocument/2006/relationships/viewProps" Target="viewProps.xml"/><Relationship Id="rId115" Type="http://schemas.openxmlformats.org/officeDocument/2006/relationships/presProps" Target="presProps.xml"/><Relationship Id="rId114" Type="http://schemas.openxmlformats.org/officeDocument/2006/relationships/slide" Target="slides/slide111.xml"/><Relationship Id="rId113" Type="http://schemas.openxmlformats.org/officeDocument/2006/relationships/slide" Target="slides/slide110.xml"/><Relationship Id="rId112" Type="http://schemas.openxmlformats.org/officeDocument/2006/relationships/slide" Target="slides/slide109.xml"/><Relationship Id="rId111" Type="http://schemas.openxmlformats.org/officeDocument/2006/relationships/slide" Target="slides/slide108.xml"/><Relationship Id="rId110" Type="http://schemas.openxmlformats.org/officeDocument/2006/relationships/slide" Target="slides/slide107.xml"/><Relationship Id="rId11" Type="http://schemas.openxmlformats.org/officeDocument/2006/relationships/slide" Target="slides/slide8.xml"/><Relationship Id="rId109" Type="http://schemas.openxmlformats.org/officeDocument/2006/relationships/slide" Target="slides/slide106.xml"/><Relationship Id="rId108" Type="http://schemas.openxmlformats.org/officeDocument/2006/relationships/slide" Target="slides/slide105.xml"/><Relationship Id="rId107" Type="http://schemas.openxmlformats.org/officeDocument/2006/relationships/slide" Target="slides/slide104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3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1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4A6F3147-B3C0-4B2A-B964-AB106F786BE1}" type="datetimeFigureOut">
              <a:rPr lang="en-US"/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CA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CA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BF7B1FF-DFE5-4B27-8E0E-F1DDF2FB76BC}" type="slidenum">
              <a:rPr lang="en-CA"/>
            </a:fld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6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7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9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0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2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8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9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0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000000"/>
                </a:solidFill>
                <a:latin typeface="Arial" panose="020B0604020202020204"/>
                <a:cs typeface="+mn-cs"/>
              </a:rPr>
              <a:t>目前除去动画效果，保留了大概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/>
                <a:cs typeface="+mn-cs"/>
              </a:rPr>
              <a:t>40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/>
                <a:cs typeface="+mn-cs"/>
              </a:rPr>
              <a:t>页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/>
                <a:cs typeface="+mn-cs"/>
              </a:rPr>
              <a:t>PPT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/>
                <a:cs typeface="+mn-cs"/>
              </a:rPr>
              <a:t>，主要思路：</a:t>
            </a:r>
            <a:endParaRPr lang="en-US" altLang="zh-CN" sz="1200" dirty="0">
              <a:solidFill>
                <a:srgbClr val="000000"/>
              </a:solidFill>
              <a:latin typeface="Arial" panose="020B0604020202020204"/>
              <a:cs typeface="+mn-cs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lang="zh-CN" altLang="en-US" sz="1200" dirty="0">
                <a:solidFill>
                  <a:srgbClr val="000000"/>
                </a:solidFill>
                <a:latin typeface="Arial" panose="020B0604020202020204"/>
                <a:cs typeface="+mn-cs"/>
              </a:rPr>
              <a:t>从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Reverse-Polish Notation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引出堆栈这种结构的需求和作用。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lang="zh-CN" altLang="en-US" dirty="0"/>
              <a:t>明确堆栈的抽象数据类型。</a:t>
            </a:r>
            <a:endParaRPr lang="en-US" altLang="zh-CN" dirty="0"/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lang="zh-CN" altLang="en-US" dirty="0"/>
              <a:t>利用堆栈的实现，引导学生思考用链表和线性表实现堆栈的利弊，同时复习两种数据类型的特点。</a:t>
            </a:r>
            <a:endParaRPr lang="en-US" altLang="zh-CN" dirty="0"/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lang="zh-CN" altLang="en-US" dirty="0"/>
              <a:t>在利用链表实现部分，主要复习入栈时插入一个结点和出栈时删除一个结点的操作。</a:t>
            </a:r>
            <a:endParaRPr lang="en-US" altLang="zh-CN" dirty="0"/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lang="zh-CN" altLang="en-US" dirty="0"/>
              <a:t>在利用</a:t>
            </a:r>
            <a:r>
              <a:rPr lang="en-US" altLang="zh-CN" dirty="0"/>
              <a:t>array</a:t>
            </a:r>
            <a:r>
              <a:rPr lang="zh-CN" altLang="en-US" dirty="0"/>
              <a:t>实现部分，主要讨论</a:t>
            </a:r>
            <a:r>
              <a:rPr lang="en-US" altLang="zh-CN" dirty="0"/>
              <a:t>array</a:t>
            </a:r>
            <a:r>
              <a:rPr lang="zh-CN" altLang="en-US" dirty="0"/>
              <a:t>扩容引起的操作复杂度问题，并由此引出平均复杂度的思路和计算方法。</a:t>
            </a:r>
            <a:endParaRPr lang="en-US" altLang="zh-CN" dirty="0"/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lang="en-US" altLang="zh-CN" dirty="0"/>
              <a:t>Mazing</a:t>
            </a:r>
            <a:r>
              <a:rPr lang="zh-CN" altLang="en-US" dirty="0"/>
              <a:t> </a:t>
            </a:r>
            <a:r>
              <a:rPr lang="en-US" altLang="zh-CN" dirty="0"/>
              <a:t>routing</a:t>
            </a:r>
            <a:r>
              <a:rPr lang="zh-CN" altLang="en-US" dirty="0"/>
              <a:t> 例子（可以根据时间删去）</a:t>
            </a:r>
            <a:endParaRPr lang="en-US" altLang="zh-CN" dirty="0"/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endParaRPr lang="en-US" altLang="zh-CN" dirty="0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E6226FB-55D5-4CAA-90EF-D8DC53E1A20F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126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2F18E0-8521-42FB-B183-705DC2DF90FD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832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F0B00DE-08A7-4721-8958-8A13C60079DF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843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DC54B5-4605-45BE-A8D9-AD6232ECA496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863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C16B33-F695-4876-844A-5494CBE42AA5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853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E09FC4E-89D2-43E2-869C-9CFDEC1B95AC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873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Reverse-Polish can be processed using stacks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后缀表达式的优越：不用等待运算符，不需要定义</a:t>
            </a:r>
            <a:r>
              <a:rPr lang="en-US" altLang="zh-CN" dirty="0"/>
              <a:t>priority</a:t>
            </a:r>
            <a:r>
              <a:rPr lang="zh-CN" altLang="en-US" dirty="0"/>
              <a:t>，没有任何歧义。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34241E-EB96-4DA6-B0B4-5A96A15253E9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894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lang="zh-CN" altLang="en-US" dirty="0"/>
              <a:t>后缀表达式具体最简单地实现方式，就是用栈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606CEF-3120-414B-B6F6-7B2EDAB404B9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146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>
              <a:buFont typeface="Arial" panose="020B0604020202020204" pitchFamily="34" charset="0"/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	There are two exceptions associated with abstract stacks: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It is an undefined operation to call either pop or top on an empty stack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DA2E43-C155-44DD-86E8-C3187209609F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157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CD3629C-26C6-46D8-B6AB-575D552E9D2C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904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F5653CD-89AF-48E3-9050-8F03B0EB14F2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914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F6063E4-CE3E-47AD-A669-BCFC945C2837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925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FCFBD26-5D1C-4D5E-988E-28BE6192967B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935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7F2AC8-5898-462F-A43A-C7ADBFEE3F6F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945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59312-4D02-4966-B5BD-1F685C89AA4F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955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AC9FD29-08E6-490E-A511-786C29675127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966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0B5F9FC-81AA-4E91-A4C7-218072555BAD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976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1073BA8-59E5-4A62-B242-57623F28987C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986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4D85F10-D732-4236-A702-C10016A90584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996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3C60F92-C5F5-47BA-B7E3-5B818509B25E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007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DF98DE7-45E1-48F7-8D3A-55B922887FF8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0173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E706072-BF6E-41C9-A5F3-6727CA06236B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027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EA2DFD-E9D1-4F49-B5CC-B8BF1F0F26FE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037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B0FE31D-8E8E-415C-BEB5-6FDC14539CBF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048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3614605-87DD-4D4B-B624-60672CAFE622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058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07F9FC9-9914-4E3B-B0A7-9CACCE82DBB8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068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1A165F2-5283-4F68-9932-33B5291A5F3C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078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8620376-44C5-480B-809B-00D5E0D8456D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088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06927CA-FA1D-4252-82BB-575DA06597EF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136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B460305-01AA-474A-8B78-41A9919CE4F1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126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2F18E0-8521-42FB-B183-705DC2DF90FD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177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lang="zh-CN" altLang="en-US" dirty="0"/>
              <a:t>两种存储结构：单向链表 和 单向数组</a:t>
            </a: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E183472-F822-400F-8773-7A324054A8E8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187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D7A6DC5-10B9-4213-BAD2-BC0549C31649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198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C94EEE7-B773-4B05-A61A-C12DB013C819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208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lang="zh-CN" altLang="en-US" dirty="0"/>
              <a:t>需要定义已经满了吗？如果决定要用链表表示栈，应该把</a:t>
            </a:r>
            <a:r>
              <a:rPr lang="en-US" altLang="zh-CN" dirty="0"/>
              <a:t>Top</a:t>
            </a:r>
            <a:r>
              <a:rPr lang="zh-CN" altLang="en-US" dirty="0"/>
              <a:t>放在表尾还是表头？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037ED3-D1E1-486A-B856-BE21E06B6367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228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lang="en-CA" dirty="0"/>
              <a:t>1</a:t>
            </a:r>
            <a:r>
              <a:rPr lang="zh-CN" altLang="en-US" dirty="0"/>
              <a:t>。 判断是否空栈，直接继承单向链表是否是空表</a:t>
            </a:r>
            <a:endParaRPr lang="en-US" altLang="zh-CN" dirty="0"/>
          </a:p>
          <a:p>
            <a:r>
              <a:rPr lang="en-US" dirty="0"/>
              <a:t>2. </a:t>
            </a:r>
            <a:r>
              <a:rPr lang="zh-CN" altLang="en-US" dirty="0"/>
              <a:t>出栈操作，用的是 </a:t>
            </a:r>
            <a:r>
              <a:rPr lang="en-US" altLang="zh-CN" dirty="0" err="1"/>
              <a:t>push_front</a:t>
            </a:r>
            <a:r>
              <a:rPr lang="en-US" altLang="zh-CN" dirty="0"/>
              <a:t> (</a:t>
            </a:r>
            <a:r>
              <a:rPr lang="zh-CN" altLang="en-US" dirty="0"/>
              <a:t>复习</a:t>
            </a:r>
            <a:r>
              <a:rPr lang="en-US" altLang="zh-CN" dirty="0" err="1"/>
              <a:t>push_front</a:t>
            </a:r>
            <a:r>
              <a:rPr lang="en-US" altLang="zh-CN" dirty="0"/>
              <a:t>) PPT1 Page 53-59</a:t>
            </a:r>
            <a:endParaRPr lang="en-CA" dirty="0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53E9340F-5D5C-4701-8856-4BAB17C5B032}" type="slidenum">
              <a:rPr lang="en-CA" sz="1200">
                <a:latin typeface="+mn-lt"/>
                <a:cs typeface="+mn-cs"/>
              </a:rPr>
            </a:fld>
            <a:endParaRPr lang="en-CA" sz="1200">
              <a:latin typeface="+mn-lt"/>
              <a:cs typeface="+mn-cs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F7B1FF-DFE5-4B27-8E0E-F1DDF2FB76BC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F7B1FF-DFE5-4B27-8E0E-F1DDF2FB76BC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239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lang="zh-CN" altLang="en-US" dirty="0"/>
              <a:t>读取栈顶数据：判断不是空表，</a:t>
            </a:r>
            <a:r>
              <a:rPr lang="en-US" altLang="zh-CN" dirty="0" err="1"/>
              <a:t>list.front</a:t>
            </a:r>
            <a:r>
              <a:rPr lang="en-US" altLang="zh-CN" dirty="0"/>
              <a:t>();</a:t>
            </a:r>
            <a:r>
              <a:rPr lang="en-US" altLang="zh-CN" baseline="0" dirty="0"/>
              <a:t> </a:t>
            </a:r>
            <a:endParaRPr lang="en-US" altLang="zh-CN" baseline="0" dirty="0"/>
          </a:p>
          <a:p>
            <a:r>
              <a:rPr lang="zh-CN" altLang="en-US" baseline="0" dirty="0"/>
              <a:t>出栈：删除表头节点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376663-187D-4554-8C61-E8B640B28EC4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F7B1FF-DFE5-4B27-8E0E-F1DDF2FB76BC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F7B1FF-DFE5-4B27-8E0E-F1DDF2FB76BC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F7B1FF-DFE5-4B27-8E0E-F1DDF2FB76BC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F7B1FF-DFE5-4B27-8E0E-F1DDF2FB76BC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F7B1FF-DFE5-4B27-8E0E-F1DDF2FB76BC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F7B1FF-DFE5-4B27-8E0E-F1DDF2FB76BC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F7B1FF-DFE5-4B27-8E0E-F1DDF2FB76BC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F7B1FF-DFE5-4B27-8E0E-F1DDF2FB76BC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F7B1FF-DFE5-4B27-8E0E-F1DDF2FB76BC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218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60E75CDF-A2DA-4CD6-8E84-5EACB16D8C09}" type="slidenum">
              <a:rPr lang="en-CA" sz="1200">
                <a:latin typeface="+mn-lt"/>
                <a:cs typeface="+mn-cs"/>
              </a:rPr>
            </a:fld>
            <a:endParaRPr lang="en-CA" sz="1200">
              <a:latin typeface="+mn-lt"/>
              <a:cs typeface="+mn-cs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2493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F385B6-3082-4868-954E-F8A96A9E1DF9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269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CA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2859E92-8C86-4886-BDB6-E42BFE3BF8FA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280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lang="zh-CN" altLang="en-US" dirty="0"/>
              <a:t>初始</a:t>
            </a:r>
            <a:r>
              <a:rPr lang="en-US" altLang="zh-CN" dirty="0" err="1"/>
              <a:t>stack_size</a:t>
            </a:r>
            <a:r>
              <a:rPr lang="en-US" altLang="zh-CN" dirty="0"/>
              <a:t>=0;</a:t>
            </a:r>
            <a:r>
              <a:rPr lang="en-US" altLang="zh-CN" baseline="0" dirty="0"/>
              <a:t> </a:t>
            </a:r>
            <a:endParaRPr lang="en-US" altLang="zh-CN" baseline="0" dirty="0"/>
          </a:p>
          <a:p>
            <a:endParaRPr lang="en-US" baseline="0" dirty="0"/>
          </a:p>
          <a:p>
            <a:r>
              <a:rPr lang="zh-CN" altLang="en-US" baseline="0" dirty="0"/>
              <a:t>容量是</a:t>
            </a:r>
            <a:r>
              <a:rPr lang="en-US" altLang="zh-CN" baseline="0" dirty="0"/>
              <a:t>N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BC8213C-0D5C-47D1-9C8D-7DF270397826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290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0C8841B4-92E5-4C8C-ACC3-5C34EDA7FC44}" type="slidenum">
              <a:rPr lang="en-CA" sz="1200">
                <a:latin typeface="+mn-lt"/>
                <a:cs typeface="+mn-cs"/>
              </a:rPr>
            </a:fld>
            <a:endParaRPr lang="en-CA" sz="1200">
              <a:latin typeface="+mn-lt"/>
              <a:cs typeface="+mn-cs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300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lang="zh-CN" altLang="en-US" dirty="0"/>
              <a:t>顺便提一下</a:t>
            </a:r>
            <a:r>
              <a:rPr lang="en-US" altLang="zh-CN" dirty="0" err="1"/>
              <a:t>lincked</a:t>
            </a:r>
            <a:r>
              <a:rPr lang="en-CA" altLang="zh-CN" dirty="0"/>
              <a:t>_list</a:t>
            </a:r>
            <a:r>
              <a:rPr lang="zh-CN" altLang="en-US" dirty="0"/>
              <a:t>怎么删除</a:t>
            </a: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A5D71EB-23A2-43E9-ADF8-43D8CB032A2E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310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lang="zh-CN" altLang="en-US" dirty="0"/>
              <a:t>判断是否空栈：只需要看</a:t>
            </a:r>
            <a:r>
              <a:rPr lang="en-US" altLang="zh-CN" dirty="0" err="1"/>
              <a:t>stack_size</a:t>
            </a:r>
            <a:r>
              <a:rPr lang="zh-CN" altLang="en-US" dirty="0"/>
              <a:t>是否为零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3577ED-D42D-4AB5-897C-474DC54D6092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320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 dirty="0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C9A33432-5E01-4396-94FC-A5AE12B898B4}" type="slidenum">
              <a:rPr lang="en-CA" sz="1200">
                <a:latin typeface="+mn-lt"/>
                <a:cs typeface="+mn-cs"/>
              </a:rPr>
            </a:fld>
            <a:endParaRPr lang="en-CA" sz="1200">
              <a:latin typeface="+mn-lt"/>
              <a:cs typeface="+mn-cs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331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 dirty="0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BEA95E0A-3A6F-4E0F-B160-50E0A8450E5D}" type="slidenum">
              <a:rPr lang="en-CA" sz="1200">
                <a:latin typeface="+mn-lt"/>
                <a:cs typeface="+mn-cs"/>
              </a:rPr>
            </a:fld>
            <a:endParaRPr lang="en-CA" sz="1200">
              <a:latin typeface="+mn-lt"/>
              <a:cs typeface="+mn-cs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341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851B72E-3846-48CF-8620-EA4D1222CEB8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35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15DCBDE-341D-4387-A7D7-420470EA138B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361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EB2EBB3-68BE-4F7A-80B2-EB7BF143D58D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372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33C6F18-4249-426F-88F9-41ECE684A5E4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382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8953FA9-7B17-45C7-AD1B-45EDB1CBC22F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392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C171B8-F4A2-45ED-9C38-C2DF123E25F5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402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8ED9950-C9EB-4140-A289-092CF9EB9759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413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D630227-D459-4635-8D04-643A40784481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423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32E4023-46B7-4683-8C7F-8A8AB26F764A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433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6A62FBD-11D8-4E83-8638-BD587AEC0FD3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443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6464FE-8328-4EA3-9225-3D0E44935973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454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C6582D-A592-4972-A60A-D19417077D5D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464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70A143E-A182-431C-928C-284732A02637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464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70A143E-A182-431C-928C-284732A02637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474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62A7C9-D08A-46A1-8315-4EA23FE68CA1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484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C8F4580-6ACF-4DD3-B93E-4946E5584675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495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A6A77CE-5F5E-4AFA-B848-E0D499D786C8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515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A6FF73E-63B1-4DEB-9B47-8611CA351B47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5053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6FCF647-DE08-4DB3-B323-173465F25FA1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525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B305B9-5426-4F26-A8DA-F26467CD1C5D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536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F2008A1-B274-4730-8940-067D07E22F5F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546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EDB8A77-B2F7-475B-8C76-17AF847DCFE5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556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0282180-21D5-4E68-A0B9-99BF0F16C399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126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2F18E0-8521-42FB-B183-705DC2DF90FD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例子：迷宫寻路问题，</a:t>
            </a:r>
            <a:r>
              <a:rPr lang="zh-CN" altLang="en-US" dirty="0">
                <a:ea typeface="楷体_GB2312" pitchFamily="1" charset="-122"/>
              </a:rPr>
              <a:t>探索一条从入口到出口的通路。规则如下：</a:t>
            </a:r>
            <a:r>
              <a:rPr lang="zh-CN" altLang="en-US" sz="1200" b="0" dirty="0">
                <a:ea typeface="楷体_GB2312" pitchFamily="1" charset="-122"/>
                <a:cs typeface="Arial" panose="020B0604020202020204" pitchFamily="34" charset="0"/>
              </a:rPr>
              <a:t>首先向下探索，可行则前进一步并继续探索，否则按照逆时针方向依次探索下一步可能前进的位置</a:t>
            </a:r>
            <a:endParaRPr lang="zh-CN" altLang="en-US" b="0" dirty="0">
              <a:ea typeface="楷体_GB2312" pitchFamily="1" charset="-122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BF7B1FF-DFE5-4B27-8E0E-F1DDF2FB76BC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566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71FCA5-346C-4E04-9D08-B4E0FF85BE26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587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8AC256D-7267-4506-8089-8DC80110EEC0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597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2FEB880-F38F-41AC-9F75-2ADC10646BA9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607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D8BDAB3-8093-4457-A9B7-4EB4E4410EA1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617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C1BE0E6-2E3B-4A11-BCB7-67DCADAAB645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628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D9C555-BCB5-4B0E-8698-A408E1D648CA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638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BE27AC6-07D0-4372-9150-86EF4850C042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648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0113BAE-5640-470F-964D-5ECE0592F869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658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22E3224-89AA-40D8-ADF0-7A314EC112B9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669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1F2161A-F4EE-439B-91B2-B42D1A61805E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679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DA04776-848E-45D8-863B-4AF41D83B834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689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F9E7085-DD3D-4CEE-931C-0C0196C96E60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699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C1F4931-05F3-4A7C-992A-065641E1B274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710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97F89D6-7EE4-48FE-8C89-E3FB5A0419F4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720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485BC42-4450-4192-89E2-0ED186877014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73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B45AFF7-ECF2-4166-9786-C19E53960243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740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EDE0200-01FD-4C03-9A88-DFA3A17BCE9B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781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BAEFA0-1F73-44A7-AEDF-B4A6FC9965DC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BF7B1FF-DFE5-4B27-8E0E-F1DDF2FB76BC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109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838DAE0-A597-44D5-A0D0-A4F92D551023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119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192BC7-99A2-443B-A9EE-30D01FFF4984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129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A50BC91-B450-4E9A-B363-D322BF68925E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pic>
        <p:nvPicPr>
          <p:cNvPr id="5" name="Picture 2" descr="C:\Users\dwharder\Desktop\cc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97863" y="6373813"/>
            <a:ext cx="679450" cy="33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EE851656-0B53-8043-AE10-82157F8FFDF8}" type="slidenum">
              <a:rPr lang="zh-CN" altLang="en-US"/>
            </a:fld>
            <a:endParaRPr lang="en-US" altLang="zh-CN" sz="10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174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jpe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3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wmf"/><Relationship Id="rId1" Type="http://schemas.openxmlformats.org/officeDocument/2006/relationships/oleObject" Target="../embeddings/oleObject1.bin"/></Relationships>
</file>

<file path=ppt/slides/_rels/slide7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4.xml"/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wmf"/><Relationship Id="rId2" Type="http://schemas.openxmlformats.org/officeDocument/2006/relationships/oleObject" Target="../embeddings/oleObject2.bin"/><Relationship Id="rId1" Type="http://schemas.openxmlformats.org/officeDocument/2006/relationships/image" Target="../media/image14.png"/></Relationships>
</file>

<file path=ppt/slides/_rels/slide75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3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7.wmf"/><Relationship Id="rId6" Type="http://schemas.openxmlformats.org/officeDocument/2006/relationships/oleObject" Target="../embeddings/oleObject5.bin"/><Relationship Id="rId5" Type="http://schemas.openxmlformats.org/officeDocument/2006/relationships/image" Target="../media/image16.wmf"/><Relationship Id="rId4" Type="http://schemas.openxmlformats.org/officeDocument/2006/relationships/oleObject" Target="../embeddings/oleObject4.bin"/><Relationship Id="rId3" Type="http://schemas.openxmlformats.org/officeDocument/2006/relationships/image" Target="../media/image13.wmf"/><Relationship Id="rId2" Type="http://schemas.openxmlformats.org/officeDocument/2006/relationships/oleObject" Target="../embeddings/oleObject3.bin"/><Relationship Id="rId10" Type="http://schemas.openxmlformats.org/officeDocument/2006/relationships/notesSlide" Target="../notesSlides/notesSlide75.xml"/><Relationship Id="rId1" Type="http://schemas.openxmlformats.org/officeDocument/2006/relationships/image" Target="../media/image15.png"/></Relationships>
</file>

<file path=ppt/slides/_rels/slide7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6.xml"/><Relationship Id="rId5" Type="http://schemas.openxmlformats.org/officeDocument/2006/relationships/vmlDrawing" Target="../drawings/vmlDrawing4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wmf"/><Relationship Id="rId2" Type="http://schemas.openxmlformats.org/officeDocument/2006/relationships/oleObject" Target="../embeddings/oleObject6.bin"/><Relationship Id="rId1" Type="http://schemas.openxmlformats.org/officeDocument/2006/relationships/image" Target="../media/image18.png"/></Relationships>
</file>

<file path=ppt/slides/_rels/slide77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5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1.wmf"/><Relationship Id="rId6" Type="http://schemas.openxmlformats.org/officeDocument/2006/relationships/oleObject" Target="../embeddings/oleObject9.bin"/><Relationship Id="rId5" Type="http://schemas.openxmlformats.org/officeDocument/2006/relationships/image" Target="../media/image20.wmf"/><Relationship Id="rId4" Type="http://schemas.openxmlformats.org/officeDocument/2006/relationships/oleObject" Target="../embeddings/oleObject8.bin"/><Relationship Id="rId3" Type="http://schemas.openxmlformats.org/officeDocument/2006/relationships/image" Target="../media/image13.wmf"/><Relationship Id="rId2" Type="http://schemas.openxmlformats.org/officeDocument/2006/relationships/oleObject" Target="../embeddings/oleObject7.bin"/><Relationship Id="rId10" Type="http://schemas.openxmlformats.org/officeDocument/2006/relationships/notesSlide" Target="../notesSlides/notesSlide77.xml"/><Relationship Id="rId1" Type="http://schemas.openxmlformats.org/officeDocument/2006/relationships/image" Target="../media/image19.png"/></Relationships>
</file>

<file path=ppt/slides/_rels/slide7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8.xml"/><Relationship Id="rId5" Type="http://schemas.openxmlformats.org/officeDocument/2006/relationships/vmlDrawing" Target="../drawings/vmlDrawing6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wmf"/><Relationship Id="rId2" Type="http://schemas.openxmlformats.org/officeDocument/2006/relationships/oleObject" Target="../embeddings/oleObject10.bin"/><Relationship Id="rId1" Type="http://schemas.openxmlformats.org/officeDocument/2006/relationships/image" Target="../media/image22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9.xml"/><Relationship Id="rId7" Type="http://schemas.openxmlformats.org/officeDocument/2006/relationships/vmlDrawing" Target="../drawings/vmlDrawing7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4.wmf"/><Relationship Id="rId4" Type="http://schemas.openxmlformats.org/officeDocument/2006/relationships/oleObject" Target="../embeddings/oleObject12.bin"/><Relationship Id="rId3" Type="http://schemas.openxmlformats.org/officeDocument/2006/relationships/image" Target="../media/image13.wmf"/><Relationship Id="rId2" Type="http://schemas.openxmlformats.org/officeDocument/2006/relationships/oleObject" Target="../embeddings/oleObject11.bin"/><Relationship Id="rId1" Type="http://schemas.openxmlformats.org/officeDocument/2006/relationships/image" Target="../media/image23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5.GIF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5.GIF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5.GIF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 anchor="ctr">
            <a:normAutofit fontScale="90000"/>
          </a:bodyPr>
          <a:lstStyle/>
          <a:p>
            <a:pPr eaLnBrk="1" hangingPunct="1"/>
            <a:r>
              <a:rPr lang="en-US" altLang="zh-CN" sz="4400" dirty="0"/>
              <a:t>CS101 Algorithms and Data Structures</a:t>
            </a:r>
            <a:endParaRPr lang="en-US" altLang="zh-CN" sz="4400" dirty="0"/>
          </a:p>
        </p:txBody>
      </p:sp>
      <p:sp>
        <p:nvSpPr>
          <p:cNvPr id="7" name="Subtitle 1"/>
          <p:cNvSpPr txBox="1"/>
          <p:nvPr/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1" hangingPunct="1">
              <a:buNone/>
            </a:pPr>
            <a:r>
              <a:rPr lang="en-US" altLang="zh-CN">
                <a:ea typeface="宋体" panose="02010600030101010101" pitchFamily="2" charset="-122"/>
              </a:rPr>
              <a:t>Stack</a:t>
            </a:r>
            <a:endParaRPr lang="en-US" altLang="zh-CN" dirty="0">
              <a:ea typeface="宋体" panose="02010600030101010101" pitchFamily="2" charset="-122"/>
            </a:endParaRPr>
          </a:p>
          <a:p>
            <a:pPr marL="0" indent="0" algn="ctr" eaLnBrk="1" hangingPunct="1">
              <a:buNone/>
            </a:pPr>
            <a:r>
              <a:rPr lang="en-US" altLang="zh-CN" dirty="0">
                <a:ea typeface="宋体" panose="02010600030101010101" pitchFamily="2" charset="-122"/>
              </a:rPr>
              <a:t>Textbook </a:t>
            </a:r>
            <a:r>
              <a:rPr lang="en-US" altLang="zh-CN" dirty="0" err="1">
                <a:ea typeface="宋体" panose="02010600030101010101" pitchFamily="2" charset="-122"/>
              </a:rPr>
              <a:t>Ch</a:t>
            </a:r>
            <a:r>
              <a:rPr lang="en-US" altLang="zh-CN" dirty="0">
                <a:ea typeface="宋体" panose="02010600030101010101" pitchFamily="2" charset="-122"/>
              </a:rPr>
              <a:t> 10.1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  <a:endParaRPr 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 ADT</a:t>
            </a:r>
            <a:endParaRPr lang="en-US" dirty="0"/>
          </a:p>
          <a:p>
            <a:r>
              <a:rPr lang="en-US" dirty="0"/>
              <a:t>Implementation</a:t>
            </a:r>
            <a:endParaRPr lang="en-US" dirty="0"/>
          </a:p>
          <a:p>
            <a:r>
              <a:rPr lang="en-US" dirty="0"/>
              <a:t>Example applications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Reverse-Polish Notation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Normally, mathematics is written using what we call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in-fix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notation: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Tx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			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(3 + 4) × 5 – 6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The operator is placed between two operands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One weakness:  parentheses are required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Tx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		        </a:t>
            </a:r>
            <a:r>
              <a:rPr lang="en-US" sz="2400" dirty="0">
                <a:latin typeface="Times New Roman" panose="02020603050405020304" pitchFamily="18" charset="0"/>
                <a:cs typeface="Arial" panose="020B0604020202020204" pitchFamily="34" charset="0"/>
              </a:rPr>
              <a:t>(3 + 4) ×  5 – 6	=  29</a:t>
            </a:r>
            <a:endParaRPr lang="en-US" sz="2400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lvl="1">
              <a:buFontTx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		</a:t>
            </a:r>
            <a:r>
              <a:rPr lang="en-US" sz="2400" dirty="0">
                <a:latin typeface="Times New Roman" panose="02020603050405020304" pitchFamily="18" charset="0"/>
                <a:cs typeface="Arial" panose="020B0604020202020204" pitchFamily="34" charset="0"/>
              </a:rPr>
              <a:t>         3 + 4   ×  5 – 6	=  17</a:t>
            </a:r>
            <a:endParaRPr lang="en-US" sz="2400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lvl="1">
              <a:buFontTx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		</a:t>
            </a:r>
            <a:r>
              <a:rPr lang="en-US" sz="2400" dirty="0">
                <a:latin typeface="Times New Roman" panose="02020603050405020304" pitchFamily="18" charset="0"/>
                <a:cs typeface="Arial" panose="020B0604020202020204" pitchFamily="34" charset="0"/>
              </a:rPr>
              <a:t>         3 + 4   × (5 – 6)	=  –1</a:t>
            </a:r>
            <a:endParaRPr lang="en-US" sz="2400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lvl="1">
              <a:buFontTx/>
              <a:buNone/>
            </a:pPr>
            <a:r>
              <a:rPr lang="en-US" sz="2400" dirty="0">
                <a:latin typeface="Times New Roman" panose="02020603050405020304" pitchFamily="18" charset="0"/>
                <a:cs typeface="Arial" panose="020B0604020202020204" pitchFamily="34" charset="0"/>
              </a:rPr>
              <a:t>			        (3 + 4) × (5 – 6)	=  –7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Reverse-Polish Notation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Alternatively, we can place the operands first, followed by the operator: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Tx/>
              <a:buNone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			        </a:t>
            </a:r>
            <a:r>
              <a:rPr lang="en-US" sz="2400">
                <a:latin typeface="Times New Roman" panose="02020603050405020304" pitchFamily="18" charset="0"/>
                <a:cs typeface="Arial" panose="020B0604020202020204" pitchFamily="34" charset="0"/>
              </a:rPr>
              <a:t>(3 + 4) ×  5 – 6</a:t>
            </a:r>
            <a:endParaRPr lang="en-US" sz="240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lvl="1">
              <a:buFontTx/>
              <a:buNone/>
            </a:pP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			        </a:t>
            </a:r>
            <a:r>
              <a:rPr lang="en-US" sz="2400">
                <a:latin typeface="Times New Roman" panose="02020603050405020304" pitchFamily="18" charset="0"/>
                <a:cs typeface="Arial" panose="020B0604020202020204" pitchFamily="34" charset="0"/>
              </a:rPr>
              <a:t>3  4  +  5  ×  6  –</a:t>
            </a:r>
            <a:endParaRPr lang="en-US" sz="240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Parsing reads left-to-right and performs any operation on the</a:t>
            </a:r>
            <a:br>
              <a:rPr lang="en-US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last two operands: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			        </a:t>
            </a:r>
            <a:r>
              <a:rPr lang="en-US">
                <a:solidFill>
                  <a:srgbClr val="D2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3  4  +</a:t>
            </a: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  5  ×  6  –</a:t>
            </a:r>
            <a:endParaRPr lang="en-US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			            </a:t>
            </a:r>
            <a:r>
              <a:rPr lang="en-US">
                <a:solidFill>
                  <a:srgbClr val="D2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7      5  ×</a:t>
            </a: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  6  –</a:t>
            </a:r>
            <a:endParaRPr lang="en-US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			                  </a:t>
            </a:r>
            <a:r>
              <a:rPr lang="en-US">
                <a:solidFill>
                  <a:srgbClr val="D2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35      6  –</a:t>
            </a:r>
            <a:endParaRPr lang="en-US">
              <a:solidFill>
                <a:srgbClr val="D2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			                          29</a:t>
            </a:r>
            <a:endParaRPr lang="en-US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Reverse-Polish Notation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Other examples: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2800" dirty="0">
                <a:latin typeface="Times New Roman" panose="02020603050405020304" pitchFamily="18" charset="0"/>
                <a:cs typeface="Arial" panose="020B0604020202020204" pitchFamily="34" charset="0"/>
              </a:rPr>
              <a:t>			        3</a:t>
            </a:r>
            <a:r>
              <a:rPr lang="en-US" sz="2800" dirty="0">
                <a:solidFill>
                  <a:srgbClr val="D2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 4  5  ×</a:t>
            </a:r>
            <a:r>
              <a:rPr lang="en-US" sz="2800" dirty="0">
                <a:latin typeface="Times New Roman" panose="02020603050405020304" pitchFamily="18" charset="0"/>
                <a:cs typeface="Arial" panose="020B0604020202020204" pitchFamily="34" charset="0"/>
              </a:rPr>
              <a:t>  +  6  –</a:t>
            </a:r>
            <a:endParaRPr lang="en-US" sz="2800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2800" dirty="0">
                <a:latin typeface="Times New Roman" panose="02020603050405020304" pitchFamily="18" charset="0"/>
                <a:cs typeface="Arial" panose="020B0604020202020204" pitchFamily="34" charset="0"/>
              </a:rPr>
              <a:t>			        </a:t>
            </a:r>
            <a:r>
              <a:rPr lang="en-US" sz="2800" dirty="0">
                <a:solidFill>
                  <a:srgbClr val="D2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3    20      +</a:t>
            </a:r>
            <a:r>
              <a:rPr lang="en-US" sz="2800" dirty="0">
                <a:latin typeface="Times New Roman" panose="02020603050405020304" pitchFamily="18" charset="0"/>
                <a:cs typeface="Arial" panose="020B0604020202020204" pitchFamily="34" charset="0"/>
              </a:rPr>
              <a:t>  6  –</a:t>
            </a:r>
            <a:endParaRPr lang="en-US" sz="2800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2800" dirty="0">
                <a:latin typeface="Times New Roman" panose="02020603050405020304" pitchFamily="18" charset="0"/>
                <a:cs typeface="Arial" panose="020B0604020202020204" pitchFamily="34" charset="0"/>
              </a:rPr>
              <a:t>			              </a:t>
            </a:r>
            <a:r>
              <a:rPr lang="en-US" sz="2800" dirty="0">
                <a:solidFill>
                  <a:srgbClr val="D2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23          6  –</a:t>
            </a:r>
            <a:endParaRPr lang="en-US" sz="2800" dirty="0">
              <a:solidFill>
                <a:srgbClr val="D2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2800" dirty="0">
                <a:latin typeface="Times New Roman" panose="02020603050405020304" pitchFamily="18" charset="0"/>
                <a:cs typeface="Arial" panose="020B0604020202020204" pitchFamily="34" charset="0"/>
              </a:rPr>
              <a:t>			                          17</a:t>
            </a:r>
            <a:endParaRPr lang="en-US" sz="2800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2800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2800" dirty="0">
                <a:latin typeface="Times New Roman" panose="02020603050405020304" pitchFamily="18" charset="0"/>
                <a:cs typeface="Arial" panose="020B0604020202020204" pitchFamily="34" charset="0"/>
              </a:rPr>
              <a:t>			        3</a:t>
            </a:r>
            <a:r>
              <a:rPr lang="en-US" sz="2800" dirty="0">
                <a:solidFill>
                  <a:srgbClr val="D2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sz="2800" dirty="0">
                <a:latin typeface="Times New Roman" panose="02020603050405020304" pitchFamily="18" charset="0"/>
                <a:cs typeface="Arial" panose="020B0604020202020204" pitchFamily="34" charset="0"/>
              </a:rPr>
              <a:t>4  </a:t>
            </a:r>
            <a:r>
              <a:rPr lang="en-US" sz="2800" dirty="0">
                <a:solidFill>
                  <a:srgbClr val="D2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5  6  –  </a:t>
            </a:r>
            <a:r>
              <a:rPr lang="en-US" sz="2800" dirty="0">
                <a:latin typeface="Times New Roman" panose="02020603050405020304" pitchFamily="18" charset="0"/>
                <a:cs typeface="Arial" panose="020B0604020202020204" pitchFamily="34" charset="0"/>
              </a:rPr>
              <a:t>×  +</a:t>
            </a:r>
            <a:endParaRPr lang="en-US" sz="2800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2800" dirty="0">
                <a:latin typeface="Times New Roman" panose="02020603050405020304" pitchFamily="18" charset="0"/>
                <a:cs typeface="Arial" panose="020B0604020202020204" pitchFamily="34" charset="0"/>
              </a:rPr>
              <a:t>			        3  4    </a:t>
            </a:r>
            <a:r>
              <a:rPr lang="en-US" sz="2800" dirty="0">
                <a:solidFill>
                  <a:srgbClr val="D2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–1</a:t>
            </a:r>
            <a:r>
              <a:rPr lang="en-US" sz="2800" dirty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>
                <a:solidFill>
                  <a:srgbClr val="D2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    </a:t>
            </a:r>
            <a:r>
              <a:rPr lang="en-US" sz="2800" dirty="0">
                <a:latin typeface="Times New Roman" panose="02020603050405020304" pitchFamily="18" charset="0"/>
                <a:cs typeface="Arial" panose="020B0604020202020204" pitchFamily="34" charset="0"/>
              </a:rPr>
              <a:t>×  +</a:t>
            </a:r>
            <a:endParaRPr lang="en-US" sz="2800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2800" dirty="0">
                <a:latin typeface="Times New Roman" panose="02020603050405020304" pitchFamily="18" charset="0"/>
                <a:cs typeface="Arial" panose="020B0604020202020204" pitchFamily="34" charset="0"/>
              </a:rPr>
              <a:t>			        </a:t>
            </a:r>
            <a:r>
              <a:rPr lang="en-US" sz="2800" dirty="0">
                <a:solidFill>
                  <a:srgbClr val="D2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3</a:t>
            </a:r>
            <a:r>
              <a:rPr lang="en-US" sz="2800" dirty="0">
                <a:latin typeface="Times New Roman" panose="02020603050405020304" pitchFamily="18" charset="0"/>
                <a:cs typeface="Arial" panose="020B0604020202020204" pitchFamily="34" charset="0"/>
              </a:rPr>
              <a:t>    </a:t>
            </a:r>
            <a:r>
              <a:rPr lang="en-US" sz="2800" dirty="0">
                <a:solidFill>
                  <a:srgbClr val="D2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   –4          + </a:t>
            </a:r>
            <a:endParaRPr lang="en-US" sz="2800" dirty="0">
              <a:solidFill>
                <a:srgbClr val="D2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2800" dirty="0">
                <a:latin typeface="Times New Roman" panose="02020603050405020304" pitchFamily="18" charset="0"/>
                <a:cs typeface="Arial" panose="020B0604020202020204" pitchFamily="34" charset="0"/>
              </a:rPr>
              <a:t>			                  –1</a:t>
            </a:r>
            <a:endParaRPr lang="en-US" sz="2800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156176" y="2420888"/>
            <a:ext cx="260840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/>
            <a:r>
              <a:rPr lang="en-US" altLang="zh-CN" sz="2400" dirty="0">
                <a:latin typeface="Times New Roman" panose="02020603050405020304" pitchFamily="18" charset="0"/>
              </a:rPr>
              <a:t>3 + 4 × 5 – 6=  17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6084168" y="4653136"/>
            <a:ext cx="273664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/>
            <a:r>
              <a:rPr lang="en-US" altLang="zh-CN" sz="2400" dirty="0">
                <a:latin typeface="Times New Roman" panose="02020603050405020304" pitchFamily="18" charset="0"/>
              </a:rPr>
              <a:t>3 + 4 × (5 – 6)=  –1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Reverse-Polish Notation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This is called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reverse-Polish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notation after the mathematician Jan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Łukasiewicz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782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988292" y="2538412"/>
            <a:ext cx="2530475" cy="3633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926380" y="6138862"/>
            <a:ext cx="2619375" cy="3079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CA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http://www.audiovis.nac.gov.pl/</a:t>
            </a:r>
            <a:endParaRPr lang="en-CA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2324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24128" y="4012240"/>
            <a:ext cx="2016125" cy="189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6025753" y="5883903"/>
            <a:ext cx="1785937" cy="3079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CA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http://xkcd.com/645/</a:t>
            </a:r>
            <a:endParaRPr lang="en-CA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Reverse-Polish Notation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Benefits: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ambiguity and no brackets are required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is the same process used by a computer to perform computations: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operands must be loaded into registers before operations can be performed on them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Reverse-Polish Notation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The easiest way to parse reverse-Polish notation is to use an operand stack: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operands are processed by pushing them onto the stack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when processing an operator: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pop the last two items off the operand stack,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perform the operation, and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push the result back onto the stack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Stack ADT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Also called a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last-in–first-out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(LIFO)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behaviour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Graphically, we may view these operations as follows: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340" name="Picture 4" descr="C:\Users\dwharder\Desktop\s3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786063" y="2525762"/>
            <a:ext cx="2447925" cy="191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1" name="Picture 5" descr="C:\Users\dwharder\Desktop\s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71575" y="2679749"/>
            <a:ext cx="1614488" cy="175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2" name="Picture 6" descr="C:\Users\dwharder\Desktop\s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57888" y="2528937"/>
            <a:ext cx="1757362" cy="190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4653136"/>
            <a:ext cx="3168352" cy="20078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Applications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Numerous applications: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Parsing code: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Matching parenthesis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XML (e.g., XHTML)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Tracking function calls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Dealing with undo/redo operations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Reverse-Polish calculators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Assembly language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Reverse-Polish Notation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Evaluate the following reverse-Polish expression using a stack: 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	 </a:t>
            </a:r>
            <a:r>
              <a:rPr lang="en-US" sz="2800">
                <a:latin typeface="Times New Roman" panose="02020603050405020304" pitchFamily="18" charset="0"/>
                <a:cs typeface="Arial" panose="020B0604020202020204" pitchFamily="34" charset="0"/>
              </a:rPr>
              <a:t>1  2  3  +  4  5  6  ×  –  7  ×  +  –  8  9  ×  +</a:t>
            </a:r>
            <a:endParaRPr lang="en-US" sz="280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280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28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78887" name="Group 39"/>
          <p:cNvGraphicFramePr>
            <a:graphicFrameLocks noGrp="1"/>
          </p:cNvGraphicFramePr>
          <p:nvPr/>
        </p:nvGraphicFramePr>
        <p:xfrm>
          <a:off x="6804025" y="3429000"/>
          <a:ext cx="1319213" cy="3108960"/>
        </p:xfrm>
        <a:graphic>
          <a:graphicData uri="http://schemas.openxmlformats.org/drawingml/2006/table">
            <a:tbl>
              <a:tblPr/>
              <a:tblGrid>
                <a:gridCol w="1319213"/>
              </a:tblGrid>
              <a:tr h="254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5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5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Reverse-Polish Notation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Push </a:t>
            </a: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onto the stack 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	 </a:t>
            </a:r>
            <a:r>
              <a:rPr lang="en-US" sz="2800">
                <a:solidFill>
                  <a:srgbClr val="D2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n-US" sz="2800">
                <a:latin typeface="Times New Roman" panose="02020603050405020304" pitchFamily="18" charset="0"/>
                <a:cs typeface="Arial" panose="020B0604020202020204" pitchFamily="34" charset="0"/>
              </a:rPr>
              <a:t>  2  3  +  4  5  6  ×  –  7  ×  +  –  8  9  ×  +</a:t>
            </a:r>
            <a:endParaRPr lang="en-US" sz="280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280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28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80900" name="Group 4"/>
          <p:cNvGraphicFramePr>
            <a:graphicFrameLocks noGrp="1"/>
          </p:cNvGraphicFramePr>
          <p:nvPr/>
        </p:nvGraphicFramePr>
        <p:xfrm>
          <a:off x="6804025" y="3429000"/>
          <a:ext cx="1319213" cy="3108960"/>
        </p:xfrm>
        <a:graphic>
          <a:graphicData uri="http://schemas.openxmlformats.org/drawingml/2006/table">
            <a:tbl>
              <a:tblPr/>
              <a:tblGrid>
                <a:gridCol w="1319213"/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D2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D2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Reverse-Polish Notation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Push </a:t>
            </a: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onto the stack 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	 </a:t>
            </a:r>
            <a:r>
              <a:rPr lang="en-US" sz="2800">
                <a:latin typeface="Times New Roman" panose="02020603050405020304" pitchFamily="18" charset="0"/>
                <a:cs typeface="Arial" panose="020B0604020202020204" pitchFamily="34" charset="0"/>
              </a:rPr>
              <a:t>1  </a:t>
            </a:r>
            <a:r>
              <a:rPr lang="en-US" sz="2800">
                <a:solidFill>
                  <a:srgbClr val="D2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sz="2800">
                <a:latin typeface="Times New Roman" panose="02020603050405020304" pitchFamily="18" charset="0"/>
                <a:cs typeface="Arial" panose="020B0604020202020204" pitchFamily="34" charset="0"/>
              </a:rPr>
              <a:t>  3  +  4  5  6  ×  –  7  ×  +  –  8  9  ×  +</a:t>
            </a:r>
            <a:endParaRPr lang="en-US" sz="280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280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28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81924" name="Group 4"/>
          <p:cNvGraphicFramePr>
            <a:graphicFrameLocks noGrp="1"/>
          </p:cNvGraphicFramePr>
          <p:nvPr/>
        </p:nvGraphicFramePr>
        <p:xfrm>
          <a:off x="6804025" y="3429000"/>
          <a:ext cx="1319213" cy="3108960"/>
        </p:xfrm>
        <a:graphic>
          <a:graphicData uri="http://schemas.openxmlformats.org/drawingml/2006/table">
            <a:tbl>
              <a:tblPr/>
              <a:tblGrid>
                <a:gridCol w="1319213"/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D2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D2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Reverse-Polish Notation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Push </a:t>
            </a: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3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onto the stack 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	 </a:t>
            </a:r>
            <a:r>
              <a:rPr lang="en-US" sz="2800">
                <a:latin typeface="Times New Roman" panose="02020603050405020304" pitchFamily="18" charset="0"/>
                <a:cs typeface="Arial" panose="020B0604020202020204" pitchFamily="34" charset="0"/>
              </a:rPr>
              <a:t>1  2  </a:t>
            </a:r>
            <a:r>
              <a:rPr lang="en-US" sz="2800">
                <a:solidFill>
                  <a:srgbClr val="D2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3</a:t>
            </a:r>
            <a:r>
              <a:rPr lang="en-US" sz="2800">
                <a:latin typeface="Times New Roman" panose="02020603050405020304" pitchFamily="18" charset="0"/>
                <a:cs typeface="Arial" panose="020B0604020202020204" pitchFamily="34" charset="0"/>
              </a:rPr>
              <a:t>  +  4  5  6  ×  –  7  ×  +  –  8  9  ×  +</a:t>
            </a:r>
            <a:endParaRPr lang="en-US" sz="280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280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28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82948" name="Group 4"/>
          <p:cNvGraphicFramePr>
            <a:graphicFrameLocks noGrp="1"/>
          </p:cNvGraphicFramePr>
          <p:nvPr/>
        </p:nvGraphicFramePr>
        <p:xfrm>
          <a:off x="6804025" y="3429000"/>
          <a:ext cx="1319213" cy="3108960"/>
        </p:xfrm>
        <a:graphic>
          <a:graphicData uri="http://schemas.openxmlformats.org/drawingml/2006/table">
            <a:tbl>
              <a:tblPr/>
              <a:tblGrid>
                <a:gridCol w="1319213"/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D2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D2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Reverse-Polish Notation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Pop </a:t>
            </a: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3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and push </a:t>
            </a: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2 </a:t>
            </a:r>
            <a:r>
              <a:rPr lang="en-US">
                <a:solidFill>
                  <a:srgbClr val="D2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+</a:t>
            </a: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 3 = 5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	 </a:t>
            </a:r>
            <a:r>
              <a:rPr lang="en-US" sz="2800">
                <a:latin typeface="Times New Roman" panose="02020603050405020304" pitchFamily="18" charset="0"/>
                <a:cs typeface="Arial" panose="020B0604020202020204" pitchFamily="34" charset="0"/>
              </a:rPr>
              <a:t>1  2  3  </a:t>
            </a:r>
            <a:r>
              <a:rPr lang="en-US" sz="2800">
                <a:solidFill>
                  <a:srgbClr val="D2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+</a:t>
            </a:r>
            <a:r>
              <a:rPr lang="en-US" sz="2800">
                <a:latin typeface="Times New Roman" panose="02020603050405020304" pitchFamily="18" charset="0"/>
                <a:cs typeface="Arial" panose="020B0604020202020204" pitchFamily="34" charset="0"/>
              </a:rPr>
              <a:t>  4  5  6  ×  –  7  ×  +  –  8  9  ×  +</a:t>
            </a:r>
            <a:endParaRPr lang="en-US" sz="280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280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28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83972" name="Group 4"/>
          <p:cNvGraphicFramePr>
            <a:graphicFrameLocks noGrp="1"/>
          </p:cNvGraphicFramePr>
          <p:nvPr/>
        </p:nvGraphicFramePr>
        <p:xfrm>
          <a:off x="6804025" y="3429000"/>
          <a:ext cx="1319213" cy="3108960"/>
        </p:xfrm>
        <a:graphic>
          <a:graphicData uri="http://schemas.openxmlformats.org/drawingml/2006/table">
            <a:tbl>
              <a:tblPr/>
              <a:tblGrid>
                <a:gridCol w="1319213"/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D2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D2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Reverse-Polish Notation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Push </a:t>
            </a: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4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onto the stack 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	 </a:t>
            </a:r>
            <a:r>
              <a:rPr lang="en-US" sz="2800">
                <a:latin typeface="Times New Roman" panose="02020603050405020304" pitchFamily="18" charset="0"/>
                <a:cs typeface="Arial" panose="020B0604020202020204" pitchFamily="34" charset="0"/>
              </a:rPr>
              <a:t>1  2  3  +  </a:t>
            </a:r>
            <a:r>
              <a:rPr lang="en-US" sz="2800">
                <a:solidFill>
                  <a:srgbClr val="D2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4</a:t>
            </a:r>
            <a:r>
              <a:rPr lang="en-US" sz="2800">
                <a:latin typeface="Times New Roman" panose="02020603050405020304" pitchFamily="18" charset="0"/>
                <a:cs typeface="Arial" panose="020B0604020202020204" pitchFamily="34" charset="0"/>
              </a:rPr>
              <a:t>  5  6  ×  –  7  ×  +  –  8  9  ×  +</a:t>
            </a:r>
            <a:endParaRPr lang="en-US" sz="280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280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28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84996" name="Group 4"/>
          <p:cNvGraphicFramePr>
            <a:graphicFrameLocks noGrp="1"/>
          </p:cNvGraphicFramePr>
          <p:nvPr/>
        </p:nvGraphicFramePr>
        <p:xfrm>
          <a:off x="6804025" y="3429000"/>
          <a:ext cx="1319213" cy="3108960"/>
        </p:xfrm>
        <a:graphic>
          <a:graphicData uri="http://schemas.openxmlformats.org/drawingml/2006/table">
            <a:tbl>
              <a:tblPr/>
              <a:tblGrid>
                <a:gridCol w="1319213"/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D2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D2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Reverse-Polish Notation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Push </a:t>
            </a: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5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onto the stack 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	 </a:t>
            </a:r>
            <a:r>
              <a:rPr lang="en-US" sz="2800">
                <a:latin typeface="Times New Roman" panose="02020603050405020304" pitchFamily="18" charset="0"/>
                <a:cs typeface="Arial" panose="020B0604020202020204" pitchFamily="34" charset="0"/>
              </a:rPr>
              <a:t>1  2  3  +  4  </a:t>
            </a:r>
            <a:r>
              <a:rPr lang="en-US" sz="2800">
                <a:solidFill>
                  <a:srgbClr val="D2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5</a:t>
            </a:r>
            <a:r>
              <a:rPr lang="en-US" sz="2800">
                <a:latin typeface="Times New Roman" panose="02020603050405020304" pitchFamily="18" charset="0"/>
                <a:cs typeface="Arial" panose="020B0604020202020204" pitchFamily="34" charset="0"/>
              </a:rPr>
              <a:t>  6  ×  –  7  ×  +  –  8  9  ×  +</a:t>
            </a:r>
            <a:endParaRPr lang="en-US" sz="280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280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28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86036" name="Group 20"/>
          <p:cNvGraphicFramePr>
            <a:graphicFrameLocks noGrp="1"/>
          </p:cNvGraphicFramePr>
          <p:nvPr/>
        </p:nvGraphicFramePr>
        <p:xfrm>
          <a:off x="6804025" y="3429000"/>
          <a:ext cx="1319213" cy="3108960"/>
        </p:xfrm>
        <a:graphic>
          <a:graphicData uri="http://schemas.openxmlformats.org/drawingml/2006/table">
            <a:tbl>
              <a:tblPr/>
              <a:tblGrid>
                <a:gridCol w="1319213"/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7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D2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D2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Reverse-Polish Notation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Push </a:t>
            </a: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6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onto the stack 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	 </a:t>
            </a:r>
            <a:r>
              <a:rPr lang="en-US" sz="2800">
                <a:latin typeface="Times New Roman" panose="02020603050405020304" pitchFamily="18" charset="0"/>
                <a:cs typeface="Arial" panose="020B0604020202020204" pitchFamily="34" charset="0"/>
              </a:rPr>
              <a:t>1  2  3  +  4  5  </a:t>
            </a:r>
            <a:r>
              <a:rPr lang="en-US" sz="2800">
                <a:solidFill>
                  <a:srgbClr val="D2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6</a:t>
            </a:r>
            <a:r>
              <a:rPr lang="en-US" sz="2800">
                <a:latin typeface="Times New Roman" panose="02020603050405020304" pitchFamily="18" charset="0"/>
                <a:cs typeface="Arial" panose="020B0604020202020204" pitchFamily="34" charset="0"/>
              </a:rPr>
              <a:t>  ×  –  7  ×  +  –  8  9  ×  +</a:t>
            </a:r>
            <a:endParaRPr lang="en-US" sz="280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280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28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87044" name="Group 4"/>
          <p:cNvGraphicFramePr>
            <a:graphicFrameLocks noGrp="1"/>
          </p:cNvGraphicFramePr>
          <p:nvPr/>
        </p:nvGraphicFramePr>
        <p:xfrm>
          <a:off x="6804025" y="3429000"/>
          <a:ext cx="1319213" cy="3108960"/>
        </p:xfrm>
        <a:graphic>
          <a:graphicData uri="http://schemas.openxmlformats.org/drawingml/2006/table">
            <a:tbl>
              <a:tblPr/>
              <a:tblGrid>
                <a:gridCol w="1319213"/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D2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D2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Reverse-Polish Notation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98613"/>
            <a:ext cx="8229600" cy="4525962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Pop </a:t>
            </a: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6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5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and push </a:t>
            </a: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5 </a:t>
            </a:r>
            <a:r>
              <a:rPr lang="en-US">
                <a:solidFill>
                  <a:srgbClr val="D2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×</a:t>
            </a: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 6 = 30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	 </a:t>
            </a:r>
            <a:r>
              <a:rPr lang="en-US" sz="2800">
                <a:latin typeface="Times New Roman" panose="02020603050405020304" pitchFamily="18" charset="0"/>
                <a:cs typeface="Arial" panose="020B0604020202020204" pitchFamily="34" charset="0"/>
              </a:rPr>
              <a:t>1  2  3  +  4  5  6  </a:t>
            </a:r>
            <a:r>
              <a:rPr lang="en-US" sz="2800">
                <a:solidFill>
                  <a:srgbClr val="D2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×</a:t>
            </a:r>
            <a:r>
              <a:rPr lang="en-US" sz="2800">
                <a:latin typeface="Times New Roman" panose="02020603050405020304" pitchFamily="18" charset="0"/>
                <a:cs typeface="Arial" panose="020B0604020202020204" pitchFamily="34" charset="0"/>
              </a:rPr>
              <a:t>  –  7  ×  +  –  8  9  ×  +</a:t>
            </a:r>
            <a:endParaRPr lang="en-US" sz="280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280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28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88068" name="Group 4"/>
          <p:cNvGraphicFramePr>
            <a:graphicFrameLocks noGrp="1"/>
          </p:cNvGraphicFramePr>
          <p:nvPr/>
        </p:nvGraphicFramePr>
        <p:xfrm>
          <a:off x="6804025" y="3429000"/>
          <a:ext cx="1319213" cy="3108960"/>
        </p:xfrm>
        <a:graphic>
          <a:graphicData uri="http://schemas.openxmlformats.org/drawingml/2006/table">
            <a:tbl>
              <a:tblPr/>
              <a:tblGrid>
                <a:gridCol w="1319213"/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D20000"/>
                          </a:solidFill>
                          <a:effectLst/>
                          <a:latin typeface="Times New Roman" panose="02020603050405020304" pitchFamily="18" charset="0"/>
                        </a:rPr>
                        <a:t>30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D2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Reverse-Polish Notation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075613" cy="4525963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Pop </a:t>
            </a: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30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4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and push </a:t>
            </a: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4 </a:t>
            </a:r>
            <a:r>
              <a:rPr lang="en-US">
                <a:solidFill>
                  <a:srgbClr val="D2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–</a:t>
            </a: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 30 = –26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	 </a:t>
            </a:r>
            <a:r>
              <a:rPr lang="en-US" sz="2800">
                <a:latin typeface="Times New Roman" panose="02020603050405020304" pitchFamily="18" charset="0"/>
                <a:cs typeface="Arial" panose="020B0604020202020204" pitchFamily="34" charset="0"/>
              </a:rPr>
              <a:t>1  2  3  +  4  5  6  ×  </a:t>
            </a:r>
            <a:r>
              <a:rPr lang="en-US" sz="2800">
                <a:solidFill>
                  <a:srgbClr val="D2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–</a:t>
            </a:r>
            <a:r>
              <a:rPr lang="en-US" sz="2800">
                <a:latin typeface="Times New Roman" panose="02020603050405020304" pitchFamily="18" charset="0"/>
                <a:cs typeface="Arial" panose="020B0604020202020204" pitchFamily="34" charset="0"/>
              </a:rPr>
              <a:t>  7  ×  +  –  8  9  ×  +</a:t>
            </a:r>
            <a:endParaRPr lang="en-US" sz="280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280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28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89109" name="Group 21"/>
          <p:cNvGraphicFramePr>
            <a:graphicFrameLocks noGrp="1"/>
          </p:cNvGraphicFramePr>
          <p:nvPr/>
        </p:nvGraphicFramePr>
        <p:xfrm>
          <a:off x="6804025" y="3429000"/>
          <a:ext cx="1319213" cy="3108960"/>
        </p:xfrm>
        <a:graphic>
          <a:graphicData uri="http://schemas.openxmlformats.org/drawingml/2006/table">
            <a:tbl>
              <a:tblPr/>
              <a:tblGrid>
                <a:gridCol w="1319213"/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D2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D20000"/>
                          </a:solidFill>
                          <a:effectLst/>
                          <a:latin typeface="Times New Roman" panose="02020603050405020304" pitchFamily="18" charset="0"/>
                        </a:rPr>
                        <a:t> –26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D2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Reverse-Polish Notation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Push </a:t>
            </a: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7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onto the stack 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	 </a:t>
            </a:r>
            <a:r>
              <a:rPr lang="en-US" sz="2800">
                <a:latin typeface="Times New Roman" panose="02020603050405020304" pitchFamily="18" charset="0"/>
                <a:cs typeface="Arial" panose="020B0604020202020204" pitchFamily="34" charset="0"/>
              </a:rPr>
              <a:t>1  2  3  +  4  5  6  ×  –  </a:t>
            </a:r>
            <a:r>
              <a:rPr lang="en-US" sz="2800">
                <a:solidFill>
                  <a:srgbClr val="D2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7</a:t>
            </a:r>
            <a:r>
              <a:rPr lang="en-US" sz="2800">
                <a:latin typeface="Times New Roman" panose="02020603050405020304" pitchFamily="18" charset="0"/>
                <a:cs typeface="Arial" panose="020B0604020202020204" pitchFamily="34" charset="0"/>
              </a:rPr>
              <a:t>  ×  +  –  8  9  ×  +</a:t>
            </a:r>
            <a:endParaRPr lang="en-US" sz="280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280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28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90116" name="Group 4"/>
          <p:cNvGraphicFramePr>
            <a:graphicFrameLocks noGrp="1"/>
          </p:cNvGraphicFramePr>
          <p:nvPr/>
        </p:nvGraphicFramePr>
        <p:xfrm>
          <a:off x="6804025" y="3429000"/>
          <a:ext cx="1319213" cy="3108960"/>
        </p:xfrm>
        <a:graphic>
          <a:graphicData uri="http://schemas.openxmlformats.org/drawingml/2006/table">
            <a:tbl>
              <a:tblPr/>
              <a:tblGrid>
                <a:gridCol w="1319213"/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D2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D2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D2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–26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Reverse-Polish Notation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98613"/>
            <a:ext cx="8229600" cy="4525962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Pop </a:t>
            </a: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7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–26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and push </a:t>
            </a: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–26 </a:t>
            </a:r>
            <a:r>
              <a:rPr lang="en-US">
                <a:solidFill>
                  <a:srgbClr val="D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 7 = –182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	 </a:t>
            </a:r>
            <a:r>
              <a:rPr lang="en-US" sz="2800">
                <a:latin typeface="Times New Roman" panose="02020603050405020304" pitchFamily="18" charset="0"/>
                <a:cs typeface="Arial" panose="020B0604020202020204" pitchFamily="34" charset="0"/>
              </a:rPr>
              <a:t>1  2  3  +  4  5  6  ×  –  7  </a:t>
            </a:r>
            <a:r>
              <a:rPr lang="en-US" sz="2800">
                <a:solidFill>
                  <a:srgbClr val="D2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×</a:t>
            </a:r>
            <a:r>
              <a:rPr lang="en-US" sz="2800">
                <a:latin typeface="Times New Roman" panose="02020603050405020304" pitchFamily="18" charset="0"/>
                <a:cs typeface="Arial" panose="020B0604020202020204" pitchFamily="34" charset="0"/>
              </a:rPr>
              <a:t>  +  –  8  9  ×  +</a:t>
            </a:r>
            <a:endParaRPr lang="en-US" sz="280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280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28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91140" name="Group 4"/>
          <p:cNvGraphicFramePr>
            <a:graphicFrameLocks noGrp="1"/>
          </p:cNvGraphicFramePr>
          <p:nvPr/>
        </p:nvGraphicFramePr>
        <p:xfrm>
          <a:off x="6804025" y="3429000"/>
          <a:ext cx="1319213" cy="3108960"/>
        </p:xfrm>
        <a:graphic>
          <a:graphicData uri="http://schemas.openxmlformats.org/drawingml/2006/table">
            <a:tbl>
              <a:tblPr/>
              <a:tblGrid>
                <a:gridCol w="1319213"/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D20000"/>
                          </a:solidFill>
                          <a:effectLst/>
                          <a:latin typeface="Times New Roman" panose="02020603050405020304" pitchFamily="18" charset="0"/>
                        </a:rPr>
                        <a:t> –182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D2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Reverse-Polish Notation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95438"/>
            <a:ext cx="8229600" cy="4525962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Pop </a:t>
            </a: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–182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5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and push </a:t>
            </a: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–182 </a:t>
            </a:r>
            <a:r>
              <a:rPr lang="en-US">
                <a:solidFill>
                  <a:srgbClr val="D2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+</a:t>
            </a: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 5 = –177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	 </a:t>
            </a:r>
            <a:r>
              <a:rPr lang="en-US" sz="2800">
                <a:latin typeface="Times New Roman" panose="02020603050405020304" pitchFamily="18" charset="0"/>
                <a:cs typeface="Arial" panose="020B0604020202020204" pitchFamily="34" charset="0"/>
              </a:rPr>
              <a:t>1  2  3  +  4  5  6  ×  –  7  ×  </a:t>
            </a:r>
            <a:r>
              <a:rPr lang="en-US" sz="2800">
                <a:solidFill>
                  <a:srgbClr val="D2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+</a:t>
            </a:r>
            <a:r>
              <a:rPr lang="en-US" sz="2800">
                <a:latin typeface="Times New Roman" panose="02020603050405020304" pitchFamily="18" charset="0"/>
                <a:cs typeface="Arial" panose="020B0604020202020204" pitchFamily="34" charset="0"/>
              </a:rPr>
              <a:t>  –  8  9  ×  +</a:t>
            </a:r>
            <a:endParaRPr lang="en-US" sz="280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280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28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92164" name="Group 4"/>
          <p:cNvGraphicFramePr>
            <a:graphicFrameLocks noGrp="1"/>
          </p:cNvGraphicFramePr>
          <p:nvPr/>
        </p:nvGraphicFramePr>
        <p:xfrm>
          <a:off x="6804025" y="3429000"/>
          <a:ext cx="1319213" cy="3108960"/>
        </p:xfrm>
        <a:graphic>
          <a:graphicData uri="http://schemas.openxmlformats.org/drawingml/2006/table">
            <a:tbl>
              <a:tblPr/>
              <a:tblGrid>
                <a:gridCol w="1319213"/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D20000"/>
                          </a:solidFill>
                          <a:effectLst/>
                          <a:latin typeface="Times New Roman" panose="02020603050405020304" pitchFamily="18" charset="0"/>
                        </a:rPr>
                        <a:t>–177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D2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Reverse-Polish Notation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Pop </a:t>
            </a: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–177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and push 1 </a:t>
            </a:r>
            <a:r>
              <a:rPr lang="en-US">
                <a:solidFill>
                  <a:srgbClr val="FF0066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–</a:t>
            </a: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  (–177) = 178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	 </a:t>
            </a:r>
            <a:r>
              <a:rPr lang="en-US" sz="2800">
                <a:latin typeface="Times New Roman" panose="02020603050405020304" pitchFamily="18" charset="0"/>
                <a:cs typeface="Arial" panose="020B0604020202020204" pitchFamily="34" charset="0"/>
              </a:rPr>
              <a:t>1  2  3  +  4  5  6  ×  –  7  ×  +  </a:t>
            </a:r>
            <a:r>
              <a:rPr lang="en-US" sz="2800">
                <a:solidFill>
                  <a:srgbClr val="FF0066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–</a:t>
            </a:r>
            <a:r>
              <a:rPr lang="en-US" sz="2800">
                <a:latin typeface="Times New Roman" panose="02020603050405020304" pitchFamily="18" charset="0"/>
                <a:cs typeface="Arial" panose="020B0604020202020204" pitchFamily="34" charset="0"/>
              </a:rPr>
              <a:t>  8  9  ×  +</a:t>
            </a:r>
            <a:endParaRPr lang="en-US" sz="280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280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28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94212" name="Group 4"/>
          <p:cNvGraphicFramePr>
            <a:graphicFrameLocks noGrp="1"/>
          </p:cNvGraphicFramePr>
          <p:nvPr/>
        </p:nvGraphicFramePr>
        <p:xfrm>
          <a:off x="6804025" y="3429000"/>
          <a:ext cx="1319213" cy="3108960"/>
        </p:xfrm>
        <a:graphic>
          <a:graphicData uri="http://schemas.openxmlformats.org/drawingml/2006/table">
            <a:tbl>
              <a:tblPr/>
              <a:tblGrid>
                <a:gridCol w="1319213"/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anose="02020603050405020304" pitchFamily="18" charset="0"/>
                        </a:rPr>
                        <a:t>178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Reverse-Polish Notation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Push </a:t>
            </a: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8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onto the stack 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	 </a:t>
            </a:r>
            <a:r>
              <a:rPr lang="en-US" sz="2800">
                <a:latin typeface="Times New Roman" panose="02020603050405020304" pitchFamily="18" charset="0"/>
                <a:cs typeface="Arial" panose="020B0604020202020204" pitchFamily="34" charset="0"/>
              </a:rPr>
              <a:t>1  2  3  +  4  5  6  ×  –  7  ×  +  –  </a:t>
            </a:r>
            <a:r>
              <a:rPr lang="en-US" sz="2800">
                <a:solidFill>
                  <a:srgbClr val="D2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8</a:t>
            </a:r>
            <a:r>
              <a:rPr lang="en-US" sz="2800">
                <a:latin typeface="Times New Roman" panose="02020603050405020304" pitchFamily="18" charset="0"/>
                <a:cs typeface="Arial" panose="020B0604020202020204" pitchFamily="34" charset="0"/>
              </a:rPr>
              <a:t>  9  ×  +</a:t>
            </a:r>
            <a:endParaRPr lang="en-US" sz="280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280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28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95236" name="Group 4"/>
          <p:cNvGraphicFramePr>
            <a:graphicFrameLocks noGrp="1"/>
          </p:cNvGraphicFramePr>
          <p:nvPr/>
        </p:nvGraphicFramePr>
        <p:xfrm>
          <a:off x="6804025" y="3429000"/>
          <a:ext cx="1319213" cy="3108960"/>
        </p:xfrm>
        <a:graphic>
          <a:graphicData uri="http://schemas.openxmlformats.org/drawingml/2006/table">
            <a:tbl>
              <a:tblPr/>
              <a:tblGrid>
                <a:gridCol w="1319213"/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D2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D2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178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Reverse-Polish Notation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Push </a:t>
            </a: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onto the stack 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	 </a:t>
            </a:r>
            <a:r>
              <a:rPr lang="en-US" sz="2800">
                <a:latin typeface="Times New Roman" panose="02020603050405020304" pitchFamily="18" charset="0"/>
                <a:cs typeface="Arial" panose="020B0604020202020204" pitchFamily="34" charset="0"/>
              </a:rPr>
              <a:t>1  2  3  +  4  5  6  ×  –  7  ×  +  –  8  </a:t>
            </a:r>
            <a:r>
              <a:rPr lang="en-US" sz="2800">
                <a:solidFill>
                  <a:srgbClr val="D2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9</a:t>
            </a:r>
            <a:r>
              <a:rPr lang="en-US" sz="2800">
                <a:latin typeface="Times New Roman" panose="02020603050405020304" pitchFamily="18" charset="0"/>
                <a:cs typeface="Arial" panose="020B0604020202020204" pitchFamily="34" charset="0"/>
              </a:rPr>
              <a:t>  ×  +</a:t>
            </a:r>
            <a:endParaRPr lang="en-US" sz="280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280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28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96260" name="Group 4"/>
          <p:cNvGraphicFramePr>
            <a:graphicFrameLocks noGrp="1"/>
          </p:cNvGraphicFramePr>
          <p:nvPr/>
        </p:nvGraphicFramePr>
        <p:xfrm>
          <a:off x="6804025" y="3429000"/>
          <a:ext cx="1319213" cy="3108960"/>
        </p:xfrm>
        <a:graphic>
          <a:graphicData uri="http://schemas.openxmlformats.org/drawingml/2006/table">
            <a:tbl>
              <a:tblPr/>
              <a:tblGrid>
                <a:gridCol w="1319213"/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D2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D2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178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Reverse-Polish Notation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98613"/>
            <a:ext cx="8229600" cy="4525962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Pop </a:t>
            </a: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9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8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and push </a:t>
            </a: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8 </a:t>
            </a:r>
            <a:r>
              <a:rPr lang="en-US">
                <a:solidFill>
                  <a:srgbClr val="D2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×</a:t>
            </a: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 9 = 72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	 </a:t>
            </a:r>
            <a:r>
              <a:rPr lang="en-US" sz="2800">
                <a:latin typeface="Times New Roman" panose="02020603050405020304" pitchFamily="18" charset="0"/>
                <a:cs typeface="Arial" panose="020B0604020202020204" pitchFamily="34" charset="0"/>
              </a:rPr>
              <a:t>1  2  3  +  4  5  6  ×  –  7  ×  +  –  8  9  </a:t>
            </a:r>
            <a:r>
              <a:rPr lang="en-US" sz="2800">
                <a:solidFill>
                  <a:srgbClr val="D2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×</a:t>
            </a:r>
            <a:r>
              <a:rPr lang="en-US" sz="2800">
                <a:latin typeface="Times New Roman" panose="02020603050405020304" pitchFamily="18" charset="0"/>
                <a:cs typeface="Arial" panose="020B0604020202020204" pitchFamily="34" charset="0"/>
              </a:rPr>
              <a:t>  +</a:t>
            </a:r>
            <a:endParaRPr lang="en-US" sz="280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280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28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93188" name="Group 4"/>
          <p:cNvGraphicFramePr>
            <a:graphicFrameLocks noGrp="1"/>
          </p:cNvGraphicFramePr>
          <p:nvPr/>
        </p:nvGraphicFramePr>
        <p:xfrm>
          <a:off x="6804025" y="3429000"/>
          <a:ext cx="1319213" cy="3108960"/>
        </p:xfrm>
        <a:graphic>
          <a:graphicData uri="http://schemas.openxmlformats.org/drawingml/2006/table">
            <a:tbl>
              <a:tblPr/>
              <a:tblGrid>
                <a:gridCol w="1319213"/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D20000"/>
                          </a:solidFill>
                          <a:effectLst/>
                          <a:latin typeface="Times New Roman" panose="02020603050405020304" pitchFamily="18" charset="0"/>
                        </a:rPr>
                        <a:t>72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D2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178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Reverse-Polish Notation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95438"/>
            <a:ext cx="8229600" cy="4525962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Pop </a:t>
            </a: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72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178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and push </a:t>
            </a: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178 </a:t>
            </a:r>
            <a:r>
              <a:rPr lang="en-US">
                <a:solidFill>
                  <a:srgbClr val="D2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+</a:t>
            </a: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 72 = 250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	 </a:t>
            </a:r>
            <a:r>
              <a:rPr lang="en-US" sz="2800">
                <a:latin typeface="Times New Roman" panose="02020603050405020304" pitchFamily="18" charset="0"/>
                <a:cs typeface="Arial" panose="020B0604020202020204" pitchFamily="34" charset="0"/>
              </a:rPr>
              <a:t>1  2  3  +  4  5  6  ×  –  7  ×  +  –  8  9  ×  </a:t>
            </a:r>
            <a:r>
              <a:rPr lang="en-US" sz="2800">
                <a:solidFill>
                  <a:srgbClr val="D2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+</a:t>
            </a:r>
            <a:endParaRPr lang="en-US" sz="2800">
              <a:solidFill>
                <a:srgbClr val="D2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280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28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97284" name="Group 4"/>
          <p:cNvGraphicFramePr>
            <a:graphicFrameLocks noGrp="1"/>
          </p:cNvGraphicFramePr>
          <p:nvPr/>
        </p:nvGraphicFramePr>
        <p:xfrm>
          <a:off x="6804025" y="3429000"/>
          <a:ext cx="1319213" cy="3108960"/>
        </p:xfrm>
        <a:graphic>
          <a:graphicData uri="http://schemas.openxmlformats.org/drawingml/2006/table">
            <a:tbl>
              <a:tblPr/>
              <a:tblGrid>
                <a:gridCol w="1319213"/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D2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D20000"/>
                          </a:solidFill>
                          <a:effectLst/>
                          <a:latin typeface="Times New Roman" panose="02020603050405020304" pitchFamily="18" charset="0"/>
                        </a:rPr>
                        <a:t>250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D2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Reverse-Polish Notation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Thus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buFontTx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 2  3  +  4  5  6  ×  –  7  ×  +  –  8  9  ×  +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sz="2800" dirty="0">
                <a:solidFill>
                  <a:srgbClr val="D2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	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evaluates to the value on the top: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250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The equivalent in-fix notation is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buFontTx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((1 – ((2 + 3) + ((4 – (5 × 6)) × 7))) + (8 × 9))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We reduce the parentheses using order-of-operations:</a:t>
            </a:r>
            <a:endParaRPr lang="en-US" sz="2800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buFontTx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– (2 + 3 + (4 – 5 × 6) × 7) + 8 × 9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ADT</a:t>
            </a:r>
            <a:endParaRPr lang="en-US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Uses an explicit linear ordering</a:t>
            </a:r>
            <a:endParaRPr lang="en-US" dirty="0"/>
          </a:p>
          <a:p>
            <a:r>
              <a:rPr lang="en-US" dirty="0"/>
              <a:t>Two principal operations</a:t>
            </a:r>
            <a:endParaRPr lang="en-US" dirty="0"/>
          </a:p>
          <a:p>
            <a:pPr lvl="1"/>
            <a:r>
              <a:rPr lang="en-US" i="1" dirty="0"/>
              <a:t>Push</a:t>
            </a:r>
            <a:r>
              <a:rPr lang="en-US" dirty="0"/>
              <a:t>: insert an object onto the top of the stack</a:t>
            </a:r>
            <a:endParaRPr lang="en-US" dirty="0"/>
          </a:p>
          <a:p>
            <a:pPr lvl="1"/>
            <a:r>
              <a:rPr lang="en-US" i="1" dirty="0"/>
              <a:t>Pop</a:t>
            </a:r>
            <a:r>
              <a:rPr lang="en-US" dirty="0"/>
              <a:t>: erase </a:t>
            </a:r>
            <a:r>
              <a:rPr lang="en-US" altLang="zh-CN" dirty="0"/>
              <a:t>the object on the top </a:t>
            </a:r>
            <a:r>
              <a:rPr lang="en-US" dirty="0"/>
              <a:t>of the stack</a:t>
            </a:r>
            <a:endParaRPr lang="en-US" dirty="0"/>
          </a:p>
          <a:p>
            <a:pPr lvl="1"/>
            <a:r>
              <a:rPr lang="en-US" altLang="zh-CN" i="1" dirty="0" err="1"/>
              <a:t>CreateStack</a:t>
            </a:r>
            <a:r>
              <a:rPr lang="en-US" altLang="zh-CN" i="1" dirty="0"/>
              <a:t>: </a:t>
            </a:r>
            <a:r>
              <a:rPr lang="en-US" altLang="zh-CN" dirty="0"/>
              <a:t>generate an empty stack</a:t>
            </a:r>
            <a:endParaRPr lang="en-US" altLang="zh-CN" dirty="0"/>
          </a:p>
          <a:p>
            <a:pPr lvl="1"/>
            <a:r>
              <a:rPr lang="en-US" i="1" dirty="0" err="1"/>
              <a:t>IsEmpty</a:t>
            </a:r>
            <a:r>
              <a:rPr lang="en-US" dirty="0"/>
              <a:t>: determine if stack is empty</a:t>
            </a:r>
            <a:endParaRPr lang="en-US" dirty="0"/>
          </a:p>
          <a:p>
            <a:pPr lvl="1"/>
            <a:r>
              <a:rPr lang="en-US" i="1" dirty="0" err="1"/>
              <a:t>IsFull</a:t>
            </a:r>
            <a:r>
              <a:rPr lang="en-US" dirty="0"/>
              <a:t>: </a:t>
            </a:r>
            <a:r>
              <a:rPr lang="en-US" altLang="zh-CN" dirty="0"/>
              <a:t>determine if stack is full</a:t>
            </a:r>
            <a:endParaRPr lang="en-US" altLang="zh-CN" dirty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  <a:endParaRPr 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 ADT</a:t>
            </a:r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Implementation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Example applications</a:t>
            </a:r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Implementations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We will look at two implementations of stacks: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Singly linked lists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One-ended arrays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The optimal asymptotic run time of any algorithm is </a:t>
            </a:r>
            <a:r>
              <a:rPr lang="en-CA" b="1" dirty="0">
                <a:latin typeface="Symbol" panose="05050102010706020507" pitchFamily="18" charset="2"/>
                <a:cs typeface="Times New Roman" panose="02020603050405020304" pitchFamily="18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(1)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The run time of the algorithm is independent of the number of objects being stored in the container</a:t>
            </a: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Linked-List Implementation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Operations at the front of a singly linked list are all </a:t>
            </a:r>
            <a:r>
              <a:rPr lang="en-CA" b="1" dirty="0">
                <a:solidFill>
                  <a:srgbClr val="00000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Q</a:t>
            </a:r>
            <a:r>
              <a:rPr lang="en-CA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en-CA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CA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CA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CA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CA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CA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CA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The desired behavior of an Abstract Stack may be reproduced by performing all operations at the front</a:t>
            </a:r>
            <a:endParaRPr lang="en-CA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2351" name="Group 63"/>
          <p:cNvGraphicFramePr>
            <a:graphicFrameLocks noGrp="1"/>
          </p:cNvGraphicFramePr>
          <p:nvPr/>
        </p:nvGraphicFramePr>
        <p:xfrm>
          <a:off x="3059113" y="2881313"/>
          <a:ext cx="3364087" cy="1484313"/>
        </p:xfrm>
        <a:graphic>
          <a:graphicData uri="http://schemas.openxmlformats.org/drawingml/2006/table">
            <a:tbl>
              <a:tblPr/>
              <a:tblGrid>
                <a:gridCol w="864096"/>
                <a:gridCol w="1296144"/>
                <a:gridCol w="1203847"/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CA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Front/</a:t>
                      </a:r>
                      <a:r>
                        <a:rPr kumimoji="0" lang="en-CA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CA" sz="18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st</a:t>
                      </a:r>
                      <a:r>
                        <a:rPr kumimoji="0" lang="en-CA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kumimoji="0" lang="en-CA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Back/</a:t>
                      </a:r>
                      <a:r>
                        <a:rPr kumimoji="0" lang="en-CA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en-CA" sz="18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th</a:t>
                      </a:r>
                      <a:endParaRPr kumimoji="0" lang="en-CA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9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Find</a:t>
                      </a:r>
                      <a:endParaRPr kumimoji="0" lang="en-CA" sz="18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CA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(1)</a:t>
                      </a:r>
                      <a:endParaRPr kumimoji="0" lang="en-CA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CA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(1)</a:t>
                      </a:r>
                      <a:endParaRPr kumimoji="0" lang="en-CA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Insert</a:t>
                      </a:r>
                      <a:endParaRPr kumimoji="0" lang="en-CA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CA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(1)</a:t>
                      </a:r>
                      <a:endParaRPr kumimoji="0" lang="en-CA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CA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(1)</a:t>
                      </a:r>
                      <a:endParaRPr kumimoji="0" lang="en-CA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Erase</a:t>
                      </a:r>
                      <a:endParaRPr kumimoji="0" lang="en-CA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CA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(1)</a:t>
                      </a:r>
                      <a:endParaRPr kumimoji="0" lang="en-CA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Symbol" panose="05050102010706020507" pitchFamily="18" charset="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CA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CA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en-CA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CA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18449" name="Picture 5" descr="C:\Users\dwharder\Desktop\l2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951038" y="2276475"/>
            <a:ext cx="5357812" cy="573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1"/>
          <p:cNvSpPr/>
          <p:nvPr/>
        </p:nvSpPr>
        <p:spPr>
          <a:xfrm>
            <a:off x="3974928" y="3266281"/>
            <a:ext cx="3981448" cy="10993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onsolas" panose="020B0609020204030204" pitchFamily="49" charset="0"/>
                <a:cs typeface="Arial" panose="020B0604020202020204" pitchFamily="34" charset="0"/>
              </a:rPr>
              <a:t>Single_list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Definition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1268760"/>
            <a:ext cx="8856984" cy="5328592"/>
          </a:xfrm>
        </p:spPr>
        <p:txBody>
          <a:bodyPr>
            <a:normAutofit fontScale="92500"/>
          </a:bodyPr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The definition of single list class: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300" dirty="0">
                <a:latin typeface="Consolas" panose="020B0609020204030204" pitchFamily="49" charset="0"/>
                <a:cs typeface="Arial" panose="020B0604020202020204" pitchFamily="34" charset="0"/>
              </a:rPr>
              <a:t>		template &lt;</a:t>
            </a:r>
            <a:r>
              <a:rPr lang="en-US" sz="1300" dirty="0" err="1">
                <a:latin typeface="Consolas" panose="020B0609020204030204" pitchFamily="49" charset="0"/>
                <a:cs typeface="Arial" panose="020B0604020202020204" pitchFamily="34" charset="0"/>
              </a:rPr>
              <a:t>typename</a:t>
            </a:r>
            <a:r>
              <a:rPr lang="en-US" sz="1300" dirty="0">
                <a:latin typeface="Consolas" panose="020B0609020204030204" pitchFamily="49" charset="0"/>
                <a:cs typeface="Arial" panose="020B0604020202020204" pitchFamily="34" charset="0"/>
              </a:rPr>
              <a:t> Type&gt;</a:t>
            </a:r>
            <a:endParaRPr lang="en-US" sz="13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300" dirty="0">
                <a:latin typeface="Consolas" panose="020B0609020204030204" pitchFamily="49" charset="0"/>
                <a:cs typeface="Arial" panose="020B0604020202020204" pitchFamily="34" charset="0"/>
              </a:rPr>
              <a:t>		class </a:t>
            </a:r>
            <a:r>
              <a:rPr lang="en-US" sz="1300" dirty="0" err="1">
                <a:latin typeface="Consolas" panose="020B0609020204030204" pitchFamily="49" charset="0"/>
                <a:cs typeface="Arial" panose="020B0604020202020204" pitchFamily="34" charset="0"/>
              </a:rPr>
              <a:t>Single_list</a:t>
            </a:r>
            <a:r>
              <a:rPr lang="en-US" sz="1300" dirty="0">
                <a:latin typeface="Consolas" panose="020B0609020204030204" pitchFamily="49" charset="0"/>
                <a:cs typeface="Arial" panose="020B0604020202020204" pitchFamily="34" charset="0"/>
              </a:rPr>
              <a:t> {</a:t>
            </a:r>
            <a:endParaRPr lang="en-US" sz="13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300" dirty="0">
                <a:latin typeface="Consolas" panose="020B0609020204030204" pitchFamily="49" charset="0"/>
                <a:cs typeface="Arial" panose="020B0604020202020204" pitchFamily="34" charset="0"/>
              </a:rPr>
              <a:t>		    public:</a:t>
            </a:r>
            <a:endParaRPr lang="en-US" sz="13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300" dirty="0">
                <a:latin typeface="Consolas" panose="020B0609020204030204" pitchFamily="49" charset="0"/>
                <a:cs typeface="Arial" panose="020B0604020202020204" pitchFamily="34" charset="0"/>
              </a:rPr>
              <a:t>                  </a:t>
            </a:r>
            <a:r>
              <a:rPr lang="en-US" sz="1300" dirty="0" err="1">
                <a:latin typeface="Consolas" panose="020B0609020204030204" pitchFamily="49" charset="0"/>
                <a:cs typeface="Arial" panose="020B0604020202020204" pitchFamily="34" charset="0"/>
              </a:rPr>
              <a:t>Single_list</a:t>
            </a:r>
            <a:r>
              <a:rPr lang="en-US" sz="1300" dirty="0">
                <a:latin typeface="Consolas" panose="020B0609020204030204" pitchFamily="49" charset="0"/>
                <a:cs typeface="Arial" panose="020B0604020202020204" pitchFamily="34" charset="0"/>
              </a:rPr>
              <a:t>();</a:t>
            </a:r>
            <a:endParaRPr lang="en-US" sz="13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300" dirty="0">
                <a:latin typeface="Consolas" panose="020B0609020204030204" pitchFamily="49" charset="0"/>
                <a:cs typeface="Arial" panose="020B0604020202020204" pitchFamily="34" charset="0"/>
              </a:rPr>
              <a:t>   		        ~</a:t>
            </a:r>
            <a:r>
              <a:rPr lang="en-US" sz="1300" dirty="0" err="1">
                <a:latin typeface="Consolas" panose="020B0609020204030204" pitchFamily="49" charset="0"/>
                <a:cs typeface="Arial" panose="020B0604020202020204" pitchFamily="34" charset="0"/>
              </a:rPr>
              <a:t>Single_list</a:t>
            </a:r>
            <a:r>
              <a:rPr lang="en-US" sz="1300" dirty="0">
                <a:latin typeface="Consolas" panose="020B0609020204030204" pitchFamily="49" charset="0"/>
                <a:cs typeface="Arial" panose="020B0604020202020204" pitchFamily="34" charset="0"/>
              </a:rPr>
              <a:t>();</a:t>
            </a:r>
            <a:endParaRPr lang="en-US" sz="13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13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300" dirty="0">
                <a:latin typeface="Consolas" panose="020B0609020204030204" pitchFamily="49" charset="0"/>
                <a:cs typeface="Arial" panose="020B0604020202020204" pitchFamily="34" charset="0"/>
              </a:rPr>
              <a:t>		        </a:t>
            </a:r>
            <a:r>
              <a:rPr lang="en-US" sz="1300" dirty="0" err="1">
                <a:latin typeface="Consolas" panose="020B0609020204030204" pitchFamily="49" charset="0"/>
                <a:cs typeface="Arial" panose="020B0604020202020204" pitchFamily="34" charset="0"/>
              </a:rPr>
              <a:t>int</a:t>
            </a:r>
            <a:r>
              <a:rPr lang="en-US" sz="1300" dirty="0">
                <a:latin typeface="Consolas" panose="020B0609020204030204" pitchFamily="49" charset="0"/>
                <a:cs typeface="Arial" panose="020B0604020202020204" pitchFamily="34" charset="0"/>
              </a:rPr>
              <a:t> size() </a:t>
            </a:r>
            <a:r>
              <a:rPr lang="en-US" sz="1300" dirty="0" err="1">
                <a:latin typeface="Consolas" panose="020B0609020204030204" pitchFamily="49" charset="0"/>
                <a:cs typeface="Arial" panose="020B0604020202020204" pitchFamily="34" charset="0"/>
              </a:rPr>
              <a:t>const</a:t>
            </a:r>
            <a:r>
              <a:rPr lang="en-US" sz="1300" dirty="0">
                <a:latin typeface="Consolas" panose="020B0609020204030204" pitchFamily="49" charset="0"/>
                <a:cs typeface="Arial" panose="020B0604020202020204" pitchFamily="34" charset="0"/>
              </a:rPr>
              <a:t>;          </a:t>
            </a:r>
            <a:r>
              <a:rPr lang="en-US" altLang="zh-CN" sz="1300" dirty="0">
                <a:solidFill>
                  <a:srgbClr val="5BDF7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/* return the length of the List */</a:t>
            </a:r>
            <a:endParaRPr lang="en-US" sz="13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300" dirty="0">
                <a:latin typeface="Consolas" panose="020B0609020204030204" pitchFamily="49" charset="0"/>
                <a:cs typeface="Arial" panose="020B0604020202020204" pitchFamily="34" charset="0"/>
              </a:rPr>
              <a:t>		        </a:t>
            </a:r>
            <a:r>
              <a:rPr lang="en-US" sz="13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bool empty() </a:t>
            </a:r>
            <a:r>
              <a:rPr lang="en-US" sz="13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const</a:t>
            </a:r>
            <a:r>
              <a:rPr lang="en-US" sz="13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;       </a:t>
            </a:r>
            <a:r>
              <a:rPr lang="en-US" altLang="zh-CN" sz="1300" dirty="0">
                <a:solidFill>
                  <a:srgbClr val="5BDF7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/* return true when List is empty */</a:t>
            </a:r>
            <a:endParaRPr lang="en-US" sz="1300" dirty="0">
              <a:solidFill>
                <a:srgbClr val="5BDF71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300" dirty="0">
                <a:latin typeface="Consolas" panose="020B0609020204030204" pitchFamily="49" charset="0"/>
                <a:cs typeface="Arial" panose="020B0604020202020204" pitchFamily="34" charset="0"/>
              </a:rPr>
              <a:t>		        </a:t>
            </a:r>
            <a:r>
              <a:rPr lang="en-US" sz="13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Type front() </a:t>
            </a:r>
            <a:r>
              <a:rPr lang="en-US" sz="13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const</a:t>
            </a:r>
            <a:r>
              <a:rPr lang="en-US" sz="13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;        </a:t>
            </a:r>
            <a:r>
              <a:rPr lang="en-US" altLang="zh-CN" sz="1300" dirty="0">
                <a:solidFill>
                  <a:srgbClr val="5BDF7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/* return the data in the first node */</a:t>
            </a:r>
            <a:endParaRPr lang="en-US" sz="1300" dirty="0">
              <a:solidFill>
                <a:srgbClr val="5BDF71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300" dirty="0">
                <a:latin typeface="Consolas" panose="020B0609020204030204" pitchFamily="49" charset="0"/>
                <a:cs typeface="Arial" panose="020B0604020202020204" pitchFamily="34" charset="0"/>
              </a:rPr>
              <a:t>		        Type back() </a:t>
            </a:r>
            <a:r>
              <a:rPr lang="en-US" sz="1300" dirty="0" err="1">
                <a:latin typeface="Consolas" panose="020B0609020204030204" pitchFamily="49" charset="0"/>
                <a:cs typeface="Arial" panose="020B0604020202020204" pitchFamily="34" charset="0"/>
              </a:rPr>
              <a:t>const</a:t>
            </a:r>
            <a:r>
              <a:rPr lang="en-US" sz="1300" dirty="0">
                <a:latin typeface="Consolas" panose="020B0609020204030204" pitchFamily="49" charset="0"/>
                <a:cs typeface="Arial" panose="020B0604020202020204" pitchFamily="34" charset="0"/>
              </a:rPr>
              <a:t>;         </a:t>
            </a:r>
            <a:r>
              <a:rPr lang="en-US" altLang="zh-CN" sz="1300" dirty="0">
                <a:solidFill>
                  <a:srgbClr val="5BDF7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/* return the data in the last node */</a:t>
            </a:r>
            <a:endParaRPr lang="en-US" sz="13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300" dirty="0">
                <a:latin typeface="Consolas" panose="020B0609020204030204" pitchFamily="49" charset="0"/>
                <a:cs typeface="Arial" panose="020B0604020202020204" pitchFamily="34" charset="0"/>
              </a:rPr>
              <a:t>		        </a:t>
            </a:r>
            <a:r>
              <a:rPr lang="en-US" sz="1300" dirty="0" err="1">
                <a:latin typeface="Consolas" panose="020B0609020204030204" pitchFamily="49" charset="0"/>
                <a:cs typeface="Arial" panose="020B0604020202020204" pitchFamily="34" charset="0"/>
              </a:rPr>
              <a:t>Single_node</a:t>
            </a:r>
            <a:r>
              <a:rPr lang="en-US" sz="1300" dirty="0">
                <a:latin typeface="Consolas" panose="020B0609020204030204" pitchFamily="49" charset="0"/>
                <a:cs typeface="Arial" panose="020B0604020202020204" pitchFamily="34" charset="0"/>
              </a:rPr>
              <a:t>&lt;Type&gt; *head() </a:t>
            </a:r>
            <a:r>
              <a:rPr lang="en-US" sz="1300" dirty="0" err="1">
                <a:latin typeface="Consolas" panose="020B0609020204030204" pitchFamily="49" charset="0"/>
                <a:cs typeface="Arial" panose="020B0604020202020204" pitchFamily="34" charset="0"/>
              </a:rPr>
              <a:t>const</a:t>
            </a:r>
            <a:r>
              <a:rPr lang="en-US" sz="1300" dirty="0"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  <a:r>
              <a:rPr lang="en-US" altLang="zh-CN" sz="1300" dirty="0">
                <a:solidFill>
                  <a:srgbClr val="5BDF7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/* return the first node */</a:t>
            </a:r>
            <a:endParaRPr lang="en-US" sz="13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300" dirty="0">
                <a:latin typeface="Consolas" panose="020B0609020204030204" pitchFamily="49" charset="0"/>
                <a:cs typeface="Arial" panose="020B0604020202020204" pitchFamily="34" charset="0"/>
              </a:rPr>
              <a:t>		        </a:t>
            </a:r>
            <a:r>
              <a:rPr lang="en-US" sz="1300" dirty="0" err="1">
                <a:latin typeface="Consolas" panose="020B0609020204030204" pitchFamily="49" charset="0"/>
                <a:cs typeface="Arial" panose="020B0604020202020204" pitchFamily="34" charset="0"/>
              </a:rPr>
              <a:t>Single_node</a:t>
            </a:r>
            <a:r>
              <a:rPr lang="en-US" sz="1300" dirty="0">
                <a:latin typeface="Consolas" panose="020B0609020204030204" pitchFamily="49" charset="0"/>
                <a:cs typeface="Arial" panose="020B0604020202020204" pitchFamily="34" charset="0"/>
              </a:rPr>
              <a:t>&lt;Type&gt; *tail() </a:t>
            </a:r>
            <a:r>
              <a:rPr lang="en-US" sz="1300" dirty="0" err="1">
                <a:latin typeface="Consolas" panose="020B0609020204030204" pitchFamily="49" charset="0"/>
                <a:cs typeface="Arial" panose="020B0604020202020204" pitchFamily="34" charset="0"/>
              </a:rPr>
              <a:t>const</a:t>
            </a:r>
            <a:r>
              <a:rPr lang="en-US" sz="1300" dirty="0"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  <a:r>
              <a:rPr lang="en-US" altLang="zh-CN" sz="1300" dirty="0">
                <a:solidFill>
                  <a:srgbClr val="5BDF7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/* return the last node */</a:t>
            </a:r>
            <a:endParaRPr lang="en-US" sz="13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300" dirty="0">
                <a:latin typeface="Consolas" panose="020B0609020204030204" pitchFamily="49" charset="0"/>
                <a:cs typeface="Arial" panose="020B0604020202020204" pitchFamily="34" charset="0"/>
              </a:rPr>
              <a:t>		        </a:t>
            </a:r>
            <a:r>
              <a:rPr lang="en-US" sz="1300" dirty="0" err="1">
                <a:latin typeface="Consolas" panose="020B0609020204030204" pitchFamily="49" charset="0"/>
                <a:cs typeface="Arial" panose="020B0604020202020204" pitchFamily="34" charset="0"/>
              </a:rPr>
              <a:t>int</a:t>
            </a:r>
            <a:r>
              <a:rPr lang="en-US" sz="1300" dirty="0">
                <a:latin typeface="Consolas" panose="020B0609020204030204" pitchFamily="49" charset="0"/>
                <a:cs typeface="Arial" panose="020B0604020202020204" pitchFamily="34" charset="0"/>
              </a:rPr>
              <a:t> count( Type </a:t>
            </a:r>
            <a:r>
              <a:rPr lang="en-US" sz="1300" dirty="0" err="1">
                <a:latin typeface="Consolas" panose="020B0609020204030204" pitchFamily="49" charset="0"/>
                <a:cs typeface="Arial" panose="020B0604020202020204" pitchFamily="34" charset="0"/>
              </a:rPr>
              <a:t>const</a:t>
            </a:r>
            <a:r>
              <a:rPr lang="en-US" sz="1300" dirty="0">
                <a:latin typeface="Consolas" panose="020B0609020204030204" pitchFamily="49" charset="0"/>
                <a:cs typeface="Arial" panose="020B0604020202020204" pitchFamily="34" charset="0"/>
              </a:rPr>
              <a:t> &amp; ) </a:t>
            </a:r>
            <a:r>
              <a:rPr lang="en-US" sz="1300" dirty="0" err="1">
                <a:latin typeface="Consolas" panose="020B0609020204030204" pitchFamily="49" charset="0"/>
                <a:cs typeface="Arial" panose="020B0604020202020204" pitchFamily="34" charset="0"/>
              </a:rPr>
              <a:t>const</a:t>
            </a:r>
            <a:r>
              <a:rPr lang="en-US" sz="1300" dirty="0"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dirty="0">
                <a:solidFill>
                  <a:srgbClr val="5BDF7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/* counts the number of instances of data*/</a:t>
            </a:r>
            <a:endParaRPr lang="en-US" altLang="zh-CN" sz="13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1300" dirty="0">
              <a:solidFill>
                <a:srgbClr val="5BDF71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13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300" dirty="0">
                <a:latin typeface="Consolas" panose="020B0609020204030204" pitchFamily="49" charset="0"/>
                <a:cs typeface="Arial" panose="020B0604020202020204" pitchFamily="34" charset="0"/>
              </a:rPr>
              <a:t>		        </a:t>
            </a:r>
            <a:r>
              <a:rPr lang="en-US" sz="13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void </a:t>
            </a:r>
            <a:r>
              <a:rPr lang="en-US" sz="13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push_front</a:t>
            </a:r>
            <a:r>
              <a:rPr lang="en-US" sz="13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 Type </a:t>
            </a:r>
            <a:r>
              <a:rPr lang="en-US" sz="13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const</a:t>
            </a:r>
            <a:r>
              <a:rPr lang="en-US" sz="13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&amp; ); </a:t>
            </a:r>
            <a:r>
              <a:rPr lang="en-US" altLang="zh-CN" sz="1300" dirty="0">
                <a:solidFill>
                  <a:srgbClr val="5BDF7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/* insert a node as the first node*/</a:t>
            </a:r>
            <a:endParaRPr lang="en-US" sz="1300" dirty="0">
              <a:solidFill>
                <a:srgbClr val="FF00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300" dirty="0">
                <a:latin typeface="Consolas" panose="020B0609020204030204" pitchFamily="49" charset="0"/>
                <a:cs typeface="Arial" panose="020B0604020202020204" pitchFamily="34" charset="0"/>
              </a:rPr>
              <a:t>		        void </a:t>
            </a:r>
            <a:r>
              <a:rPr lang="en-US" sz="1300" dirty="0" err="1">
                <a:latin typeface="Consolas" panose="020B0609020204030204" pitchFamily="49" charset="0"/>
                <a:cs typeface="Arial" panose="020B0604020202020204" pitchFamily="34" charset="0"/>
              </a:rPr>
              <a:t>push_back</a:t>
            </a:r>
            <a:r>
              <a:rPr lang="en-US" sz="1300" dirty="0">
                <a:latin typeface="Consolas" panose="020B0609020204030204" pitchFamily="49" charset="0"/>
                <a:cs typeface="Arial" panose="020B0604020202020204" pitchFamily="34" charset="0"/>
              </a:rPr>
              <a:t>( Type </a:t>
            </a:r>
            <a:r>
              <a:rPr lang="en-US" sz="1300" dirty="0" err="1">
                <a:latin typeface="Consolas" panose="020B0609020204030204" pitchFamily="49" charset="0"/>
                <a:cs typeface="Arial" panose="020B0604020202020204" pitchFamily="34" charset="0"/>
              </a:rPr>
              <a:t>const</a:t>
            </a:r>
            <a:r>
              <a:rPr lang="en-US" sz="1300" dirty="0">
                <a:latin typeface="Consolas" panose="020B0609020204030204" pitchFamily="49" charset="0"/>
                <a:cs typeface="Arial" panose="020B0604020202020204" pitchFamily="34" charset="0"/>
              </a:rPr>
              <a:t> &amp; );</a:t>
            </a:r>
            <a:r>
              <a:rPr lang="en-US" altLang="zh-CN" sz="1300" dirty="0">
                <a:solidFill>
                  <a:srgbClr val="5BDF7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/* insert a node as the last node*/</a:t>
            </a:r>
            <a:endParaRPr lang="en-US" altLang="zh-CN" sz="1300" dirty="0">
              <a:solidFill>
                <a:srgbClr val="FF00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300" dirty="0">
                <a:latin typeface="Consolas" panose="020B0609020204030204" pitchFamily="49" charset="0"/>
                <a:cs typeface="Arial" panose="020B0604020202020204" pitchFamily="34" charset="0"/>
              </a:rPr>
              <a:t>		        </a:t>
            </a:r>
            <a:r>
              <a:rPr lang="en-US" sz="13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Type </a:t>
            </a:r>
            <a:r>
              <a:rPr lang="en-US" sz="13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pop_front</a:t>
            </a:r>
            <a:r>
              <a:rPr lang="en-US" sz="13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(); </a:t>
            </a:r>
            <a:r>
              <a:rPr lang="en-US" altLang="zh-CN" sz="1300" dirty="0">
                <a:solidFill>
                  <a:srgbClr val="5BDF7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/* return the data in the first node and delete the first node*/</a:t>
            </a:r>
            <a:endParaRPr lang="en-US" sz="1300" dirty="0">
              <a:solidFill>
                <a:srgbClr val="FF00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300" dirty="0">
                <a:latin typeface="Consolas" panose="020B0609020204030204" pitchFamily="49" charset="0"/>
                <a:cs typeface="Arial" panose="020B0604020202020204" pitchFamily="34" charset="0"/>
              </a:rPr>
              <a:t>		        </a:t>
            </a:r>
            <a:r>
              <a:rPr lang="en-US" sz="1300" dirty="0" err="1">
                <a:latin typeface="Consolas" panose="020B0609020204030204" pitchFamily="49" charset="0"/>
                <a:cs typeface="Arial" panose="020B0604020202020204" pitchFamily="34" charset="0"/>
              </a:rPr>
              <a:t>int</a:t>
            </a:r>
            <a:r>
              <a:rPr lang="en-US" sz="1300" dirty="0">
                <a:latin typeface="Consolas" panose="020B0609020204030204" pitchFamily="49" charset="0"/>
                <a:cs typeface="Arial" panose="020B0604020202020204" pitchFamily="34" charset="0"/>
              </a:rPr>
              <a:t> erase( Type </a:t>
            </a:r>
            <a:r>
              <a:rPr lang="en-US" sz="1300" dirty="0" err="1">
                <a:latin typeface="Consolas" panose="020B0609020204030204" pitchFamily="49" charset="0"/>
                <a:cs typeface="Arial" panose="020B0604020202020204" pitchFamily="34" charset="0"/>
              </a:rPr>
              <a:t>const</a:t>
            </a:r>
            <a:r>
              <a:rPr lang="en-US" sz="1300" dirty="0">
                <a:latin typeface="Consolas" panose="020B0609020204030204" pitchFamily="49" charset="0"/>
                <a:cs typeface="Arial" panose="020B0604020202020204" pitchFamily="34" charset="0"/>
              </a:rPr>
              <a:t> &amp; ); </a:t>
            </a:r>
            <a:r>
              <a:rPr lang="en-US" altLang="zh-CN" sz="1400" dirty="0">
                <a:solidFill>
                  <a:srgbClr val="5BDF7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/* removes the nodes containing that integer</a:t>
            </a:r>
            <a:r>
              <a:rPr lang="en-US" altLang="zh-CN" sz="1300" dirty="0">
                <a:solidFill>
                  <a:srgbClr val="5BDF7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*/</a:t>
            </a:r>
            <a:endParaRPr lang="en-US" altLang="zh-CN" sz="1300" dirty="0">
              <a:solidFill>
                <a:srgbClr val="FF00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1300" dirty="0">
              <a:solidFill>
                <a:srgbClr val="5BDF71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300" dirty="0">
                <a:latin typeface="Consolas" panose="020B0609020204030204" pitchFamily="49" charset="0"/>
                <a:cs typeface="Arial" panose="020B0604020202020204" pitchFamily="34" charset="0"/>
              </a:rPr>
              <a:t>		};</a:t>
            </a:r>
            <a:endParaRPr lang="en-US" sz="13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Stack-as-List Class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The stack class using a singly linked list has a single private member variable:</a:t>
            </a: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84" name="Rectangle 5"/>
          <p:cNvSpPr>
            <a:spLocks noChangeArrowheads="1"/>
          </p:cNvSpPr>
          <p:nvPr/>
        </p:nvSpPr>
        <p:spPr bwMode="auto">
          <a:xfrm>
            <a:off x="1908175" y="2822575"/>
            <a:ext cx="5327650" cy="28384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template &lt;typename Type&gt;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class Stack {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private: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</a:rPr>
              <a:t>Single_list</a:t>
            </a:r>
            <a:r>
              <a:rPr lang="en-US" dirty="0">
                <a:latin typeface="Consolas" panose="020B0609020204030204" pitchFamily="49" charset="0"/>
              </a:rPr>
              <a:t>&lt;Type&gt;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list</a:t>
            </a:r>
            <a:r>
              <a:rPr lang="en-US" dirty="0">
                <a:latin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public: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    </a:t>
            </a:r>
            <a:r>
              <a:rPr lang="en-US" dirty="0" err="1">
                <a:solidFill>
                  <a:srgbClr val="FF33CC"/>
                </a:solidFill>
                <a:latin typeface="Consolas" panose="020B0609020204030204" pitchFamily="49" charset="0"/>
              </a:rPr>
              <a:t>bool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663300"/>
                </a:solidFill>
                <a:latin typeface="Consolas" panose="020B0609020204030204" pitchFamily="49" charset="0"/>
              </a:rPr>
              <a:t>empty</a:t>
            </a:r>
            <a:r>
              <a:rPr lang="en-US" dirty="0">
                <a:latin typeface="Consolas" panose="020B0609020204030204" pitchFamily="49" charset="0"/>
              </a:rPr>
              <a:t>() </a:t>
            </a:r>
            <a:r>
              <a:rPr lang="en-US" dirty="0" err="1">
                <a:latin typeface="Consolas" panose="020B0609020204030204" pitchFamily="49" charset="0"/>
              </a:rPr>
              <a:t>const</a:t>
            </a:r>
            <a:r>
              <a:rPr lang="en-US" dirty="0">
                <a:latin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FF33CC"/>
                </a:solidFill>
                <a:latin typeface="Consolas" panose="020B0609020204030204" pitchFamily="49" charset="0"/>
              </a:rPr>
              <a:t>Type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663300"/>
                </a:solidFill>
                <a:latin typeface="Consolas" panose="020B0609020204030204" pitchFamily="49" charset="0"/>
              </a:rPr>
              <a:t>top</a:t>
            </a:r>
            <a:r>
              <a:rPr lang="en-US" dirty="0">
                <a:latin typeface="Consolas" panose="020B0609020204030204" pitchFamily="49" charset="0"/>
              </a:rPr>
              <a:t>() </a:t>
            </a:r>
            <a:r>
              <a:rPr lang="en-US" dirty="0" err="1">
                <a:latin typeface="Consolas" panose="020B0609020204030204" pitchFamily="49" charset="0"/>
              </a:rPr>
              <a:t>const</a:t>
            </a:r>
            <a:r>
              <a:rPr lang="en-US" dirty="0">
                <a:latin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FF33CC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663300"/>
                </a:solidFill>
                <a:latin typeface="Consolas" panose="020B0609020204030204" pitchFamily="49" charset="0"/>
              </a:rPr>
              <a:t>push</a:t>
            </a:r>
            <a:r>
              <a:rPr lang="en-US" dirty="0">
                <a:latin typeface="Consolas" panose="020B0609020204030204" pitchFamily="49" charset="0"/>
              </a:rPr>
              <a:t>( Type </a:t>
            </a:r>
            <a:r>
              <a:rPr lang="en-US" dirty="0" err="1">
                <a:latin typeface="Consolas" panose="020B0609020204030204" pitchFamily="49" charset="0"/>
              </a:rPr>
              <a:t>const</a:t>
            </a:r>
            <a:r>
              <a:rPr lang="en-US" dirty="0">
                <a:latin typeface="Consolas" panose="020B0609020204030204" pitchFamily="49" charset="0"/>
              </a:rPr>
              <a:t> &amp; );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FF33CC"/>
                </a:solidFill>
                <a:latin typeface="Consolas" panose="020B0609020204030204" pitchFamily="49" charset="0"/>
              </a:rPr>
              <a:t>Type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663300"/>
                </a:solidFill>
                <a:latin typeface="Consolas" panose="020B0609020204030204" pitchFamily="49" charset="0"/>
              </a:rPr>
              <a:t>pop</a:t>
            </a:r>
            <a:r>
              <a:rPr lang="en-US" dirty="0">
                <a:latin typeface="Consolas" panose="020B0609020204030204" pitchFamily="49" charset="0"/>
              </a:rPr>
              <a:t>();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};</a:t>
            </a:r>
            <a:endParaRPr lang="en-US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Stack-as-List Class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The empty and push functions just call the appropriate functions of the </a:t>
            </a:r>
            <a:r>
              <a:rPr lang="en-US" dirty="0" err="1">
                <a:latin typeface="Consolas" panose="020B0609020204030204" pitchFamily="49" charset="0"/>
                <a:cs typeface="Arial" panose="020B0604020202020204" pitchFamily="34" charset="0"/>
              </a:rPr>
              <a:t>Single_list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class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		template &lt;typename Type&gt;</a:t>
            </a:r>
            <a:endParaRPr lang="en-US" sz="18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800" dirty="0">
                <a:solidFill>
                  <a:srgbClr val="FF33C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		</a:t>
            </a:r>
            <a:r>
              <a:rPr lang="en-US" sz="1800" dirty="0" err="1">
                <a:solidFill>
                  <a:srgbClr val="FF33C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bool</a:t>
            </a: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 Stack&lt;Type&gt;::</a:t>
            </a:r>
            <a: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empty</a:t>
            </a: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() </a:t>
            </a:r>
            <a:r>
              <a:rPr lang="en-US" sz="1800" dirty="0" err="1">
                <a:latin typeface="Consolas" panose="020B0609020204030204" pitchFamily="49" charset="0"/>
                <a:cs typeface="Arial" panose="020B0604020202020204" pitchFamily="34" charset="0"/>
              </a:rPr>
              <a:t>const</a:t>
            </a: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 {</a:t>
            </a:r>
            <a:endParaRPr lang="en-US" sz="18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		    return </a:t>
            </a:r>
            <a:r>
              <a:rPr lang="en-US" sz="18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list</a:t>
            </a:r>
            <a:r>
              <a:rPr lang="en-US" sz="1800" dirty="0" err="1">
                <a:latin typeface="Consolas" panose="020B0609020204030204" pitchFamily="49" charset="0"/>
                <a:cs typeface="Arial" panose="020B0604020202020204" pitchFamily="34" charset="0"/>
              </a:rPr>
              <a:t>.</a:t>
            </a:r>
            <a:r>
              <a:rPr lang="en-US" sz="1800" dirty="0" err="1">
                <a:solidFill>
                  <a:srgbClr val="00B0F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empty</a:t>
            </a: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();</a:t>
            </a:r>
            <a:endParaRPr lang="en-US" sz="18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		}</a:t>
            </a:r>
            <a:endParaRPr lang="en-US" sz="18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18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		template &lt;typename Type&gt;</a:t>
            </a:r>
            <a:endParaRPr lang="en-US" sz="18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800" dirty="0">
                <a:solidFill>
                  <a:srgbClr val="FF33C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		void</a:t>
            </a: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 Stack&lt;Type&gt;::</a:t>
            </a:r>
            <a: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push</a:t>
            </a: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( Type </a:t>
            </a:r>
            <a:r>
              <a:rPr lang="en-US" sz="1800" dirty="0" err="1">
                <a:latin typeface="Consolas" panose="020B0609020204030204" pitchFamily="49" charset="0"/>
                <a:cs typeface="Arial" panose="020B0604020202020204" pitchFamily="34" charset="0"/>
              </a:rPr>
              <a:t>const</a:t>
            </a: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 &amp;</a:t>
            </a:r>
            <a:r>
              <a:rPr lang="en-US" sz="1800" dirty="0" err="1">
                <a:solidFill>
                  <a:schemeClr val="accent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obj</a:t>
            </a: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 ) {</a:t>
            </a:r>
            <a:endParaRPr lang="en-US" sz="18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		    </a:t>
            </a:r>
            <a:r>
              <a:rPr lang="en-US" sz="18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list</a:t>
            </a:r>
            <a:r>
              <a:rPr lang="en-US" sz="1800" dirty="0" err="1">
                <a:latin typeface="Consolas" panose="020B0609020204030204" pitchFamily="49" charset="0"/>
                <a:cs typeface="Arial" panose="020B0604020202020204" pitchFamily="34" charset="0"/>
              </a:rPr>
              <a:t>.</a:t>
            </a:r>
            <a:r>
              <a:rPr lang="en-US" sz="1800" dirty="0" err="1">
                <a:solidFill>
                  <a:srgbClr val="00B0F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push_front</a:t>
            </a: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( </a:t>
            </a:r>
            <a:r>
              <a:rPr lang="en-US" sz="1800" dirty="0" err="1">
                <a:solidFill>
                  <a:schemeClr val="accent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obj</a:t>
            </a: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 );</a:t>
            </a:r>
            <a:endParaRPr lang="en-US" sz="18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		}</a:t>
            </a:r>
            <a:endParaRPr lang="en-US" sz="18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push_front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We could, however, note that when the list is empty,</a:t>
            </a:r>
            <a:br>
              <a:rPr lang="en-US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list_head == 0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, thus we could shorten this to: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buFontTx/>
              <a:buNone/>
            </a:pPr>
            <a:endParaRPr lang="en-US" b="1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lvl="2" eaLnBrk="1" hangingPunct="1">
              <a:buFontTx/>
              <a:buNone/>
            </a:pP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void List::push_front( int n ) {</a:t>
            </a:r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 list_head = new Node( n, list_head );</a:t>
            </a:r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611560" y="3933056"/>
            <a:ext cx="8229600" cy="234550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If it is empty, we start with: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buFontTx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buFontTx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buFontTx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and, if we try to add 81, we should end up with: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7" descr="s0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045568" y="4437112"/>
            <a:ext cx="3162300" cy="56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6" descr="s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33319" y="5557838"/>
            <a:ext cx="4892675" cy="56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push_front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We could, however, note that when the list is empty,</a:t>
            </a:r>
            <a:br>
              <a:rPr lang="en-US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list_head == 0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, thus we could shorten this to: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buFontTx/>
              <a:buNone/>
            </a:pPr>
            <a:endParaRPr lang="en-US" b="1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lvl="2" eaLnBrk="1" hangingPunct="1">
              <a:buFontTx/>
              <a:buNone/>
            </a:pP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void List::push_front( int n ) {</a:t>
            </a:r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 list_head = new Node( n, list_head );</a:t>
            </a:r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611560" y="3933056"/>
            <a:ext cx="8229600" cy="234550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If it is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not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empty, we start with: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buFontTx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buFontTx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buFontTx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and, if we try to add 70, we should end up with: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6" descr="s1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971600" y="4365104"/>
            <a:ext cx="4892675" cy="56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8" descr="d3"/>
          <p:cNvPicPr>
            <a:picLocks noChangeAspect="1" noChangeArrowheads="1"/>
          </p:cNvPicPr>
          <p:nvPr/>
        </p:nvPicPr>
        <p:blipFill rotWithShape="1">
          <a:blip r:embed="rId2" cstate="print"/>
          <a:srcRect b="32046"/>
          <a:stretch>
            <a:fillRect/>
          </a:stretch>
        </p:blipFill>
        <p:spPr bwMode="auto">
          <a:xfrm>
            <a:off x="971600" y="5527525"/>
            <a:ext cx="6201987" cy="719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Stack-as-List Class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The top and pop functions, however, must check the boundary case: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sz="18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template &lt;</a:t>
            </a:r>
            <a:r>
              <a:rPr lang="en-US" sz="1800" dirty="0" err="1">
                <a:latin typeface="Consolas" panose="020B0609020204030204" pitchFamily="49" charset="0"/>
                <a:cs typeface="Arial" panose="020B0604020202020204" pitchFamily="34" charset="0"/>
              </a:rPr>
              <a:t>typename</a:t>
            </a: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 Type&gt;</a:t>
            </a:r>
            <a:endParaRPr lang="en-US" sz="18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800" dirty="0">
                <a:solidFill>
                  <a:srgbClr val="FF33C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Type</a:t>
            </a: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 Stack&lt;Type&gt;::</a:t>
            </a:r>
            <a: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top</a:t>
            </a: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() </a:t>
            </a:r>
            <a:r>
              <a:rPr lang="en-US" sz="1800" dirty="0" err="1">
                <a:latin typeface="Consolas" panose="020B0609020204030204" pitchFamily="49" charset="0"/>
                <a:cs typeface="Arial" panose="020B0604020202020204" pitchFamily="34" charset="0"/>
              </a:rPr>
              <a:t>const</a:t>
            </a: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 {</a:t>
            </a:r>
            <a:endParaRPr lang="en-US" sz="18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    if ( empty() ) {</a:t>
            </a:r>
            <a:endParaRPr lang="en-US" sz="18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        throw underflow();</a:t>
            </a:r>
            <a:endParaRPr lang="en-US" sz="18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    }</a:t>
            </a:r>
            <a:endParaRPr lang="en-US" sz="18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18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    return </a:t>
            </a:r>
            <a:r>
              <a:rPr lang="en-US" sz="18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list</a:t>
            </a:r>
            <a:r>
              <a:rPr lang="en-US" sz="1800" dirty="0" err="1">
                <a:latin typeface="Consolas" panose="020B0609020204030204" pitchFamily="49" charset="0"/>
                <a:cs typeface="Arial" panose="020B0604020202020204" pitchFamily="34" charset="0"/>
              </a:rPr>
              <a:t>.</a:t>
            </a:r>
            <a:r>
              <a:rPr lang="en-US" sz="1800" dirty="0" err="1">
                <a:solidFill>
                  <a:srgbClr val="00B0F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front</a:t>
            </a: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();</a:t>
            </a:r>
            <a:endParaRPr lang="en-US" sz="18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}</a:t>
            </a:r>
            <a:endParaRPr lang="en-US" sz="18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23556" name="Rectangle 3"/>
          <p:cNvSpPr>
            <a:spLocks noChangeArrowheads="1"/>
          </p:cNvSpPr>
          <p:nvPr/>
        </p:nvSpPr>
        <p:spPr bwMode="auto">
          <a:xfrm>
            <a:off x="5076057" y="2276872"/>
            <a:ext cx="3744416" cy="25209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en-US" dirty="0">
                <a:latin typeface="Consolas" panose="020B0609020204030204" pitchFamily="49" charset="0"/>
              </a:rPr>
              <a:t>template &lt;</a:t>
            </a:r>
            <a:r>
              <a:rPr lang="en-US" dirty="0" err="1">
                <a:latin typeface="Consolas" panose="020B0609020204030204" pitchFamily="49" charset="0"/>
              </a:rPr>
              <a:t>typename</a:t>
            </a:r>
            <a:r>
              <a:rPr lang="en-US" dirty="0">
                <a:latin typeface="Consolas" panose="020B0609020204030204" pitchFamily="49" charset="0"/>
              </a:rPr>
              <a:t> Type&gt;</a:t>
            </a:r>
            <a:endParaRPr lang="en-US" dirty="0">
              <a:latin typeface="Consolas" panose="020B0609020204030204" pitchFamily="49" charset="0"/>
            </a:endParaRP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dirty="0">
                <a:solidFill>
                  <a:srgbClr val="FF33CC"/>
                </a:solidFill>
                <a:latin typeface="Consolas" panose="020B0609020204030204" pitchFamily="49" charset="0"/>
              </a:rPr>
              <a:t>Type</a:t>
            </a:r>
            <a:r>
              <a:rPr lang="en-US" dirty="0">
                <a:latin typeface="Consolas" panose="020B0609020204030204" pitchFamily="49" charset="0"/>
              </a:rPr>
              <a:t> Stack&lt;Type&gt;::</a:t>
            </a:r>
            <a:r>
              <a:rPr lang="en-US" dirty="0">
                <a:solidFill>
                  <a:srgbClr val="00B0F0"/>
                </a:solidFill>
                <a:latin typeface="Consolas" panose="020B0609020204030204" pitchFamily="49" charset="0"/>
              </a:rPr>
              <a:t>pop</a:t>
            </a:r>
            <a:r>
              <a:rPr lang="en-US" dirty="0">
                <a:latin typeface="Consolas" panose="020B0609020204030204" pitchFamily="49" charset="0"/>
              </a:rPr>
              <a:t>() {</a:t>
            </a:r>
            <a:endParaRPr lang="en-US" dirty="0">
              <a:latin typeface="Consolas" panose="020B0609020204030204" pitchFamily="49" charset="0"/>
            </a:endParaRP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dirty="0">
                <a:latin typeface="Consolas" panose="020B0609020204030204" pitchFamily="49" charset="0"/>
              </a:rPr>
              <a:t>    if ( empty() ) {</a:t>
            </a:r>
            <a:endParaRPr lang="en-US" dirty="0">
              <a:latin typeface="Consolas" panose="020B0609020204030204" pitchFamily="49" charset="0"/>
            </a:endParaRP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dirty="0">
                <a:latin typeface="Consolas" panose="020B0609020204030204" pitchFamily="49" charset="0"/>
              </a:rPr>
              <a:t>        throw underflow();</a:t>
            </a:r>
            <a:endParaRPr lang="en-US" dirty="0">
              <a:latin typeface="Consolas" panose="020B0609020204030204" pitchFamily="49" charset="0"/>
            </a:endParaRP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dirty="0">
                <a:latin typeface="Consolas" panose="020B0609020204030204" pitchFamily="49" charset="0"/>
              </a:rPr>
              <a:t>    }</a:t>
            </a:r>
            <a:endParaRPr lang="en-US" dirty="0">
              <a:latin typeface="Consolas" panose="020B0609020204030204" pitchFamily="49" charset="0"/>
            </a:endParaRPr>
          </a:p>
          <a:p>
            <a:pPr marL="342900" indent="-342900" eaLnBrk="0" hangingPunct="0">
              <a:spcBef>
                <a:spcPct val="20000"/>
              </a:spcBef>
            </a:pPr>
            <a:endParaRPr lang="en-US" dirty="0">
              <a:latin typeface="Consolas" panose="020B0609020204030204" pitchFamily="49" charset="0"/>
            </a:endParaRP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dirty="0">
                <a:latin typeface="Consolas" panose="020B0609020204030204" pitchFamily="49" charset="0"/>
              </a:rPr>
              <a:t>    return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list</a:t>
            </a:r>
            <a:r>
              <a:rPr lang="en-US" dirty="0" err="1"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B0F0"/>
                </a:solidFill>
                <a:latin typeface="Consolas" panose="020B0609020204030204" pitchFamily="49" charset="0"/>
              </a:rPr>
              <a:t>pop_front</a:t>
            </a:r>
            <a:r>
              <a:rPr lang="en-US" dirty="0">
                <a:latin typeface="Consolas" panose="020B0609020204030204" pitchFamily="49" charset="0"/>
              </a:rPr>
              <a:t>();</a:t>
            </a:r>
            <a:endParaRPr lang="en-US" dirty="0">
              <a:latin typeface="Consolas" panose="020B0609020204030204" pitchFamily="49" charset="0"/>
            </a:endParaRP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dirty="0">
                <a:latin typeface="Consolas" panose="020B0609020204030204" pitchFamily="49" charset="0"/>
              </a:rPr>
              <a:t>}</a:t>
            </a:r>
            <a:endParaRPr lang="en-US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pop_front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The correct implementation assigns a temporary pointer to point to the node being deleted: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 eaLnBrk="1" hangingPunct="1">
              <a:buFontTx/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List::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pop_front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if ( empty() ) {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throw underflow();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}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e = front();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Node *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list_head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list_head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list_head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-&gt;next();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delete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return e;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220072" y="4216718"/>
            <a:ext cx="3826768" cy="20882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zh-CN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 front() </a:t>
            </a:r>
            <a:r>
              <a:rPr lang="en-US" altLang="zh-CN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endParaRPr lang="en-US" altLang="zh-CN" sz="14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 eaLnBrk="1" hangingPunct="1">
              <a:buNone/>
            </a:pPr>
            <a:endParaRPr lang="en-US" sz="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buFontTx/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List::front()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buFontTx/>
              <a:buNone/>
            </a:pPr>
            <a:r>
              <a:rPr lang="en-US" sz="1200" dirty="0">
                <a:solidFill>
                  <a:srgbClr val="D2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    if ( empty() ) {</a:t>
            </a:r>
            <a:endParaRPr lang="en-US" sz="1200" dirty="0">
              <a:solidFill>
                <a:srgbClr val="D2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buFontTx/>
              <a:buNone/>
            </a:pPr>
            <a:r>
              <a:rPr lang="en-US" sz="1200" dirty="0">
                <a:solidFill>
                  <a:srgbClr val="D2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        throw underflow();</a:t>
            </a:r>
            <a:br>
              <a:rPr lang="en-US" sz="1200" dirty="0">
                <a:solidFill>
                  <a:srgbClr val="D2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200" dirty="0">
                <a:solidFill>
                  <a:srgbClr val="D2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    }</a:t>
            </a:r>
            <a:endParaRPr lang="en-US" sz="1200" dirty="0">
              <a:solidFill>
                <a:srgbClr val="D2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buFontTx/>
              <a:buNone/>
            </a:pPr>
            <a:endParaRPr lang="en-US" sz="1200" dirty="0">
              <a:solidFill>
                <a:srgbClr val="D2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buFontTx/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		    return head()-&gt;retrieve();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buFontTx/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		}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buFontTx/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pop_front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The correct implementation assigns a temporary pointer to point to the node being deleted: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 eaLnBrk="1" hangingPunct="1">
              <a:buFontTx/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List::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pop_front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if ( empty() ) {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throw underflow();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}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e = front();</a:t>
            </a:r>
            <a:endParaRPr lang="en-US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Node *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list_head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list_head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list_head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-&gt;next();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delete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return e;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4" name="Picture 8" descr="d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995936" y="3212976"/>
            <a:ext cx="4965700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220072" y="4216718"/>
            <a:ext cx="3826768" cy="20882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zh-CN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 front() </a:t>
            </a:r>
            <a:r>
              <a:rPr lang="en-US" altLang="zh-CN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endParaRPr lang="en-US" altLang="zh-CN" sz="14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 eaLnBrk="1" hangingPunct="1">
              <a:buNone/>
            </a:pPr>
            <a:endParaRPr lang="en-US" sz="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buFontTx/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List::front()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buFontTx/>
              <a:buNone/>
            </a:pPr>
            <a:r>
              <a:rPr lang="en-US" sz="1200" dirty="0">
                <a:solidFill>
                  <a:srgbClr val="D2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    if ( empty() ) {</a:t>
            </a:r>
            <a:endParaRPr lang="en-US" sz="1200" dirty="0">
              <a:solidFill>
                <a:srgbClr val="D2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buFontTx/>
              <a:buNone/>
            </a:pPr>
            <a:r>
              <a:rPr lang="en-US" sz="1200" dirty="0">
                <a:solidFill>
                  <a:srgbClr val="D2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        throw underflow();</a:t>
            </a:r>
            <a:br>
              <a:rPr lang="en-US" sz="1200" dirty="0">
                <a:solidFill>
                  <a:srgbClr val="D2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200" dirty="0">
                <a:solidFill>
                  <a:srgbClr val="D2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    }</a:t>
            </a:r>
            <a:endParaRPr lang="en-US" sz="1200" dirty="0">
              <a:solidFill>
                <a:srgbClr val="D2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buFontTx/>
              <a:buNone/>
            </a:pPr>
            <a:endParaRPr lang="en-US" sz="1200" dirty="0">
              <a:solidFill>
                <a:srgbClr val="D2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buFontTx/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		    return head()-&gt;retrieve();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buFontTx/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		}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buFontTx/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pop_front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The correct implementation assigns a temporary pointer to point to the node being deleted: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 eaLnBrk="1" hangingPunct="1">
              <a:buFontTx/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List::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pop_front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if ( empty() ) {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throw underflow();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}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e = front();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Node *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list_head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list_head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list_head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-&gt;next();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delete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return e;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pop_front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The correct implementation assigns a temporary pointer to point to the node being deleted: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 eaLnBrk="1" hangingPunct="1">
              <a:buFontTx/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List::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pop_front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if ( empty() ) {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throw underflow();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}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e = front();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Node *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list_head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list_head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list_head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-&gt;next();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delete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return e;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6316354" y="3717032"/>
            <a:ext cx="543739" cy="943292"/>
            <a:chOff x="6316354" y="3717032"/>
            <a:chExt cx="543739" cy="943292"/>
          </a:xfrm>
        </p:grpSpPr>
        <p:cxnSp>
          <p:nvCxnSpPr>
            <p:cNvPr id="3" name="直接箭头连接符 2"/>
            <p:cNvCxnSpPr/>
            <p:nvPr/>
          </p:nvCxnSpPr>
          <p:spPr>
            <a:xfrm>
              <a:off x="6588224" y="3717032"/>
              <a:ext cx="0" cy="576064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/>
            <p:cNvSpPr txBox="1"/>
            <p:nvPr/>
          </p:nvSpPr>
          <p:spPr>
            <a:xfrm>
              <a:off x="6316354" y="4290992"/>
              <a:ext cx="5437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C00000"/>
                  </a:solidFill>
                </a:rPr>
                <a:t>*</a:t>
              </a:r>
              <a:r>
                <a:rPr lang="en-US" altLang="zh-CN" dirty="0" err="1">
                  <a:solidFill>
                    <a:srgbClr val="C00000"/>
                  </a:solidFill>
                </a:rPr>
                <a:t>ptr</a:t>
              </a:r>
              <a:endParaRPr lang="zh-CN" altLang="en-US" dirty="0">
                <a:solidFill>
                  <a:srgbClr val="C00000"/>
                </a:solidFill>
              </a:endParaRPr>
            </a:p>
          </p:txBody>
        </p:sp>
      </p:grpSp>
      <p:pic>
        <p:nvPicPr>
          <p:cNvPr id="8" name="Picture 8" descr="d3"/>
          <p:cNvPicPr>
            <a:picLocks noChangeAspect="1" noChangeArrowheads="1"/>
          </p:cNvPicPr>
          <p:nvPr/>
        </p:nvPicPr>
        <p:blipFill rotWithShape="1">
          <a:blip r:embed="rId1" cstate="print"/>
          <a:srcRect b="40540"/>
          <a:stretch>
            <a:fillRect/>
          </a:stretch>
        </p:blipFill>
        <p:spPr bwMode="auto">
          <a:xfrm>
            <a:off x="3923928" y="3212976"/>
            <a:ext cx="4965700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pop_front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The correct implementation assigns a temporary pointer to point to the node being deleted: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 eaLnBrk="1" hangingPunct="1">
              <a:buFontTx/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List::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pop_front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if ( empty() ) {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throw underflow();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}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e = front();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Node *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list_head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list_head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list_head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-&gt;next();</a:t>
            </a:r>
            <a:endParaRPr lang="en-US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delete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return e;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6316354" y="3717032"/>
            <a:ext cx="543739" cy="943292"/>
            <a:chOff x="6316354" y="3717032"/>
            <a:chExt cx="543739" cy="943292"/>
          </a:xfrm>
        </p:grpSpPr>
        <p:cxnSp>
          <p:nvCxnSpPr>
            <p:cNvPr id="3" name="直接箭头连接符 2"/>
            <p:cNvCxnSpPr/>
            <p:nvPr/>
          </p:nvCxnSpPr>
          <p:spPr>
            <a:xfrm>
              <a:off x="6588224" y="3717032"/>
              <a:ext cx="0" cy="576064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/>
            <p:cNvSpPr txBox="1"/>
            <p:nvPr/>
          </p:nvSpPr>
          <p:spPr>
            <a:xfrm>
              <a:off x="6316354" y="4290992"/>
              <a:ext cx="5437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C00000"/>
                  </a:solidFill>
                </a:rPr>
                <a:t>*</a:t>
              </a:r>
              <a:r>
                <a:rPr lang="en-US" altLang="zh-CN" dirty="0" err="1">
                  <a:solidFill>
                    <a:srgbClr val="C00000"/>
                  </a:solidFill>
                </a:rPr>
                <a:t>ptr</a:t>
              </a:r>
              <a:endParaRPr lang="zh-CN" altLang="en-US" dirty="0">
                <a:solidFill>
                  <a:srgbClr val="C00000"/>
                </a:solidFill>
              </a:endParaRPr>
            </a:p>
          </p:txBody>
        </p:sp>
      </p:grpSp>
      <p:pic>
        <p:nvPicPr>
          <p:cNvPr id="8" name="Picture 8" descr="d3"/>
          <p:cNvPicPr>
            <a:picLocks noChangeAspect="1" noChangeArrowheads="1"/>
          </p:cNvPicPr>
          <p:nvPr/>
        </p:nvPicPr>
        <p:blipFill rotWithShape="1">
          <a:blip r:embed="rId1" cstate="print"/>
          <a:srcRect b="40540"/>
          <a:stretch>
            <a:fillRect/>
          </a:stretch>
        </p:blipFill>
        <p:spPr bwMode="auto">
          <a:xfrm>
            <a:off x="3923928" y="3212976"/>
            <a:ext cx="4965700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弧形 1"/>
          <p:cNvSpPr/>
          <p:nvPr/>
        </p:nvSpPr>
        <p:spPr>
          <a:xfrm rot="19065631">
            <a:off x="4715130" y="3062445"/>
            <a:ext cx="3242132" cy="2749333"/>
          </a:xfrm>
          <a:prstGeom prst="arc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5796136" y="3356992"/>
            <a:ext cx="288032" cy="360040"/>
            <a:chOff x="5580112" y="5517232"/>
            <a:chExt cx="288032" cy="360040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5580112" y="5517232"/>
              <a:ext cx="288032" cy="36004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 flipV="1">
              <a:off x="5580112" y="5517232"/>
              <a:ext cx="288032" cy="36004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pop_front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The correct implementation assigns a temporary pointer to point to the node being deleted: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 eaLnBrk="1" hangingPunct="1">
              <a:buFontTx/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List::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pop_front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if ( empty() ) {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throw underflow();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}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e = front();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Node *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list_head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list_head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list_head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-&gt;next();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delete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return e;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6316354" y="3717032"/>
            <a:ext cx="543739" cy="943292"/>
            <a:chOff x="6316354" y="3717032"/>
            <a:chExt cx="543739" cy="943292"/>
          </a:xfrm>
        </p:grpSpPr>
        <p:cxnSp>
          <p:nvCxnSpPr>
            <p:cNvPr id="3" name="直接箭头连接符 2"/>
            <p:cNvCxnSpPr/>
            <p:nvPr/>
          </p:nvCxnSpPr>
          <p:spPr>
            <a:xfrm>
              <a:off x="6588224" y="3717032"/>
              <a:ext cx="0" cy="576064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/>
            <p:cNvSpPr txBox="1"/>
            <p:nvPr/>
          </p:nvSpPr>
          <p:spPr>
            <a:xfrm>
              <a:off x="6316354" y="4290992"/>
              <a:ext cx="5437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C00000"/>
                  </a:solidFill>
                </a:rPr>
                <a:t>*</a:t>
              </a:r>
              <a:r>
                <a:rPr lang="en-US" altLang="zh-CN" dirty="0" err="1">
                  <a:solidFill>
                    <a:srgbClr val="C00000"/>
                  </a:solidFill>
                </a:rPr>
                <a:t>ptr</a:t>
              </a:r>
              <a:endParaRPr lang="zh-CN" altLang="en-US" dirty="0">
                <a:solidFill>
                  <a:srgbClr val="C00000"/>
                </a:solidFill>
              </a:endParaRPr>
            </a:p>
          </p:txBody>
        </p:sp>
      </p:grpSp>
      <p:pic>
        <p:nvPicPr>
          <p:cNvPr id="8" name="Picture 8" descr="d3"/>
          <p:cNvPicPr>
            <a:picLocks noChangeAspect="1" noChangeArrowheads="1"/>
          </p:cNvPicPr>
          <p:nvPr/>
        </p:nvPicPr>
        <p:blipFill rotWithShape="1">
          <a:blip r:embed="rId1" cstate="print"/>
          <a:srcRect b="40540"/>
          <a:stretch>
            <a:fillRect/>
          </a:stretch>
        </p:blipFill>
        <p:spPr bwMode="auto">
          <a:xfrm>
            <a:off x="3923928" y="3212976"/>
            <a:ext cx="4965700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弧形 1"/>
          <p:cNvSpPr/>
          <p:nvPr/>
        </p:nvSpPr>
        <p:spPr>
          <a:xfrm rot="19065631">
            <a:off x="4715130" y="3062445"/>
            <a:ext cx="3242132" cy="2749333"/>
          </a:xfrm>
          <a:prstGeom prst="arc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364088" y="3429000"/>
            <a:ext cx="1008112" cy="216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pop_front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The correct implementation assigns a temporary pointer to point to the node being deleted: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 eaLnBrk="1" hangingPunct="1">
              <a:buFontTx/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List::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pop_front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if ( empty() ) {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throw underflow();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}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e = front();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Node *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list_head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list_head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list_head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-&gt;next();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delete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return e;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6316354" y="3717032"/>
            <a:ext cx="543739" cy="943292"/>
            <a:chOff x="6316354" y="3717032"/>
            <a:chExt cx="543739" cy="943292"/>
          </a:xfrm>
        </p:grpSpPr>
        <p:cxnSp>
          <p:nvCxnSpPr>
            <p:cNvPr id="3" name="直接箭头连接符 2"/>
            <p:cNvCxnSpPr/>
            <p:nvPr/>
          </p:nvCxnSpPr>
          <p:spPr>
            <a:xfrm>
              <a:off x="6588224" y="3717032"/>
              <a:ext cx="0" cy="576064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/>
            <p:cNvSpPr txBox="1"/>
            <p:nvPr/>
          </p:nvSpPr>
          <p:spPr>
            <a:xfrm>
              <a:off x="6316354" y="4290992"/>
              <a:ext cx="5437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C00000"/>
                  </a:solidFill>
                </a:rPr>
                <a:t>*</a:t>
              </a:r>
              <a:r>
                <a:rPr lang="en-US" altLang="zh-CN" dirty="0" err="1">
                  <a:solidFill>
                    <a:srgbClr val="C00000"/>
                  </a:solidFill>
                </a:rPr>
                <a:t>ptr</a:t>
              </a:r>
              <a:endParaRPr lang="zh-CN" altLang="en-US" dirty="0">
                <a:solidFill>
                  <a:srgbClr val="C00000"/>
                </a:solidFill>
              </a:endParaRPr>
            </a:p>
          </p:txBody>
        </p:sp>
      </p:grpSp>
      <p:pic>
        <p:nvPicPr>
          <p:cNvPr id="8" name="Picture 8" descr="d3"/>
          <p:cNvPicPr>
            <a:picLocks noChangeAspect="1" noChangeArrowheads="1"/>
          </p:cNvPicPr>
          <p:nvPr/>
        </p:nvPicPr>
        <p:blipFill rotWithShape="1">
          <a:blip r:embed="rId1" cstate="print"/>
          <a:srcRect b="40540"/>
          <a:stretch>
            <a:fillRect/>
          </a:stretch>
        </p:blipFill>
        <p:spPr bwMode="auto">
          <a:xfrm>
            <a:off x="3923928" y="3212976"/>
            <a:ext cx="4965700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弧形 1"/>
          <p:cNvSpPr/>
          <p:nvPr/>
        </p:nvSpPr>
        <p:spPr>
          <a:xfrm rot="19065631">
            <a:off x="4715130" y="3062445"/>
            <a:ext cx="3242132" cy="2749333"/>
          </a:xfrm>
          <a:prstGeom prst="arc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364088" y="3429000"/>
            <a:ext cx="1008112" cy="216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6444207" y="3311900"/>
            <a:ext cx="288032" cy="360040"/>
            <a:chOff x="5580112" y="5517232"/>
            <a:chExt cx="288032" cy="360040"/>
          </a:xfrm>
        </p:grpSpPr>
        <p:cxnSp>
          <p:nvCxnSpPr>
            <p:cNvPr id="11" name="直接连接符 10"/>
            <p:cNvCxnSpPr/>
            <p:nvPr/>
          </p:nvCxnSpPr>
          <p:spPr>
            <a:xfrm>
              <a:off x="5580112" y="5517232"/>
              <a:ext cx="288032" cy="36004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V="1">
              <a:off x="5580112" y="5517232"/>
              <a:ext cx="288032" cy="36004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组合 15"/>
          <p:cNvGrpSpPr/>
          <p:nvPr/>
        </p:nvGrpSpPr>
        <p:grpSpPr>
          <a:xfrm>
            <a:off x="6948264" y="3311900"/>
            <a:ext cx="288032" cy="360040"/>
            <a:chOff x="5580112" y="5517232"/>
            <a:chExt cx="288032" cy="360040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5580112" y="5517232"/>
              <a:ext cx="288032" cy="36004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flipV="1">
              <a:off x="5580112" y="5517232"/>
              <a:ext cx="288032" cy="36004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pop_front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The correct implementation assigns a temporary pointer to point to the node being deleted: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 eaLnBrk="1" hangingPunct="1">
              <a:buFontTx/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List::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pop_front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if ( empty() ) {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throw underflow();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}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e = front();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Node *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list_head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list_head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list_head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-&gt;next();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delete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return e;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716016" y="4725144"/>
            <a:ext cx="3813572" cy="576064"/>
            <a:chOff x="3923928" y="3140968"/>
            <a:chExt cx="3813572" cy="576064"/>
          </a:xfrm>
        </p:grpSpPr>
        <p:pic>
          <p:nvPicPr>
            <p:cNvPr id="8" name="Picture 8" descr="d3"/>
            <p:cNvPicPr>
              <a:picLocks noChangeAspect="1" noChangeArrowheads="1"/>
            </p:cNvPicPr>
            <p:nvPr/>
          </p:nvPicPr>
          <p:blipFill rotWithShape="1">
            <a:blip r:embed="rId1" cstate="print"/>
            <a:srcRect l="-1" r="49246" b="40540"/>
            <a:stretch>
              <a:fillRect/>
            </a:stretch>
          </p:blipFill>
          <p:spPr bwMode="auto">
            <a:xfrm>
              <a:off x="3923928" y="3212976"/>
              <a:ext cx="2520280" cy="5040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9" name="Picture 8" descr="d3"/>
            <p:cNvPicPr>
              <a:picLocks noChangeAspect="1" noChangeArrowheads="1"/>
            </p:cNvPicPr>
            <p:nvPr/>
          </p:nvPicPr>
          <p:blipFill rotWithShape="1">
            <a:blip r:embed="rId1" cstate="print"/>
            <a:srcRect l="71055" t="-8495" b="40541"/>
            <a:stretch>
              <a:fillRect/>
            </a:stretch>
          </p:blipFill>
          <p:spPr bwMode="auto">
            <a:xfrm>
              <a:off x="6300192" y="3140968"/>
              <a:ext cx="1437308" cy="5760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pop_front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The correct implementation assigns a temporary pointer to point to the node being deleted: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 eaLnBrk="1" hangingPunct="1">
              <a:buFontTx/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List::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pop_front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if ( empty() ) {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throw underflow();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}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e = front();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Node *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list_head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list_head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list_head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-&gt;next();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delete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 e;</a:t>
            </a:r>
            <a:endParaRPr lang="en-US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716016" y="4725144"/>
            <a:ext cx="3813572" cy="576064"/>
            <a:chOff x="3923928" y="3140968"/>
            <a:chExt cx="3813572" cy="576064"/>
          </a:xfrm>
        </p:grpSpPr>
        <p:pic>
          <p:nvPicPr>
            <p:cNvPr id="8" name="Picture 8" descr="d3"/>
            <p:cNvPicPr>
              <a:picLocks noChangeAspect="1" noChangeArrowheads="1"/>
            </p:cNvPicPr>
            <p:nvPr/>
          </p:nvPicPr>
          <p:blipFill rotWithShape="1">
            <a:blip r:embed="rId1" cstate="print"/>
            <a:srcRect l="-1" r="49246" b="40540"/>
            <a:stretch>
              <a:fillRect/>
            </a:stretch>
          </p:blipFill>
          <p:spPr bwMode="auto">
            <a:xfrm>
              <a:off x="3923928" y="3212976"/>
              <a:ext cx="2520280" cy="5040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9" name="Picture 8" descr="d3"/>
            <p:cNvPicPr>
              <a:picLocks noChangeAspect="1" noChangeArrowheads="1"/>
            </p:cNvPicPr>
            <p:nvPr/>
          </p:nvPicPr>
          <p:blipFill rotWithShape="1">
            <a:blip r:embed="rId1" cstate="print"/>
            <a:srcRect l="71055" t="-8495" b="40541"/>
            <a:stretch>
              <a:fillRect/>
            </a:stretch>
          </p:blipFill>
          <p:spPr bwMode="auto">
            <a:xfrm>
              <a:off x="6300192" y="3140968"/>
              <a:ext cx="1437308" cy="5760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9" name="Picture 8" descr="d3"/>
          <p:cNvPicPr>
            <a:picLocks noChangeAspect="1" noChangeArrowheads="1"/>
          </p:cNvPicPr>
          <p:nvPr/>
        </p:nvPicPr>
        <p:blipFill rotWithShape="1">
          <a:blip r:embed="rId1" cstate="print"/>
          <a:srcRect t="67954" r="68098" b="-2309"/>
          <a:stretch>
            <a:fillRect/>
          </a:stretch>
        </p:blipFill>
        <p:spPr bwMode="auto">
          <a:xfrm>
            <a:off x="4716016" y="5449045"/>
            <a:ext cx="1584176" cy="291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Stack-as-List Class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A constructor and destructor is not needed</a:t>
            </a: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Because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list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declared, the compiler will call the constructor of the </a:t>
            </a:r>
            <a:r>
              <a:rPr lang="en-US" dirty="0" err="1">
                <a:latin typeface="Consolas" panose="020B0609020204030204" pitchFamily="49" charset="0"/>
                <a:cs typeface="Arial" panose="020B0604020202020204" pitchFamily="34" charset="0"/>
              </a:rPr>
              <a:t>Single_list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class when the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Stack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constructed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Array Implementation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For one-ended arrays, all operations at the back are </a:t>
            </a:r>
            <a:r>
              <a:rPr lang="en-CA" b="1">
                <a:solidFill>
                  <a:srgbClr val="00000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Q</a:t>
            </a:r>
            <a:r>
              <a:rPr lang="en-CA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2640" name="Group 112"/>
          <p:cNvGraphicFramePr>
            <a:graphicFrameLocks noGrp="1"/>
          </p:cNvGraphicFramePr>
          <p:nvPr/>
        </p:nvGraphicFramePr>
        <p:xfrm>
          <a:off x="2586038" y="3384550"/>
          <a:ext cx="4125912" cy="1484313"/>
        </p:xfrm>
        <a:graphic>
          <a:graphicData uri="http://schemas.openxmlformats.org/drawingml/2006/table">
            <a:tbl>
              <a:tblPr/>
              <a:tblGrid>
                <a:gridCol w="1374775"/>
                <a:gridCol w="1376362"/>
                <a:gridCol w="1374775"/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CA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Front/</a:t>
                      </a:r>
                      <a:r>
                        <a:rPr kumimoji="0" lang="en-CA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CA" sz="18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st</a:t>
                      </a:r>
                      <a:r>
                        <a:rPr kumimoji="0" lang="en-CA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kumimoji="0" lang="en-CA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Back/</a:t>
                      </a:r>
                      <a:r>
                        <a:rPr kumimoji="0" lang="en-CA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en-CA" sz="18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th</a:t>
                      </a:r>
                      <a:endParaRPr kumimoji="0" lang="en-CA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9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Find</a:t>
                      </a:r>
                      <a:endParaRPr kumimoji="0" lang="en-CA" sz="18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CA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(1)</a:t>
                      </a:r>
                      <a:endParaRPr kumimoji="0" lang="en-CA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CA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(1)</a:t>
                      </a:r>
                      <a:endParaRPr kumimoji="0" lang="en-CA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Insert</a:t>
                      </a:r>
                      <a:endParaRPr kumimoji="0" lang="en-CA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Symbol" panose="05050102010706020507" pitchFamily="18" charset="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CA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CA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en-CA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CA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CA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(1)</a:t>
                      </a:r>
                      <a:endParaRPr kumimoji="0" lang="en-CA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Erase</a:t>
                      </a:r>
                      <a:endParaRPr kumimoji="0" lang="en-CA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Symbol" panose="05050102010706020507" pitchFamily="18" charset="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CA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CA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en-CA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CA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CA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(1)</a:t>
                      </a:r>
                      <a:endParaRPr kumimoji="0" lang="en-CA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24593" name="Picture 9" descr="x1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611438" y="2205038"/>
            <a:ext cx="4090987" cy="54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3851920" y="3769794"/>
            <a:ext cx="3981448" cy="10993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Stack-as-Array Class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496" y="1600200"/>
            <a:ext cx="8579296" cy="4525963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			template &lt;typename Type&gt;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			class Stack {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			    private: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			        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stack_size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; //number of objects in the stack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			        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array_capacity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; //capacity of the array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altLang="zh-CN" sz="1600" dirty="0">
                <a:latin typeface="Consolas" panose="020B0609020204030204" pitchFamily="49" charset="0"/>
                <a:cs typeface="Arial" panose="020B0604020202020204" pitchFamily="34" charset="0"/>
              </a:rPr>
              <a:t>			        Type *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array</a:t>
            </a:r>
            <a:r>
              <a:rPr lang="en-US" altLang="zh-CN" sz="1600" dirty="0"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  <a:endParaRPr lang="en-US" altLang="zh-CN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			    public: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			        </a:t>
            </a:r>
            <a:r>
              <a:rPr lang="en-US" sz="1600" dirty="0">
                <a:solidFill>
                  <a:srgbClr val="6633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Stack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( 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= 10 );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			        </a:t>
            </a:r>
            <a:r>
              <a:rPr lang="en-US" sz="1600" dirty="0">
                <a:solidFill>
                  <a:srgbClr val="6633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~Stack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();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			        </a:t>
            </a:r>
            <a:r>
              <a:rPr lang="en-US" sz="1600" dirty="0" err="1">
                <a:solidFill>
                  <a:srgbClr val="FF33C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bool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sz="1600" dirty="0">
                <a:solidFill>
                  <a:srgbClr val="6633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empty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() 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const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			        </a:t>
            </a:r>
            <a:r>
              <a:rPr lang="en-US" sz="1600" dirty="0">
                <a:solidFill>
                  <a:srgbClr val="FF33C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Type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sz="1600" dirty="0">
                <a:solidFill>
                  <a:srgbClr val="6633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top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() 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const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			        </a:t>
            </a:r>
            <a:r>
              <a:rPr lang="en-US" sz="1600" dirty="0">
                <a:solidFill>
                  <a:srgbClr val="FF33C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void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sz="1600" dirty="0">
                <a:solidFill>
                  <a:srgbClr val="6633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push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( Type 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const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&amp; );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			        </a:t>
            </a:r>
            <a:r>
              <a:rPr lang="en-US" sz="1600" dirty="0">
                <a:solidFill>
                  <a:srgbClr val="FF33C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Type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sz="1600" dirty="0">
                <a:solidFill>
                  <a:srgbClr val="6633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pop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();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			};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Constructor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The class is only storing the address of the array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must allocate memory for the array and initialize the member variables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652" name="Text Box 5"/>
          <p:cNvSpPr txBox="1">
            <a:spLocks noChangeArrowheads="1"/>
          </p:cNvSpPr>
          <p:nvPr/>
        </p:nvSpPr>
        <p:spPr bwMode="auto">
          <a:xfrm>
            <a:off x="2411760" y="2723622"/>
            <a:ext cx="4616970" cy="339785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en-US" dirty="0">
                <a:latin typeface="Consolas" panose="020B0609020204030204" pitchFamily="49" charset="0"/>
              </a:rPr>
              <a:t>#include &lt;algorithm&gt;</a:t>
            </a:r>
            <a:endParaRPr lang="en-US" dirty="0">
              <a:latin typeface="Consolas" panose="020B0609020204030204" pitchFamily="49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dirty="0">
                <a:latin typeface="Consolas" panose="020B0609020204030204" pitchFamily="49" charset="0"/>
              </a:rPr>
              <a:t>// ...</a:t>
            </a:r>
            <a:endParaRPr lang="en-US" dirty="0">
              <a:latin typeface="Consolas" panose="020B0609020204030204" pitchFamily="49" charset="0"/>
            </a:endParaRPr>
          </a:p>
          <a:p>
            <a:pPr eaLnBrk="0" hangingPunct="0">
              <a:spcBef>
                <a:spcPct val="20000"/>
              </a:spcBef>
            </a:pPr>
            <a:endParaRPr lang="en-US" dirty="0">
              <a:latin typeface="Consolas" panose="020B0609020204030204" pitchFamily="49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dirty="0">
                <a:latin typeface="Consolas" panose="020B0609020204030204" pitchFamily="49" charset="0"/>
              </a:rPr>
              <a:t>template &lt;typename Type&gt;</a:t>
            </a:r>
            <a:endParaRPr lang="en-US" dirty="0">
              <a:latin typeface="Consolas" panose="020B0609020204030204" pitchFamily="49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dirty="0">
                <a:latin typeface="Consolas" panose="020B0609020204030204" pitchFamily="49" charset="0"/>
              </a:rPr>
              <a:t>Stack&lt;Type&gt;::Stack( </a:t>
            </a:r>
            <a:r>
              <a:rPr lang="en-US" dirty="0" err="1"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n</a:t>
            </a:r>
            <a:r>
              <a:rPr lang="en-US" dirty="0">
                <a:latin typeface="Consolas" panose="020B0609020204030204" pitchFamily="49" charset="0"/>
              </a:rPr>
              <a:t> ):</a:t>
            </a:r>
            <a:endParaRPr lang="en-US" dirty="0">
              <a:latin typeface="Consolas" panose="020B0609020204030204" pitchFamily="49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stack_size</a:t>
            </a:r>
            <a:r>
              <a:rPr lang="en-US" dirty="0">
                <a:latin typeface="Consolas" panose="020B0609020204030204" pitchFamily="49" charset="0"/>
              </a:rPr>
              <a:t>( 0 ),</a:t>
            </a:r>
            <a:endParaRPr lang="en-US" dirty="0">
              <a:latin typeface="Consolas" panose="020B0609020204030204" pitchFamily="49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array_capacity</a:t>
            </a:r>
            <a:r>
              <a:rPr lang="en-US" dirty="0">
                <a:latin typeface="Consolas" panose="020B0609020204030204" pitchFamily="49" charset="0"/>
              </a:rPr>
              <a:t>( </a:t>
            </a:r>
            <a:r>
              <a:rPr lang="en-US" dirty="0" err="1">
                <a:latin typeface="Consolas" panose="020B0609020204030204" pitchFamily="49" charset="0"/>
              </a:rPr>
              <a:t>std</a:t>
            </a:r>
            <a:r>
              <a:rPr lang="en-US" dirty="0">
                <a:latin typeface="Consolas" panose="020B0609020204030204" pitchFamily="49" charset="0"/>
              </a:rPr>
              <a:t>::max( 1,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n </a:t>
            </a:r>
            <a:r>
              <a:rPr lang="en-US" dirty="0">
                <a:latin typeface="Consolas" panose="020B0609020204030204" pitchFamily="49" charset="0"/>
              </a:rPr>
              <a:t>) ),</a:t>
            </a:r>
            <a:endParaRPr lang="en-US" dirty="0">
              <a:latin typeface="Consolas" panose="020B0609020204030204" pitchFamily="49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array</a:t>
            </a:r>
            <a:r>
              <a:rPr lang="en-US" dirty="0">
                <a:latin typeface="Consolas" panose="020B0609020204030204" pitchFamily="49" charset="0"/>
              </a:rPr>
              <a:t>( new Type[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array_capacity</a:t>
            </a:r>
            <a:r>
              <a:rPr lang="en-US" dirty="0">
                <a:latin typeface="Consolas" panose="020B0609020204030204" pitchFamily="49" charset="0"/>
              </a:rPr>
              <a:t>] ) {</a:t>
            </a:r>
            <a:endParaRPr lang="en-US" dirty="0">
              <a:latin typeface="Consolas" panose="020B0609020204030204" pitchFamily="49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dirty="0">
                <a:latin typeface="Consolas" panose="020B0609020204030204" pitchFamily="49" charset="0"/>
              </a:rPr>
              <a:t>    // Empty constructor</a:t>
            </a:r>
            <a:endParaRPr lang="en-US" dirty="0">
              <a:latin typeface="Consolas" panose="020B0609020204030204" pitchFamily="49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dirty="0">
                <a:latin typeface="Consolas" panose="020B0609020204030204" pitchFamily="49" charset="0"/>
              </a:rPr>
              <a:t>}</a:t>
            </a:r>
            <a:endParaRPr lang="en-US" sz="2000" dirty="0"/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Constructor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Warning:  in C++, the variables are initialized in the order in which they are defined: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140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160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28676" name="Text Box 4"/>
          <p:cNvSpPr txBox="1">
            <a:spLocks noChangeArrowheads="1"/>
          </p:cNvSpPr>
          <p:nvPr/>
        </p:nvSpPr>
        <p:spPr bwMode="auto">
          <a:xfrm>
            <a:off x="4716463" y="2133600"/>
            <a:ext cx="4303712" cy="3759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template &lt;typename Type&gt;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class Stack {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 private: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stack_size</a:t>
            </a:r>
            <a:r>
              <a:rPr lang="en-US" sz="1600" dirty="0">
                <a:latin typeface="Consolas" panose="020B0609020204030204" pitchFamily="49" charset="0"/>
              </a:rPr>
              <a:t>;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array_capacity</a:t>
            </a:r>
            <a:r>
              <a:rPr lang="en-US" sz="1600" dirty="0">
                <a:latin typeface="Consolas" panose="020B0609020204030204" pitchFamily="49" charset="0"/>
              </a:rPr>
              <a:t>;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     Type *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array</a:t>
            </a:r>
            <a:r>
              <a:rPr lang="en-US" sz="1600" dirty="0">
                <a:latin typeface="Consolas" panose="020B0609020204030204" pitchFamily="49" charset="0"/>
              </a:rPr>
              <a:t>;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 public: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663300"/>
                </a:solidFill>
                <a:latin typeface="Consolas" panose="020B0609020204030204" pitchFamily="49" charset="0"/>
              </a:rPr>
              <a:t>Stack</a:t>
            </a:r>
            <a:r>
              <a:rPr lang="en-US" sz="1600" dirty="0">
                <a:latin typeface="Consolas" panose="020B0609020204030204" pitchFamily="49" charset="0"/>
              </a:rPr>
              <a:t>( </a:t>
            </a:r>
            <a:r>
              <a:rPr lang="en-US" sz="1600" dirty="0" err="1">
                <a:latin typeface="Consolas" panose="020B0609020204030204" pitchFamily="49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</a:rPr>
              <a:t> = 10 );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663300"/>
                </a:solidFill>
                <a:latin typeface="Consolas" panose="020B0609020204030204" pitchFamily="49" charset="0"/>
              </a:rPr>
              <a:t>~Stack</a:t>
            </a:r>
            <a:r>
              <a:rPr lang="en-US" sz="1600" dirty="0">
                <a:latin typeface="Consolas" panose="020B0609020204030204" pitchFamily="49" charset="0"/>
              </a:rPr>
              <a:t>();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FF33CC"/>
                </a:solidFill>
                <a:latin typeface="Consolas" panose="020B0609020204030204" pitchFamily="49" charset="0"/>
              </a:rPr>
              <a:t>bool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663300"/>
                </a:solidFill>
                <a:latin typeface="Consolas" panose="020B0609020204030204" pitchFamily="49" charset="0"/>
              </a:rPr>
              <a:t>empty</a:t>
            </a:r>
            <a:r>
              <a:rPr lang="en-US" sz="1600" dirty="0">
                <a:latin typeface="Consolas" panose="020B0609020204030204" pitchFamily="49" charset="0"/>
              </a:rPr>
              <a:t>() </a:t>
            </a:r>
            <a:r>
              <a:rPr lang="en-US" sz="1600" dirty="0" err="1">
                <a:latin typeface="Consolas" panose="020B0609020204030204" pitchFamily="49" charset="0"/>
              </a:rPr>
              <a:t>const</a:t>
            </a:r>
            <a:r>
              <a:rPr lang="en-US" sz="1600" dirty="0">
                <a:latin typeface="Consolas" panose="020B0609020204030204" pitchFamily="49" charset="0"/>
              </a:rPr>
              <a:t>;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FF33CC"/>
                </a:solidFill>
                <a:latin typeface="Consolas" panose="020B0609020204030204" pitchFamily="49" charset="0"/>
              </a:rPr>
              <a:t>Type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663300"/>
                </a:solidFill>
                <a:latin typeface="Consolas" panose="020B0609020204030204" pitchFamily="49" charset="0"/>
              </a:rPr>
              <a:t>top</a:t>
            </a:r>
            <a:r>
              <a:rPr lang="en-US" sz="1600" dirty="0">
                <a:latin typeface="Consolas" panose="020B0609020204030204" pitchFamily="49" charset="0"/>
              </a:rPr>
              <a:t>() </a:t>
            </a:r>
            <a:r>
              <a:rPr lang="en-US" sz="1600" dirty="0" err="1">
                <a:latin typeface="Consolas" panose="020B0609020204030204" pitchFamily="49" charset="0"/>
              </a:rPr>
              <a:t>const</a:t>
            </a:r>
            <a:r>
              <a:rPr lang="en-US" sz="1600" dirty="0">
                <a:latin typeface="Consolas" panose="020B0609020204030204" pitchFamily="49" charset="0"/>
              </a:rPr>
              <a:t>;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FF33CC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663300"/>
                </a:solidFill>
                <a:latin typeface="Consolas" panose="020B0609020204030204" pitchFamily="49" charset="0"/>
              </a:rPr>
              <a:t>push</a:t>
            </a:r>
            <a:r>
              <a:rPr lang="en-US" sz="1600" dirty="0">
                <a:latin typeface="Consolas" panose="020B0609020204030204" pitchFamily="49" charset="0"/>
              </a:rPr>
              <a:t>( Type </a:t>
            </a:r>
            <a:r>
              <a:rPr lang="en-US" sz="1600" dirty="0" err="1">
                <a:latin typeface="Consolas" panose="020B0609020204030204" pitchFamily="49" charset="0"/>
              </a:rPr>
              <a:t>const</a:t>
            </a:r>
            <a:r>
              <a:rPr lang="en-US" sz="1600" dirty="0">
                <a:latin typeface="Consolas" panose="020B0609020204030204" pitchFamily="49" charset="0"/>
              </a:rPr>
              <a:t> &amp; );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FF33CC"/>
                </a:solidFill>
                <a:latin typeface="Consolas" panose="020B0609020204030204" pitchFamily="49" charset="0"/>
              </a:rPr>
              <a:t>Type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663300"/>
                </a:solidFill>
                <a:latin typeface="Consolas" panose="020B0609020204030204" pitchFamily="49" charset="0"/>
              </a:rPr>
              <a:t>pop</a:t>
            </a:r>
            <a:r>
              <a:rPr lang="en-US" sz="1600" dirty="0">
                <a:latin typeface="Consolas" panose="020B0609020204030204" pitchFamily="49" charset="0"/>
              </a:rPr>
              <a:t>();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};</a:t>
            </a:r>
            <a:endParaRPr lang="en-US" sz="1600" dirty="0">
              <a:latin typeface="Consolas" panose="020B0609020204030204" pitchFamily="49" charset="0"/>
            </a:endParaRPr>
          </a:p>
          <a:p>
            <a:endParaRPr lang="en-US" sz="1600" dirty="0">
              <a:latin typeface="Consolas" panose="020B0609020204030204" pitchFamily="49" charset="0"/>
            </a:endParaRPr>
          </a:p>
        </p:txBody>
      </p:sp>
      <p:sp>
        <p:nvSpPr>
          <p:cNvPr id="28677" name="Text Box 5"/>
          <p:cNvSpPr txBox="1">
            <a:spLocks noChangeArrowheads="1"/>
          </p:cNvSpPr>
          <p:nvPr/>
        </p:nvSpPr>
        <p:spPr bwMode="auto">
          <a:xfrm>
            <a:off x="714375" y="2636838"/>
            <a:ext cx="4112023" cy="211134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en-US" sz="1600" dirty="0">
                <a:latin typeface="Consolas" panose="020B0609020204030204" pitchFamily="49" charset="0"/>
              </a:rPr>
              <a:t>template &lt;</a:t>
            </a:r>
            <a:r>
              <a:rPr lang="en-US" sz="1600" dirty="0" err="1">
                <a:latin typeface="Consolas" panose="020B0609020204030204" pitchFamily="49" charset="0"/>
              </a:rPr>
              <a:t>typename</a:t>
            </a:r>
            <a:r>
              <a:rPr lang="en-US" sz="1600" dirty="0">
                <a:latin typeface="Consolas" panose="020B0609020204030204" pitchFamily="49" charset="0"/>
              </a:rPr>
              <a:t> Type&gt;</a:t>
            </a:r>
            <a:endParaRPr lang="en-US" sz="1600" dirty="0">
              <a:latin typeface="Consolas" panose="020B0609020204030204" pitchFamily="49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sz="1600" dirty="0">
                <a:latin typeface="Consolas" panose="020B0609020204030204" pitchFamily="49" charset="0"/>
              </a:rPr>
              <a:t>Stack&lt;Type&gt;::Stack( </a:t>
            </a:r>
            <a:r>
              <a:rPr lang="en-US" sz="1600" dirty="0" err="1">
                <a:latin typeface="Consolas" panose="020B0609020204030204" pitchFamily="49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1"/>
                </a:solidFill>
                <a:latin typeface="Consolas" panose="020B0609020204030204" pitchFamily="49" charset="0"/>
              </a:rPr>
              <a:t>n</a:t>
            </a:r>
            <a:r>
              <a:rPr lang="en-US" sz="1600" dirty="0">
                <a:latin typeface="Consolas" panose="020B0609020204030204" pitchFamily="49" charset="0"/>
              </a:rPr>
              <a:t> ):</a:t>
            </a:r>
            <a:endParaRPr lang="en-US" sz="1600" dirty="0">
              <a:latin typeface="Consolas" panose="020B0609020204030204" pitchFamily="49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stack_size</a:t>
            </a:r>
            <a:r>
              <a:rPr lang="en-US" sz="1600" dirty="0">
                <a:latin typeface="Consolas" panose="020B0609020204030204" pitchFamily="49" charset="0"/>
              </a:rPr>
              <a:t>( 0 ),</a:t>
            </a:r>
            <a:endParaRPr lang="en-US" sz="1600" dirty="0">
              <a:latin typeface="Consolas" panose="020B0609020204030204" pitchFamily="49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array_capacity</a:t>
            </a:r>
            <a:r>
              <a:rPr lang="en-US" sz="1600" dirty="0">
                <a:latin typeface="Consolas" panose="020B0609020204030204" pitchFamily="49" charset="0"/>
              </a:rPr>
              <a:t>( std::max( 1, </a:t>
            </a:r>
            <a:r>
              <a:rPr lang="en-US" sz="1600" dirty="0">
                <a:solidFill>
                  <a:schemeClr val="accent1"/>
                </a:solidFill>
                <a:latin typeface="Consolas" panose="020B0609020204030204" pitchFamily="49" charset="0"/>
              </a:rPr>
              <a:t>n </a:t>
            </a:r>
            <a:r>
              <a:rPr lang="en-US" sz="1600" dirty="0">
                <a:latin typeface="Consolas" panose="020B0609020204030204" pitchFamily="49" charset="0"/>
              </a:rPr>
              <a:t>) ),</a:t>
            </a:r>
            <a:endParaRPr lang="en-US" sz="1600" dirty="0">
              <a:latin typeface="Consolas" panose="020B0609020204030204" pitchFamily="49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array</a:t>
            </a:r>
            <a:r>
              <a:rPr lang="en-US" sz="1600" dirty="0">
                <a:latin typeface="Consolas" panose="020B0609020204030204" pitchFamily="49" charset="0"/>
              </a:rPr>
              <a:t>( new Type[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array_capacity</a:t>
            </a:r>
            <a:r>
              <a:rPr lang="en-US" sz="1600" dirty="0">
                <a:latin typeface="Consolas" panose="020B0609020204030204" pitchFamily="49" charset="0"/>
              </a:rPr>
              <a:t>] ) {</a:t>
            </a:r>
            <a:endParaRPr lang="en-US" sz="1600" dirty="0">
              <a:latin typeface="Consolas" panose="020B0609020204030204" pitchFamily="49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sz="1600" dirty="0">
                <a:latin typeface="Consolas" panose="020B0609020204030204" pitchFamily="49" charset="0"/>
              </a:rPr>
              <a:t>    // Empty constructor</a:t>
            </a:r>
            <a:endParaRPr lang="en-US" sz="1600" dirty="0">
              <a:latin typeface="Consolas" panose="020B0609020204030204" pitchFamily="49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sz="1600" dirty="0"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  <p:sp>
        <p:nvSpPr>
          <p:cNvPr id="28678" name="Oval 6"/>
          <p:cNvSpPr>
            <a:spLocks noChangeArrowheads="1"/>
          </p:cNvSpPr>
          <p:nvPr/>
        </p:nvSpPr>
        <p:spPr bwMode="auto">
          <a:xfrm>
            <a:off x="539750" y="3084513"/>
            <a:ext cx="1944688" cy="1223962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28679" name="Oval 7"/>
          <p:cNvSpPr>
            <a:spLocks noChangeArrowheads="1"/>
          </p:cNvSpPr>
          <p:nvPr/>
        </p:nvSpPr>
        <p:spPr bwMode="auto">
          <a:xfrm>
            <a:off x="5940425" y="2638425"/>
            <a:ext cx="1944688" cy="1223963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</p:spPr>
        <p:txBody>
          <a:bodyPr wrap="none" anchor="ctr"/>
          <a:lstStyle/>
          <a:p>
            <a:endParaRPr lang="en-CA"/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Destructor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The destructor must release the memory for the array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b="1" dirty="0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			template &lt;</a:t>
            </a:r>
            <a:r>
              <a:rPr lang="en-US" sz="1800" dirty="0" err="1">
                <a:latin typeface="Consolas" panose="020B0609020204030204" pitchFamily="49" charset="0"/>
                <a:cs typeface="Arial" panose="020B0604020202020204" pitchFamily="34" charset="0"/>
              </a:rPr>
              <a:t>typename</a:t>
            </a: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 Type&gt;</a:t>
            </a:r>
            <a:endParaRPr lang="en-US" sz="18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			Stack&lt;Type&gt;::~Stack() {</a:t>
            </a:r>
            <a:endParaRPr lang="en-US" sz="18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			    delete []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array</a:t>
            </a: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  <a:endParaRPr lang="en-US" sz="18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			}</a:t>
            </a:r>
            <a:endParaRPr lang="en-US" sz="18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Empty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The stack is empty if the stack size is zero: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			template &lt;</a:t>
            </a:r>
            <a:r>
              <a:rPr lang="en-US" sz="1800" dirty="0" err="1">
                <a:latin typeface="Consolas" panose="020B0609020204030204" pitchFamily="49" charset="0"/>
                <a:cs typeface="Arial" panose="020B0604020202020204" pitchFamily="34" charset="0"/>
              </a:rPr>
              <a:t>typename</a:t>
            </a: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 Type&gt;</a:t>
            </a:r>
            <a:endParaRPr lang="en-US" sz="18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800" dirty="0">
                <a:solidFill>
                  <a:srgbClr val="FF33C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			bool</a:t>
            </a: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 Stack&lt;Type&gt;::empty() </a:t>
            </a:r>
            <a:r>
              <a:rPr lang="en-US" sz="1800" dirty="0" err="1">
                <a:latin typeface="Consolas" panose="020B0609020204030204" pitchFamily="49" charset="0"/>
                <a:cs typeface="Arial" panose="020B0604020202020204" pitchFamily="34" charset="0"/>
              </a:rPr>
              <a:t>const</a:t>
            </a: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 {</a:t>
            </a:r>
            <a:endParaRPr lang="en-US" sz="18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			    return ( </a:t>
            </a:r>
            <a:r>
              <a:rPr lang="en-US" sz="18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stack_size</a:t>
            </a: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 == 0 );</a:t>
            </a:r>
            <a:endParaRPr lang="en-US" sz="18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			}</a:t>
            </a:r>
            <a:endParaRPr lang="en-US" sz="18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Top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If there are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objects in the stack, the last is located at index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– 1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			template &lt;</a:t>
            </a:r>
            <a:r>
              <a:rPr lang="en-US" sz="1800" dirty="0" err="1">
                <a:latin typeface="Consolas" panose="020B0609020204030204" pitchFamily="49" charset="0"/>
                <a:cs typeface="Arial" panose="020B0604020202020204" pitchFamily="34" charset="0"/>
              </a:rPr>
              <a:t>typename</a:t>
            </a: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 Type&gt;</a:t>
            </a:r>
            <a:endParaRPr lang="en-US" sz="18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800" dirty="0">
                <a:solidFill>
                  <a:srgbClr val="FF33C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			Type</a:t>
            </a: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 Stack&lt;Type&gt;::top() </a:t>
            </a:r>
            <a:r>
              <a:rPr lang="en-US" sz="1800" dirty="0" err="1">
                <a:latin typeface="Consolas" panose="020B0609020204030204" pitchFamily="49" charset="0"/>
                <a:cs typeface="Arial" panose="020B0604020202020204" pitchFamily="34" charset="0"/>
              </a:rPr>
              <a:t>const</a:t>
            </a: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 {</a:t>
            </a:r>
            <a:endParaRPr lang="en-US" sz="18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			    if ( </a:t>
            </a:r>
            <a:r>
              <a:rPr lang="en-US" sz="1800" dirty="0">
                <a:solidFill>
                  <a:srgbClr val="6633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empty</a:t>
            </a: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() ) {</a:t>
            </a:r>
            <a:endParaRPr lang="en-US" sz="18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			        throw underflow();</a:t>
            </a:r>
            <a:endParaRPr lang="en-US" sz="18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			    }</a:t>
            </a:r>
            <a:endParaRPr lang="en-US" sz="18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18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			    return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array</a:t>
            </a: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[</a:t>
            </a:r>
            <a:r>
              <a:rPr lang="en-US" sz="18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stack_size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- 1</a:t>
            </a: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];</a:t>
            </a:r>
            <a:endParaRPr lang="en-US" sz="18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			}</a:t>
            </a:r>
            <a:endParaRPr lang="en-US" sz="18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Pop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Removing an object simply involves reducing the size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By decreasing the size, the previous top of the stack is now at the location </a:t>
            </a:r>
            <a:r>
              <a:rPr lang="en-US" dirty="0" err="1">
                <a:latin typeface="Consolas" panose="020B0609020204030204" pitchFamily="49" charset="0"/>
                <a:cs typeface="Arial" panose="020B0604020202020204" pitchFamily="34" charset="0"/>
              </a:rPr>
              <a:t>stack_size</a:t>
            </a:r>
            <a:endParaRPr lang="en-US" sz="12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			template &lt;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typename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Type&gt;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solidFill>
                  <a:srgbClr val="FF33C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			Type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Stack&lt;Type&gt;::pop() {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			    if ( </a:t>
            </a:r>
            <a:r>
              <a:rPr lang="en-US" sz="1600" dirty="0">
                <a:solidFill>
                  <a:srgbClr val="6633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empty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() ) {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			        throw underflow();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			    }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			    --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stack_size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			    return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array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[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stack_size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];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			}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uiExpand="1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Push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Pushing an object onto the stack can only be performed if the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array is not full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			template &lt;typename Type&gt;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solidFill>
                  <a:srgbClr val="FF33C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			void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Stack&lt;Type&gt;::push( Type 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const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&amp;</a:t>
            </a:r>
            <a:r>
              <a:rPr lang="en-US" sz="1600" dirty="0" err="1">
                <a:solidFill>
                  <a:schemeClr val="accent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obj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) {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			    if (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stack_size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==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array_capacity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) {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			        throw overflow();  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			    }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			   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array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[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stack_size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] = </a:t>
            </a:r>
            <a:r>
              <a:rPr lang="en-US" sz="1600" dirty="0" err="1">
                <a:solidFill>
                  <a:schemeClr val="accent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obj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			    ++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stack_size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			}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Exceptions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819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The case where the array is full is not an exception defined in the Abstract Stack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If the array is filled, we have five options: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Increase the size of the array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Throw an exception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Ignore the element being pushed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Replace the current top of the stack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Put the pushing process to “sleep” until something else removes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top of the stack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Include a member function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bool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full()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Array Capacity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843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The best option is to increase the array capacity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If we increase the array capacity, the question is: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 much?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By a constant?		</a:t>
            </a:r>
            <a:r>
              <a:rPr lang="en-US" dirty="0" err="1">
                <a:latin typeface="Consolas" panose="020B0609020204030204" pitchFamily="49" charset="0"/>
                <a:cs typeface="Arial" panose="020B0604020202020204" pitchFamily="34" charset="0"/>
              </a:rPr>
              <a:t>array_capacity</a:t>
            </a:r>
            <a:r>
              <a:rPr lang="en-US" dirty="0">
                <a:latin typeface="Consolas" panose="020B0609020204030204" pitchFamily="49" charset="0"/>
                <a:cs typeface="Arial" panose="020B0604020202020204" pitchFamily="34" charset="0"/>
              </a:rPr>
              <a:t> += c;</a:t>
            </a:r>
            <a:endParaRPr lang="en-US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By a multiple?		</a:t>
            </a:r>
            <a:r>
              <a:rPr lang="en-US" dirty="0" err="1">
                <a:latin typeface="Consolas" panose="020B0609020204030204" pitchFamily="49" charset="0"/>
                <a:cs typeface="Arial" panose="020B0604020202020204" pitchFamily="34" charset="0"/>
              </a:rPr>
              <a:t>array_capacity</a:t>
            </a:r>
            <a:r>
              <a:rPr lang="en-US" dirty="0">
                <a:latin typeface="Consolas" panose="020B0609020204030204" pitchFamily="49" charset="0"/>
                <a:cs typeface="Arial" panose="020B0604020202020204" pitchFamily="34" charset="0"/>
              </a:rPr>
              <a:t> *= c;</a:t>
            </a:r>
            <a:endParaRPr lang="en-US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Array Capacity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868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First, let us visualize what must occur to allocate new memory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6" name="组合 65"/>
          <p:cNvGrpSpPr/>
          <p:nvPr/>
        </p:nvGrpSpPr>
        <p:grpSpPr>
          <a:xfrm>
            <a:off x="5508104" y="2603041"/>
            <a:ext cx="1394036" cy="1711084"/>
            <a:chOff x="5490412" y="2199866"/>
            <a:chExt cx="1394036" cy="1711084"/>
          </a:xfrm>
        </p:grpSpPr>
        <p:sp>
          <p:nvSpPr>
            <p:cNvPr id="79" name="矩形 78"/>
            <p:cNvSpPr/>
            <p:nvPr/>
          </p:nvSpPr>
          <p:spPr>
            <a:xfrm>
              <a:off x="6627047" y="3027756"/>
              <a:ext cx="216024" cy="86539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+mj-lt"/>
              </a:endParaRPr>
            </a:p>
          </p:txBody>
        </p:sp>
        <p:cxnSp>
          <p:nvCxnSpPr>
            <p:cNvPr id="80" name="直接连接符 79"/>
            <p:cNvCxnSpPr/>
            <p:nvPr/>
          </p:nvCxnSpPr>
          <p:spPr>
            <a:xfrm>
              <a:off x="6627047" y="3243781"/>
              <a:ext cx="216024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>
              <a:off x="6628944" y="3457647"/>
              <a:ext cx="216024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>
              <a:off x="6627047" y="3675829"/>
              <a:ext cx="216024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>
              <a:off x="6627047" y="3893154"/>
              <a:ext cx="216024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文本框 83"/>
            <p:cNvSpPr txBox="1"/>
            <p:nvPr/>
          </p:nvSpPr>
          <p:spPr>
            <a:xfrm>
              <a:off x="6609514" y="2997740"/>
              <a:ext cx="2487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>
                  <a:latin typeface="+mj-lt"/>
                </a:rPr>
                <a:t>S</a:t>
              </a:r>
              <a:endParaRPr lang="zh-CN" altLang="en-US" sz="1100" dirty="0">
                <a:latin typeface="+mj-lt"/>
              </a:endParaRPr>
            </a:p>
          </p:txBody>
        </p:sp>
        <p:sp>
          <p:nvSpPr>
            <p:cNvPr id="85" name="文本框 84"/>
            <p:cNvSpPr txBox="1"/>
            <p:nvPr/>
          </p:nvSpPr>
          <p:spPr>
            <a:xfrm>
              <a:off x="6623432" y="3220115"/>
              <a:ext cx="21993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>
                  <a:latin typeface="+mj-lt"/>
                </a:rPr>
                <a:t>I</a:t>
              </a:r>
              <a:endParaRPr lang="zh-CN" altLang="en-US" sz="1100" dirty="0">
                <a:latin typeface="+mj-lt"/>
              </a:endParaRPr>
            </a:p>
          </p:txBody>
        </p:sp>
        <p:sp>
          <p:nvSpPr>
            <p:cNvPr id="86" name="文本框 85"/>
            <p:cNvSpPr txBox="1"/>
            <p:nvPr/>
          </p:nvSpPr>
          <p:spPr>
            <a:xfrm>
              <a:off x="6609005" y="3436138"/>
              <a:ext cx="2487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>
                  <a:latin typeface="+mj-lt"/>
                </a:rPr>
                <a:t>S</a:t>
              </a:r>
              <a:endParaRPr lang="zh-CN" altLang="en-US" sz="1100" dirty="0">
                <a:latin typeface="+mj-lt"/>
              </a:endParaRPr>
            </a:p>
          </p:txBody>
        </p:sp>
        <p:sp>
          <p:nvSpPr>
            <p:cNvPr id="87" name="文本框 86"/>
            <p:cNvSpPr txBox="1"/>
            <p:nvPr/>
          </p:nvSpPr>
          <p:spPr>
            <a:xfrm>
              <a:off x="6613007" y="3649340"/>
              <a:ext cx="25359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>
                  <a:latin typeface="+mj-lt"/>
                </a:rPr>
                <a:t>T</a:t>
              </a:r>
              <a:endParaRPr lang="zh-CN" altLang="en-US" sz="1100" dirty="0">
                <a:latin typeface="+mj-lt"/>
              </a:endParaRPr>
            </a:p>
          </p:txBody>
        </p:sp>
        <p:sp>
          <p:nvSpPr>
            <p:cNvPr id="88" name="文本框 87"/>
            <p:cNvSpPr txBox="1"/>
            <p:nvPr/>
          </p:nvSpPr>
          <p:spPr>
            <a:xfrm>
              <a:off x="5490412" y="2199866"/>
              <a:ext cx="1394036" cy="64633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latin typeface="+mj-lt"/>
                </a:rPr>
                <a:t>count == 4</a:t>
              </a:r>
              <a:endParaRPr lang="en-US" altLang="zh-CN" sz="1200" dirty="0">
                <a:latin typeface="+mj-lt"/>
              </a:endParaRPr>
            </a:p>
            <a:p>
              <a:r>
                <a:rPr lang="en-US" altLang="zh-CN" sz="1200" dirty="0" err="1">
                  <a:latin typeface="+mj-lt"/>
                </a:rPr>
                <a:t>array_capacity</a:t>
              </a:r>
              <a:r>
                <a:rPr lang="en-US" altLang="zh-CN" sz="1200" dirty="0">
                  <a:latin typeface="+mj-lt"/>
                </a:rPr>
                <a:t> == 4</a:t>
              </a:r>
              <a:endParaRPr lang="en-US" altLang="zh-CN" sz="1200" dirty="0">
                <a:latin typeface="+mj-lt"/>
              </a:endParaRPr>
            </a:p>
            <a:p>
              <a:r>
                <a:rPr lang="en-US" altLang="zh-CN" sz="1200" dirty="0">
                  <a:latin typeface="+mj-lt"/>
                </a:rPr>
                <a:t>array</a:t>
              </a:r>
              <a:endParaRPr lang="zh-CN" altLang="en-US" sz="1200" dirty="0">
                <a:latin typeface="+mj-lt"/>
              </a:endParaRPr>
            </a:p>
          </p:txBody>
        </p:sp>
        <p:cxnSp>
          <p:nvCxnSpPr>
            <p:cNvPr id="89" name="直接箭头连接符 88"/>
            <p:cNvCxnSpPr>
              <a:endCxn id="84" idx="1"/>
            </p:cNvCxnSpPr>
            <p:nvPr/>
          </p:nvCxnSpPr>
          <p:spPr>
            <a:xfrm>
              <a:off x="6065060" y="2668505"/>
              <a:ext cx="544454" cy="46004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Array Capacity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892" name="Rectangle 3"/>
          <p:cNvSpPr>
            <a:spLocks noGrp="1"/>
          </p:cNvSpPr>
          <p:nvPr>
            <p:ph type="body" idx="4294967295"/>
          </p:nvPr>
        </p:nvSpPr>
        <p:spPr>
          <a:xfrm>
            <a:off x="457200" y="1608138"/>
            <a:ext cx="8229600" cy="4525962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First, this requires a call to </a:t>
            </a:r>
            <a:r>
              <a:rPr lang="en-US" dirty="0">
                <a:latin typeface="Consolas" panose="020B0609020204030204" pitchFamily="49" charset="0"/>
                <a:cs typeface="Arial" panose="020B0604020202020204" pitchFamily="34" charset="0"/>
              </a:rPr>
              <a:t>new Type[</a:t>
            </a:r>
            <a:r>
              <a:rPr lang="en-US" i="1" dirty="0">
                <a:latin typeface="Consolas" panose="020B0609020204030204" pitchFamily="49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Consolas" panose="020B0609020204030204" pitchFamily="49" charset="0"/>
                <a:cs typeface="Arial" panose="020B0604020202020204" pitchFamily="34" charset="0"/>
              </a:rPr>
              <a:t>]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where </a:t>
            </a:r>
            <a:r>
              <a:rPr lang="en-US" i="1" dirty="0">
                <a:latin typeface="Consolas" panose="020B0609020204030204" pitchFamily="49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the new capacity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must have access to this so we must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store the address returned by new in a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local variable, say </a:t>
            </a:r>
            <a:r>
              <a:rPr lang="en-US" dirty="0" err="1">
                <a:latin typeface="Consolas" panose="020B0609020204030204" pitchFamily="49" charset="0"/>
                <a:cs typeface="Arial" panose="020B0604020202020204" pitchFamily="34" charset="0"/>
              </a:rPr>
              <a:t>tmp</a:t>
            </a:r>
            <a:endParaRPr lang="en-US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5508104" y="2603041"/>
            <a:ext cx="2958740" cy="2520280"/>
            <a:chOff x="2267744" y="2708920"/>
            <a:chExt cx="2958740" cy="2520280"/>
          </a:xfrm>
        </p:grpSpPr>
        <p:grpSp>
          <p:nvGrpSpPr>
            <p:cNvPr id="60" name="组合 59"/>
            <p:cNvGrpSpPr/>
            <p:nvPr/>
          </p:nvGrpSpPr>
          <p:grpSpPr>
            <a:xfrm>
              <a:off x="2267744" y="2708920"/>
              <a:ext cx="1394036" cy="1711084"/>
              <a:chOff x="5490412" y="2199866"/>
              <a:chExt cx="1394036" cy="1711084"/>
            </a:xfrm>
          </p:grpSpPr>
          <p:sp>
            <p:nvSpPr>
              <p:cNvPr id="81" name="矩形 80"/>
              <p:cNvSpPr/>
              <p:nvPr/>
            </p:nvSpPr>
            <p:spPr>
              <a:xfrm>
                <a:off x="6627047" y="3027756"/>
                <a:ext cx="216024" cy="86539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+mj-lt"/>
                </a:endParaRPr>
              </a:p>
            </p:txBody>
          </p:sp>
          <p:cxnSp>
            <p:nvCxnSpPr>
              <p:cNvPr id="82" name="直接连接符 81"/>
              <p:cNvCxnSpPr/>
              <p:nvPr/>
            </p:nvCxnSpPr>
            <p:spPr>
              <a:xfrm>
                <a:off x="6627047" y="3243781"/>
                <a:ext cx="216024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/>
              <p:cNvCxnSpPr/>
              <p:nvPr/>
            </p:nvCxnSpPr>
            <p:spPr>
              <a:xfrm>
                <a:off x="6628944" y="3457647"/>
                <a:ext cx="216024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/>
              <p:cNvCxnSpPr/>
              <p:nvPr/>
            </p:nvCxnSpPr>
            <p:spPr>
              <a:xfrm>
                <a:off x="6627047" y="3675829"/>
                <a:ext cx="216024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接连接符 84"/>
              <p:cNvCxnSpPr/>
              <p:nvPr/>
            </p:nvCxnSpPr>
            <p:spPr>
              <a:xfrm>
                <a:off x="6627047" y="3893154"/>
                <a:ext cx="216024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文本框 85"/>
              <p:cNvSpPr txBox="1"/>
              <p:nvPr/>
            </p:nvSpPr>
            <p:spPr>
              <a:xfrm>
                <a:off x="6609514" y="2997740"/>
                <a:ext cx="24878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00" dirty="0">
                    <a:latin typeface="+mj-lt"/>
                  </a:rPr>
                  <a:t>S</a:t>
                </a:r>
                <a:endParaRPr lang="zh-CN" altLang="en-US" sz="1100" dirty="0">
                  <a:latin typeface="+mj-lt"/>
                </a:endParaRPr>
              </a:p>
            </p:txBody>
          </p:sp>
          <p:sp>
            <p:nvSpPr>
              <p:cNvPr id="87" name="文本框 86"/>
              <p:cNvSpPr txBox="1"/>
              <p:nvPr/>
            </p:nvSpPr>
            <p:spPr>
              <a:xfrm>
                <a:off x="6623432" y="3220115"/>
                <a:ext cx="21993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00" dirty="0">
                    <a:latin typeface="+mj-lt"/>
                  </a:rPr>
                  <a:t>I</a:t>
                </a:r>
                <a:endParaRPr lang="zh-CN" altLang="en-US" sz="1100" dirty="0">
                  <a:latin typeface="+mj-lt"/>
                </a:endParaRPr>
              </a:p>
            </p:txBody>
          </p:sp>
          <p:sp>
            <p:nvSpPr>
              <p:cNvPr id="88" name="文本框 87"/>
              <p:cNvSpPr txBox="1"/>
              <p:nvPr/>
            </p:nvSpPr>
            <p:spPr>
              <a:xfrm>
                <a:off x="6609005" y="3436138"/>
                <a:ext cx="24878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00" dirty="0">
                    <a:latin typeface="+mj-lt"/>
                  </a:rPr>
                  <a:t>S</a:t>
                </a:r>
                <a:endParaRPr lang="zh-CN" altLang="en-US" sz="1100" dirty="0">
                  <a:latin typeface="+mj-lt"/>
                </a:endParaRPr>
              </a:p>
            </p:txBody>
          </p:sp>
          <p:sp>
            <p:nvSpPr>
              <p:cNvPr id="89" name="文本框 88"/>
              <p:cNvSpPr txBox="1"/>
              <p:nvPr/>
            </p:nvSpPr>
            <p:spPr>
              <a:xfrm>
                <a:off x="6613007" y="3649340"/>
                <a:ext cx="25359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00" dirty="0">
                    <a:latin typeface="+mj-lt"/>
                  </a:rPr>
                  <a:t>T</a:t>
                </a:r>
                <a:endParaRPr lang="zh-CN" altLang="en-US" sz="1100" dirty="0">
                  <a:latin typeface="+mj-lt"/>
                </a:endParaRPr>
              </a:p>
            </p:txBody>
          </p:sp>
          <p:sp>
            <p:nvSpPr>
              <p:cNvPr id="90" name="文本框 89"/>
              <p:cNvSpPr txBox="1"/>
              <p:nvPr/>
            </p:nvSpPr>
            <p:spPr>
              <a:xfrm>
                <a:off x="5490412" y="2199866"/>
                <a:ext cx="1394036" cy="64633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>
                    <a:latin typeface="+mj-lt"/>
                  </a:rPr>
                  <a:t>count == 4</a:t>
                </a:r>
                <a:endParaRPr lang="en-US" altLang="zh-CN" sz="1200" dirty="0">
                  <a:latin typeface="+mj-lt"/>
                </a:endParaRPr>
              </a:p>
              <a:p>
                <a:r>
                  <a:rPr lang="en-US" altLang="zh-CN" sz="1200" dirty="0" err="1">
                    <a:latin typeface="+mj-lt"/>
                  </a:rPr>
                  <a:t>array_capacity</a:t>
                </a:r>
                <a:r>
                  <a:rPr lang="en-US" altLang="zh-CN" sz="1200" dirty="0">
                    <a:latin typeface="+mj-lt"/>
                  </a:rPr>
                  <a:t> == 4</a:t>
                </a:r>
                <a:endParaRPr lang="en-US" altLang="zh-CN" sz="1200" dirty="0">
                  <a:latin typeface="+mj-lt"/>
                </a:endParaRPr>
              </a:p>
              <a:p>
                <a:r>
                  <a:rPr lang="en-US" altLang="zh-CN" sz="1200" dirty="0">
                    <a:latin typeface="+mj-lt"/>
                  </a:rPr>
                  <a:t>array</a:t>
                </a:r>
                <a:endParaRPr lang="zh-CN" altLang="en-US" sz="1200" dirty="0">
                  <a:latin typeface="+mj-lt"/>
                </a:endParaRPr>
              </a:p>
            </p:txBody>
          </p:sp>
          <p:cxnSp>
            <p:nvCxnSpPr>
              <p:cNvPr id="91" name="直接箭头连接符 90"/>
              <p:cNvCxnSpPr>
                <a:endCxn id="86" idx="1"/>
              </p:cNvCxnSpPr>
              <p:nvPr/>
            </p:nvCxnSpPr>
            <p:spPr>
              <a:xfrm>
                <a:off x="6065060" y="2668505"/>
                <a:ext cx="544454" cy="46004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组合 60"/>
            <p:cNvGrpSpPr/>
            <p:nvPr/>
          </p:nvGrpSpPr>
          <p:grpSpPr>
            <a:xfrm>
              <a:off x="4257555" y="2883934"/>
              <a:ext cx="968929" cy="2345266"/>
              <a:chOff x="7812360" y="2821577"/>
              <a:chExt cx="968929" cy="2345266"/>
            </a:xfrm>
          </p:grpSpPr>
          <p:grpSp>
            <p:nvGrpSpPr>
              <p:cNvPr id="70" name="组合 69"/>
              <p:cNvGrpSpPr/>
              <p:nvPr/>
            </p:nvGrpSpPr>
            <p:grpSpPr>
              <a:xfrm>
                <a:off x="7812360" y="3474453"/>
                <a:ext cx="217921" cy="1692390"/>
                <a:chOff x="6627047" y="3027756"/>
                <a:chExt cx="217921" cy="1692390"/>
              </a:xfrm>
            </p:grpSpPr>
            <p:sp>
              <p:nvSpPr>
                <p:cNvPr id="73" name="矩形 72"/>
                <p:cNvSpPr/>
                <p:nvPr/>
              </p:nvSpPr>
              <p:spPr>
                <a:xfrm>
                  <a:off x="6627047" y="3027756"/>
                  <a:ext cx="216024" cy="169239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latin typeface="+mj-lt"/>
                  </a:endParaRPr>
                </a:p>
              </p:txBody>
            </p:sp>
            <p:cxnSp>
              <p:nvCxnSpPr>
                <p:cNvPr id="74" name="直接连接符 73"/>
                <p:cNvCxnSpPr/>
                <p:nvPr/>
              </p:nvCxnSpPr>
              <p:spPr>
                <a:xfrm>
                  <a:off x="6627047" y="3243781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直接连接符 74"/>
                <p:cNvCxnSpPr/>
                <p:nvPr/>
              </p:nvCxnSpPr>
              <p:spPr>
                <a:xfrm>
                  <a:off x="6628944" y="3457647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直接连接符 75"/>
                <p:cNvCxnSpPr/>
                <p:nvPr/>
              </p:nvCxnSpPr>
              <p:spPr>
                <a:xfrm>
                  <a:off x="6627047" y="3675829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直接连接符 76"/>
                <p:cNvCxnSpPr/>
                <p:nvPr/>
              </p:nvCxnSpPr>
              <p:spPr>
                <a:xfrm>
                  <a:off x="6627047" y="3893154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直接连接符 77"/>
                <p:cNvCxnSpPr/>
                <p:nvPr/>
              </p:nvCxnSpPr>
              <p:spPr>
                <a:xfrm>
                  <a:off x="6627047" y="4116126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直接连接符 78"/>
                <p:cNvCxnSpPr/>
                <p:nvPr/>
              </p:nvCxnSpPr>
              <p:spPr>
                <a:xfrm>
                  <a:off x="6627047" y="4323901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直接连接符 79"/>
                <p:cNvCxnSpPr/>
                <p:nvPr/>
              </p:nvCxnSpPr>
              <p:spPr>
                <a:xfrm>
                  <a:off x="6627047" y="4539925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1" name="文本框 70"/>
              <p:cNvSpPr txBox="1"/>
              <p:nvPr/>
            </p:nvSpPr>
            <p:spPr>
              <a:xfrm>
                <a:off x="8335333" y="2821577"/>
                <a:ext cx="445956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 err="1">
                    <a:solidFill>
                      <a:srgbClr val="C00000"/>
                    </a:solidFill>
                    <a:latin typeface="+mj-lt"/>
                  </a:rPr>
                  <a:t>tmp</a:t>
                </a:r>
                <a:endParaRPr lang="zh-CN" altLang="en-US" sz="1200" dirty="0">
                  <a:solidFill>
                    <a:srgbClr val="C00000"/>
                  </a:solidFill>
                  <a:latin typeface="+mj-lt"/>
                </a:endParaRPr>
              </a:p>
            </p:txBody>
          </p:sp>
          <p:cxnSp>
            <p:nvCxnSpPr>
              <p:cNvPr id="72" name="直接箭头连接符 71"/>
              <p:cNvCxnSpPr/>
              <p:nvPr/>
            </p:nvCxnSpPr>
            <p:spPr>
              <a:xfrm flipH="1">
                <a:off x="8030281" y="3078356"/>
                <a:ext cx="508685" cy="48723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Array Capacity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916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Next, the values must be copied over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5508104" y="2603041"/>
            <a:ext cx="2958740" cy="2520280"/>
            <a:chOff x="2267744" y="2708920"/>
            <a:chExt cx="2958740" cy="2520280"/>
          </a:xfrm>
        </p:grpSpPr>
        <p:grpSp>
          <p:nvGrpSpPr>
            <p:cNvPr id="6" name="组合 5"/>
            <p:cNvGrpSpPr/>
            <p:nvPr/>
          </p:nvGrpSpPr>
          <p:grpSpPr>
            <a:xfrm>
              <a:off x="2267744" y="2708920"/>
              <a:ext cx="1394036" cy="1711084"/>
              <a:chOff x="5490412" y="2199866"/>
              <a:chExt cx="1394036" cy="1711084"/>
            </a:xfrm>
          </p:grpSpPr>
          <p:sp>
            <p:nvSpPr>
              <p:cNvPr id="19" name="矩形 18"/>
              <p:cNvSpPr/>
              <p:nvPr/>
            </p:nvSpPr>
            <p:spPr>
              <a:xfrm>
                <a:off x="6627047" y="3027756"/>
                <a:ext cx="216024" cy="86539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+mj-lt"/>
                </a:endParaRPr>
              </a:p>
            </p:txBody>
          </p:sp>
          <p:cxnSp>
            <p:nvCxnSpPr>
              <p:cNvPr id="20" name="直接连接符 19"/>
              <p:cNvCxnSpPr/>
              <p:nvPr/>
            </p:nvCxnSpPr>
            <p:spPr>
              <a:xfrm>
                <a:off x="6627047" y="3243781"/>
                <a:ext cx="216024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/>
              <p:nvPr/>
            </p:nvCxnSpPr>
            <p:spPr>
              <a:xfrm>
                <a:off x="6628944" y="3457647"/>
                <a:ext cx="216024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>
                <a:off x="6627047" y="3675829"/>
                <a:ext cx="216024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/>
              <p:cNvCxnSpPr/>
              <p:nvPr/>
            </p:nvCxnSpPr>
            <p:spPr>
              <a:xfrm>
                <a:off x="6627047" y="3893154"/>
                <a:ext cx="216024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文本框 23"/>
              <p:cNvSpPr txBox="1"/>
              <p:nvPr/>
            </p:nvSpPr>
            <p:spPr>
              <a:xfrm>
                <a:off x="6609514" y="2997740"/>
                <a:ext cx="24878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00" dirty="0">
                    <a:latin typeface="+mj-lt"/>
                  </a:rPr>
                  <a:t>S</a:t>
                </a:r>
                <a:endParaRPr lang="zh-CN" altLang="en-US" sz="1100" dirty="0">
                  <a:latin typeface="+mj-lt"/>
                </a:endParaRPr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6623432" y="3220115"/>
                <a:ext cx="21993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00" dirty="0">
                    <a:latin typeface="+mj-lt"/>
                  </a:rPr>
                  <a:t>I</a:t>
                </a:r>
                <a:endParaRPr lang="zh-CN" altLang="en-US" sz="1100" dirty="0">
                  <a:latin typeface="+mj-lt"/>
                </a:endParaRPr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6609005" y="3436138"/>
                <a:ext cx="24878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00" dirty="0">
                    <a:latin typeface="+mj-lt"/>
                  </a:rPr>
                  <a:t>S</a:t>
                </a:r>
                <a:endParaRPr lang="zh-CN" altLang="en-US" sz="1100" dirty="0">
                  <a:latin typeface="+mj-lt"/>
                </a:endParaRPr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6613007" y="3649340"/>
                <a:ext cx="25359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00" dirty="0">
                    <a:latin typeface="+mj-lt"/>
                  </a:rPr>
                  <a:t>T</a:t>
                </a:r>
                <a:endParaRPr lang="zh-CN" altLang="en-US" sz="1100" dirty="0">
                  <a:latin typeface="+mj-lt"/>
                </a:endParaRPr>
              </a:p>
            </p:txBody>
          </p:sp>
          <p:sp>
            <p:nvSpPr>
              <p:cNvPr id="28" name="文本框 27"/>
              <p:cNvSpPr txBox="1"/>
              <p:nvPr/>
            </p:nvSpPr>
            <p:spPr>
              <a:xfrm>
                <a:off x="5490412" y="2199866"/>
                <a:ext cx="1394036" cy="64633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>
                    <a:latin typeface="+mj-lt"/>
                  </a:rPr>
                  <a:t>count == 4</a:t>
                </a:r>
                <a:endParaRPr lang="en-US" altLang="zh-CN" sz="1200" dirty="0">
                  <a:latin typeface="+mj-lt"/>
                </a:endParaRPr>
              </a:p>
              <a:p>
                <a:r>
                  <a:rPr lang="en-US" altLang="zh-CN" sz="1200" dirty="0" err="1">
                    <a:latin typeface="+mj-lt"/>
                  </a:rPr>
                  <a:t>array_capacity</a:t>
                </a:r>
                <a:r>
                  <a:rPr lang="en-US" altLang="zh-CN" sz="1200" dirty="0">
                    <a:latin typeface="+mj-lt"/>
                  </a:rPr>
                  <a:t> == 4</a:t>
                </a:r>
                <a:endParaRPr lang="en-US" altLang="zh-CN" sz="1200" dirty="0">
                  <a:latin typeface="+mj-lt"/>
                </a:endParaRPr>
              </a:p>
              <a:p>
                <a:r>
                  <a:rPr lang="en-US" altLang="zh-CN" sz="1200" dirty="0">
                    <a:latin typeface="+mj-lt"/>
                  </a:rPr>
                  <a:t>array</a:t>
                </a:r>
                <a:endParaRPr lang="zh-CN" altLang="en-US" sz="1200" dirty="0">
                  <a:latin typeface="+mj-lt"/>
                </a:endParaRPr>
              </a:p>
            </p:txBody>
          </p:sp>
          <p:cxnSp>
            <p:nvCxnSpPr>
              <p:cNvPr id="29" name="直接箭头连接符 28"/>
              <p:cNvCxnSpPr>
                <a:endCxn id="24" idx="1"/>
              </p:cNvCxnSpPr>
              <p:nvPr/>
            </p:nvCxnSpPr>
            <p:spPr>
              <a:xfrm>
                <a:off x="6065060" y="2668505"/>
                <a:ext cx="544454" cy="46004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组合 6"/>
            <p:cNvGrpSpPr/>
            <p:nvPr/>
          </p:nvGrpSpPr>
          <p:grpSpPr>
            <a:xfrm>
              <a:off x="4257555" y="2883934"/>
              <a:ext cx="968929" cy="2345266"/>
              <a:chOff x="7812360" y="2821577"/>
              <a:chExt cx="968929" cy="2345266"/>
            </a:xfrm>
          </p:grpSpPr>
          <p:grpSp>
            <p:nvGrpSpPr>
              <p:cNvPr id="8" name="组合 7"/>
              <p:cNvGrpSpPr/>
              <p:nvPr/>
            </p:nvGrpSpPr>
            <p:grpSpPr>
              <a:xfrm>
                <a:off x="7812360" y="3474453"/>
                <a:ext cx="217921" cy="1692390"/>
                <a:chOff x="6627047" y="3027756"/>
                <a:chExt cx="217921" cy="1692390"/>
              </a:xfrm>
            </p:grpSpPr>
            <p:sp>
              <p:nvSpPr>
                <p:cNvPr id="11" name="矩形 10"/>
                <p:cNvSpPr/>
                <p:nvPr/>
              </p:nvSpPr>
              <p:spPr>
                <a:xfrm>
                  <a:off x="6627047" y="3027756"/>
                  <a:ext cx="216024" cy="169239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latin typeface="+mj-lt"/>
                  </a:endParaRPr>
                </a:p>
              </p:txBody>
            </p:sp>
            <p:cxnSp>
              <p:nvCxnSpPr>
                <p:cNvPr id="12" name="直接连接符 11"/>
                <p:cNvCxnSpPr/>
                <p:nvPr/>
              </p:nvCxnSpPr>
              <p:spPr>
                <a:xfrm>
                  <a:off x="6627047" y="3243781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直接连接符 12"/>
                <p:cNvCxnSpPr/>
                <p:nvPr/>
              </p:nvCxnSpPr>
              <p:spPr>
                <a:xfrm>
                  <a:off x="6628944" y="3457647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接连接符 13"/>
                <p:cNvCxnSpPr/>
                <p:nvPr/>
              </p:nvCxnSpPr>
              <p:spPr>
                <a:xfrm>
                  <a:off x="6627047" y="3675829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接连接符 14"/>
                <p:cNvCxnSpPr/>
                <p:nvPr/>
              </p:nvCxnSpPr>
              <p:spPr>
                <a:xfrm>
                  <a:off x="6627047" y="3893154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直接连接符 15"/>
                <p:cNvCxnSpPr/>
                <p:nvPr/>
              </p:nvCxnSpPr>
              <p:spPr>
                <a:xfrm>
                  <a:off x="6627047" y="4116126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/>
                <p:cNvCxnSpPr/>
                <p:nvPr/>
              </p:nvCxnSpPr>
              <p:spPr>
                <a:xfrm>
                  <a:off x="6627047" y="4323901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直接连接符 17"/>
                <p:cNvCxnSpPr/>
                <p:nvPr/>
              </p:nvCxnSpPr>
              <p:spPr>
                <a:xfrm>
                  <a:off x="6627047" y="4539925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" name="文本框 8"/>
              <p:cNvSpPr txBox="1"/>
              <p:nvPr/>
            </p:nvSpPr>
            <p:spPr>
              <a:xfrm>
                <a:off x="8335333" y="2821577"/>
                <a:ext cx="445956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 err="1">
                    <a:latin typeface="+mj-lt"/>
                  </a:rPr>
                  <a:t>tmp</a:t>
                </a:r>
                <a:endParaRPr lang="zh-CN" altLang="en-US" sz="1200" dirty="0">
                  <a:latin typeface="+mj-lt"/>
                </a:endParaRPr>
              </a:p>
            </p:txBody>
          </p:sp>
          <p:cxnSp>
            <p:nvCxnSpPr>
              <p:cNvPr id="10" name="直接箭头连接符 9"/>
              <p:cNvCxnSpPr/>
              <p:nvPr/>
            </p:nvCxnSpPr>
            <p:spPr>
              <a:xfrm flipH="1">
                <a:off x="8030281" y="3078356"/>
                <a:ext cx="508685" cy="48723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文本框 29"/>
            <p:cNvSpPr txBox="1"/>
            <p:nvPr/>
          </p:nvSpPr>
          <p:spPr>
            <a:xfrm>
              <a:off x="4236217" y="3512315"/>
              <a:ext cx="2487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>
                  <a:solidFill>
                    <a:srgbClr val="C00000"/>
                  </a:solidFill>
                  <a:latin typeface="+mj-lt"/>
                </a:rPr>
                <a:t>S</a:t>
              </a:r>
              <a:endParaRPr lang="zh-CN" altLang="en-US" sz="1100" dirty="0">
                <a:solidFill>
                  <a:srgbClr val="C00000"/>
                </a:solidFill>
                <a:latin typeface="+mj-lt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4250135" y="3734690"/>
              <a:ext cx="21993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>
                  <a:solidFill>
                    <a:srgbClr val="C00000"/>
                  </a:solidFill>
                  <a:latin typeface="+mj-lt"/>
                </a:rPr>
                <a:t>I</a:t>
              </a:r>
              <a:endParaRPr lang="zh-CN" altLang="en-US" sz="1100" dirty="0">
                <a:solidFill>
                  <a:srgbClr val="C00000"/>
                </a:solidFill>
                <a:latin typeface="+mj-lt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4235708" y="3950713"/>
              <a:ext cx="2487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>
                  <a:solidFill>
                    <a:srgbClr val="C00000"/>
                  </a:solidFill>
                  <a:latin typeface="+mj-lt"/>
                </a:rPr>
                <a:t>S</a:t>
              </a:r>
              <a:endParaRPr lang="zh-CN" altLang="en-US" sz="1100" dirty="0">
                <a:solidFill>
                  <a:srgbClr val="C00000"/>
                </a:solidFill>
                <a:latin typeface="+mj-lt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4239710" y="4163915"/>
              <a:ext cx="25359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>
                  <a:solidFill>
                    <a:srgbClr val="C00000"/>
                  </a:solidFill>
                  <a:latin typeface="+mj-lt"/>
                </a:rPr>
                <a:t>T</a:t>
              </a:r>
              <a:endParaRPr lang="zh-CN" altLang="en-US" sz="1100" dirty="0">
                <a:solidFill>
                  <a:srgbClr val="C00000"/>
                </a:solidFill>
                <a:latin typeface="+mj-lt"/>
              </a:endParaRPr>
            </a:p>
          </p:txBody>
        </p:sp>
        <p:cxnSp>
          <p:nvCxnSpPr>
            <p:cNvPr id="36" name="直接箭头连接符 35"/>
            <p:cNvCxnSpPr>
              <a:stCxn id="24" idx="3"/>
              <a:endCxn id="30" idx="1"/>
            </p:cNvCxnSpPr>
            <p:nvPr/>
          </p:nvCxnSpPr>
          <p:spPr>
            <a:xfrm>
              <a:off x="3635632" y="3637599"/>
              <a:ext cx="600585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/>
            <p:cNvCxnSpPr/>
            <p:nvPr/>
          </p:nvCxnSpPr>
          <p:spPr>
            <a:xfrm>
              <a:off x="3641505" y="3861048"/>
              <a:ext cx="600585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箭头连接符 40"/>
            <p:cNvCxnSpPr/>
            <p:nvPr/>
          </p:nvCxnSpPr>
          <p:spPr>
            <a:xfrm>
              <a:off x="3649550" y="4077072"/>
              <a:ext cx="600585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箭头连接符 41"/>
            <p:cNvCxnSpPr/>
            <p:nvPr/>
          </p:nvCxnSpPr>
          <p:spPr>
            <a:xfrm>
              <a:off x="3641505" y="4289199"/>
              <a:ext cx="600585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Array Capacity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939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The memory for the original array must be deallocated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508104" y="2603041"/>
            <a:ext cx="2952328" cy="2520280"/>
            <a:chOff x="5508104" y="2603041"/>
            <a:chExt cx="2952328" cy="2520280"/>
          </a:xfrm>
        </p:grpSpPr>
        <p:grpSp>
          <p:nvGrpSpPr>
            <p:cNvPr id="6" name="组合 5"/>
            <p:cNvGrpSpPr/>
            <p:nvPr/>
          </p:nvGrpSpPr>
          <p:grpSpPr>
            <a:xfrm>
              <a:off x="5508104" y="2603041"/>
              <a:ext cx="2952328" cy="2520280"/>
              <a:chOff x="2267744" y="2708920"/>
              <a:chExt cx="2952328" cy="2520280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2267744" y="2708920"/>
                <a:ext cx="1394036" cy="1711084"/>
                <a:chOff x="5490412" y="2199866"/>
                <a:chExt cx="1394036" cy="1711084"/>
              </a:xfrm>
            </p:grpSpPr>
            <p:sp>
              <p:nvSpPr>
                <p:cNvPr id="28" name="矩形 27"/>
                <p:cNvSpPr/>
                <p:nvPr/>
              </p:nvSpPr>
              <p:spPr>
                <a:xfrm>
                  <a:off x="6627047" y="3027756"/>
                  <a:ext cx="216024" cy="865398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latin typeface="+mj-lt"/>
                  </a:endParaRPr>
                </a:p>
              </p:txBody>
            </p:sp>
            <p:cxnSp>
              <p:nvCxnSpPr>
                <p:cNvPr id="29" name="直接连接符 28"/>
                <p:cNvCxnSpPr/>
                <p:nvPr/>
              </p:nvCxnSpPr>
              <p:spPr>
                <a:xfrm>
                  <a:off x="6627047" y="3243781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接连接符 29"/>
                <p:cNvCxnSpPr/>
                <p:nvPr/>
              </p:nvCxnSpPr>
              <p:spPr>
                <a:xfrm>
                  <a:off x="6628944" y="3457647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/>
                <p:cNvCxnSpPr/>
                <p:nvPr/>
              </p:nvCxnSpPr>
              <p:spPr>
                <a:xfrm>
                  <a:off x="6627047" y="3675829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直接连接符 31"/>
                <p:cNvCxnSpPr/>
                <p:nvPr/>
              </p:nvCxnSpPr>
              <p:spPr>
                <a:xfrm>
                  <a:off x="6627047" y="3893154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3" name="文本框 32"/>
                <p:cNvSpPr txBox="1"/>
                <p:nvPr/>
              </p:nvSpPr>
              <p:spPr>
                <a:xfrm>
                  <a:off x="6609514" y="2997740"/>
                  <a:ext cx="24878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dirty="0">
                      <a:latin typeface="+mj-lt"/>
                    </a:rPr>
                    <a:t>S</a:t>
                  </a:r>
                  <a:endParaRPr lang="zh-CN" altLang="en-US" sz="1100" dirty="0">
                    <a:latin typeface="+mj-lt"/>
                  </a:endParaRPr>
                </a:p>
              </p:txBody>
            </p:sp>
            <p:sp>
              <p:nvSpPr>
                <p:cNvPr id="34" name="文本框 33"/>
                <p:cNvSpPr txBox="1"/>
                <p:nvPr/>
              </p:nvSpPr>
              <p:spPr>
                <a:xfrm>
                  <a:off x="6623432" y="3220115"/>
                  <a:ext cx="219932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dirty="0">
                      <a:latin typeface="+mj-lt"/>
                    </a:rPr>
                    <a:t>I</a:t>
                  </a:r>
                  <a:endParaRPr lang="zh-CN" altLang="en-US" sz="1100" dirty="0">
                    <a:latin typeface="+mj-lt"/>
                  </a:endParaRPr>
                </a:p>
              </p:txBody>
            </p:sp>
            <p:sp>
              <p:nvSpPr>
                <p:cNvPr id="35" name="文本框 34"/>
                <p:cNvSpPr txBox="1"/>
                <p:nvPr/>
              </p:nvSpPr>
              <p:spPr>
                <a:xfrm>
                  <a:off x="6609005" y="3436138"/>
                  <a:ext cx="24878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dirty="0">
                      <a:latin typeface="+mj-lt"/>
                    </a:rPr>
                    <a:t>S</a:t>
                  </a:r>
                  <a:endParaRPr lang="zh-CN" altLang="en-US" sz="1100" dirty="0">
                    <a:latin typeface="+mj-lt"/>
                  </a:endParaRPr>
                </a:p>
              </p:txBody>
            </p:sp>
            <p:sp>
              <p:nvSpPr>
                <p:cNvPr id="36" name="文本框 35"/>
                <p:cNvSpPr txBox="1"/>
                <p:nvPr/>
              </p:nvSpPr>
              <p:spPr>
                <a:xfrm>
                  <a:off x="6613007" y="3649340"/>
                  <a:ext cx="25359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dirty="0">
                      <a:latin typeface="+mj-lt"/>
                    </a:rPr>
                    <a:t>T</a:t>
                  </a:r>
                  <a:endParaRPr lang="zh-CN" altLang="en-US" sz="1100" dirty="0">
                    <a:latin typeface="+mj-lt"/>
                  </a:endParaRPr>
                </a:p>
              </p:txBody>
            </p:sp>
            <p:sp>
              <p:nvSpPr>
                <p:cNvPr id="37" name="文本框 36"/>
                <p:cNvSpPr txBox="1"/>
                <p:nvPr/>
              </p:nvSpPr>
              <p:spPr>
                <a:xfrm>
                  <a:off x="5490412" y="2199866"/>
                  <a:ext cx="1394036" cy="6463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>
                      <a:latin typeface="+mj-lt"/>
                    </a:rPr>
                    <a:t>count == 4</a:t>
                  </a:r>
                  <a:endParaRPr lang="en-US" altLang="zh-CN" sz="1200" dirty="0">
                    <a:latin typeface="+mj-lt"/>
                  </a:endParaRPr>
                </a:p>
                <a:p>
                  <a:r>
                    <a:rPr lang="en-US" altLang="zh-CN" sz="1200" dirty="0" err="1">
                      <a:latin typeface="+mj-lt"/>
                    </a:rPr>
                    <a:t>array_capacity</a:t>
                  </a:r>
                  <a:r>
                    <a:rPr lang="en-US" altLang="zh-CN" sz="1200" dirty="0">
                      <a:latin typeface="+mj-lt"/>
                    </a:rPr>
                    <a:t> == 4</a:t>
                  </a:r>
                  <a:endParaRPr lang="en-US" altLang="zh-CN" sz="1200" dirty="0">
                    <a:latin typeface="+mj-lt"/>
                  </a:endParaRPr>
                </a:p>
                <a:p>
                  <a:r>
                    <a:rPr lang="en-US" altLang="zh-CN" sz="1200" dirty="0">
                      <a:latin typeface="+mj-lt"/>
                    </a:rPr>
                    <a:t>array</a:t>
                  </a:r>
                  <a:endParaRPr lang="zh-CN" altLang="en-US" sz="1200" dirty="0">
                    <a:latin typeface="+mj-lt"/>
                  </a:endParaRPr>
                </a:p>
              </p:txBody>
            </p:sp>
            <p:cxnSp>
              <p:nvCxnSpPr>
                <p:cNvPr id="38" name="直接箭头连接符 37"/>
                <p:cNvCxnSpPr>
                  <a:endCxn id="33" idx="1"/>
                </p:cNvCxnSpPr>
                <p:nvPr/>
              </p:nvCxnSpPr>
              <p:spPr>
                <a:xfrm>
                  <a:off x="6065060" y="2668505"/>
                  <a:ext cx="544454" cy="46004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" name="组合 7"/>
              <p:cNvGrpSpPr/>
              <p:nvPr/>
            </p:nvGrpSpPr>
            <p:grpSpPr>
              <a:xfrm>
                <a:off x="4257555" y="2883934"/>
                <a:ext cx="962517" cy="2345266"/>
                <a:chOff x="7812360" y="2821577"/>
                <a:chExt cx="962517" cy="2345266"/>
              </a:xfrm>
            </p:grpSpPr>
            <p:grpSp>
              <p:nvGrpSpPr>
                <p:cNvPr id="17" name="组合 16"/>
                <p:cNvGrpSpPr/>
                <p:nvPr/>
              </p:nvGrpSpPr>
              <p:grpSpPr>
                <a:xfrm>
                  <a:off x="7812360" y="3474453"/>
                  <a:ext cx="217921" cy="1692390"/>
                  <a:chOff x="6627047" y="3027756"/>
                  <a:chExt cx="217921" cy="1692390"/>
                </a:xfrm>
              </p:grpSpPr>
              <p:sp>
                <p:nvSpPr>
                  <p:cNvPr id="20" name="矩形 19"/>
                  <p:cNvSpPr/>
                  <p:nvPr/>
                </p:nvSpPr>
                <p:spPr>
                  <a:xfrm>
                    <a:off x="6627047" y="3027756"/>
                    <a:ext cx="216024" cy="169239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+mj-lt"/>
                    </a:endParaRPr>
                  </a:p>
                </p:txBody>
              </p:sp>
              <p:cxnSp>
                <p:nvCxnSpPr>
                  <p:cNvPr id="21" name="直接连接符 20"/>
                  <p:cNvCxnSpPr/>
                  <p:nvPr/>
                </p:nvCxnSpPr>
                <p:spPr>
                  <a:xfrm>
                    <a:off x="6627047" y="3243781"/>
                    <a:ext cx="216024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直接连接符 21"/>
                  <p:cNvCxnSpPr/>
                  <p:nvPr/>
                </p:nvCxnSpPr>
                <p:spPr>
                  <a:xfrm>
                    <a:off x="6628944" y="3457647"/>
                    <a:ext cx="216024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直接连接符 22"/>
                  <p:cNvCxnSpPr/>
                  <p:nvPr/>
                </p:nvCxnSpPr>
                <p:spPr>
                  <a:xfrm>
                    <a:off x="6627047" y="3675829"/>
                    <a:ext cx="216024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" name="直接连接符 23"/>
                  <p:cNvCxnSpPr/>
                  <p:nvPr/>
                </p:nvCxnSpPr>
                <p:spPr>
                  <a:xfrm>
                    <a:off x="6627047" y="3893154"/>
                    <a:ext cx="216024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直接连接符 24"/>
                  <p:cNvCxnSpPr/>
                  <p:nvPr/>
                </p:nvCxnSpPr>
                <p:spPr>
                  <a:xfrm>
                    <a:off x="6627047" y="4116126"/>
                    <a:ext cx="216024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直接连接符 25"/>
                  <p:cNvCxnSpPr/>
                  <p:nvPr/>
                </p:nvCxnSpPr>
                <p:spPr>
                  <a:xfrm>
                    <a:off x="6627047" y="4323901"/>
                    <a:ext cx="216024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直接连接符 26"/>
                  <p:cNvCxnSpPr/>
                  <p:nvPr/>
                </p:nvCxnSpPr>
                <p:spPr>
                  <a:xfrm>
                    <a:off x="6627047" y="4539925"/>
                    <a:ext cx="216024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8" name="文本框 17"/>
                <p:cNvSpPr txBox="1"/>
                <p:nvPr/>
              </p:nvSpPr>
              <p:spPr>
                <a:xfrm>
                  <a:off x="8335333" y="2821577"/>
                  <a:ext cx="439544" cy="2769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 err="1">
                      <a:latin typeface="+mj-lt"/>
                    </a:rPr>
                    <a:t>tmp</a:t>
                  </a:r>
                  <a:endParaRPr lang="zh-CN" altLang="en-US" sz="1200" dirty="0">
                    <a:latin typeface="+mj-lt"/>
                  </a:endParaRPr>
                </a:p>
              </p:txBody>
            </p:sp>
            <p:cxnSp>
              <p:nvCxnSpPr>
                <p:cNvPr id="19" name="直接箭头连接符 18"/>
                <p:cNvCxnSpPr/>
                <p:nvPr/>
              </p:nvCxnSpPr>
              <p:spPr>
                <a:xfrm flipH="1">
                  <a:off x="8030281" y="3078356"/>
                  <a:ext cx="508685" cy="487235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" name="文本框 8"/>
              <p:cNvSpPr txBox="1"/>
              <p:nvPr/>
            </p:nvSpPr>
            <p:spPr>
              <a:xfrm>
                <a:off x="4236217" y="3512315"/>
                <a:ext cx="24878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00" dirty="0">
                    <a:latin typeface="+mj-lt"/>
                  </a:rPr>
                  <a:t>S</a:t>
                </a:r>
                <a:endParaRPr lang="zh-CN" altLang="en-US" sz="1100" dirty="0">
                  <a:latin typeface="+mj-lt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4250135" y="3734690"/>
                <a:ext cx="21993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00" dirty="0">
                    <a:latin typeface="+mj-lt"/>
                  </a:rPr>
                  <a:t>I</a:t>
                </a:r>
                <a:endParaRPr lang="zh-CN" altLang="en-US" sz="1100" dirty="0">
                  <a:latin typeface="+mj-lt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4235708" y="3950713"/>
                <a:ext cx="24878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00" dirty="0">
                    <a:latin typeface="+mj-lt"/>
                  </a:rPr>
                  <a:t>S</a:t>
                </a:r>
                <a:endParaRPr lang="zh-CN" altLang="en-US" sz="1100" dirty="0">
                  <a:latin typeface="+mj-lt"/>
                </a:endParaRPr>
              </a:p>
            </p:txBody>
          </p:sp>
          <p:sp>
            <p:nvSpPr>
              <p:cNvPr id="12" name="文本框 11"/>
              <p:cNvSpPr txBox="1"/>
              <p:nvPr/>
            </p:nvSpPr>
            <p:spPr>
              <a:xfrm>
                <a:off x="4239710" y="4163915"/>
                <a:ext cx="25359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00" dirty="0">
                    <a:latin typeface="+mj-lt"/>
                  </a:rPr>
                  <a:t>T</a:t>
                </a:r>
                <a:endParaRPr lang="zh-CN" altLang="en-US" sz="1100" dirty="0">
                  <a:latin typeface="+mj-lt"/>
                </a:endParaRPr>
              </a:p>
            </p:txBody>
          </p:sp>
        </p:grpSp>
        <p:sp>
          <p:nvSpPr>
            <p:cNvPr id="2" name="矩形 1"/>
            <p:cNvSpPr/>
            <p:nvPr/>
          </p:nvSpPr>
          <p:spPr>
            <a:xfrm>
              <a:off x="6622171" y="3411213"/>
              <a:ext cx="354740" cy="953891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Array Capacity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964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Finally, the appropriate member variables must be reassigned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508104" y="2603041"/>
            <a:ext cx="2952328" cy="2520280"/>
            <a:chOff x="5508104" y="2603041"/>
            <a:chExt cx="2952328" cy="2520280"/>
          </a:xfrm>
        </p:grpSpPr>
        <p:grpSp>
          <p:nvGrpSpPr>
            <p:cNvPr id="8" name="组合 7"/>
            <p:cNvGrpSpPr/>
            <p:nvPr/>
          </p:nvGrpSpPr>
          <p:grpSpPr>
            <a:xfrm>
              <a:off x="5508104" y="2603041"/>
              <a:ext cx="1968473" cy="934200"/>
              <a:chOff x="5490412" y="2199866"/>
              <a:chExt cx="1968473" cy="934200"/>
            </a:xfrm>
          </p:grpSpPr>
          <p:sp>
            <p:nvSpPr>
              <p:cNvPr id="34" name="文本框 33"/>
              <p:cNvSpPr txBox="1"/>
              <p:nvPr/>
            </p:nvSpPr>
            <p:spPr>
              <a:xfrm>
                <a:off x="5490412" y="2199866"/>
                <a:ext cx="1394036" cy="64633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>
                    <a:latin typeface="+mj-lt"/>
                  </a:rPr>
                  <a:t>count == 4</a:t>
                </a:r>
                <a:endParaRPr lang="en-US" altLang="zh-CN" sz="1200" dirty="0">
                  <a:latin typeface="+mj-lt"/>
                </a:endParaRPr>
              </a:p>
              <a:p>
                <a:r>
                  <a:rPr lang="en-US" altLang="zh-CN" sz="1200" dirty="0" err="1">
                    <a:latin typeface="+mj-lt"/>
                  </a:rPr>
                  <a:t>array_capacity</a:t>
                </a:r>
                <a:r>
                  <a:rPr lang="en-US" altLang="zh-CN" sz="1200" dirty="0">
                    <a:latin typeface="+mj-lt"/>
                  </a:rPr>
                  <a:t> == 8</a:t>
                </a:r>
                <a:endParaRPr lang="en-US" altLang="zh-CN" sz="1200" dirty="0">
                  <a:latin typeface="+mj-lt"/>
                </a:endParaRPr>
              </a:p>
              <a:p>
                <a:r>
                  <a:rPr lang="en-US" altLang="zh-CN" sz="1200" dirty="0">
                    <a:latin typeface="+mj-lt"/>
                  </a:rPr>
                  <a:t>array</a:t>
                </a:r>
                <a:endParaRPr lang="zh-CN" altLang="en-US" sz="1200" dirty="0">
                  <a:latin typeface="+mj-lt"/>
                </a:endParaRPr>
              </a:p>
            </p:txBody>
          </p:sp>
          <p:cxnSp>
            <p:nvCxnSpPr>
              <p:cNvPr id="35" name="直接箭头连接符 34"/>
              <p:cNvCxnSpPr>
                <a:endCxn id="10" idx="1"/>
              </p:cNvCxnSpPr>
              <p:nvPr/>
            </p:nvCxnSpPr>
            <p:spPr>
              <a:xfrm>
                <a:off x="6065060" y="2668505"/>
                <a:ext cx="1393825" cy="46556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/>
            <p:cNvGrpSpPr/>
            <p:nvPr/>
          </p:nvGrpSpPr>
          <p:grpSpPr>
            <a:xfrm>
              <a:off x="7497915" y="2778055"/>
              <a:ext cx="962517" cy="2345266"/>
              <a:chOff x="7812360" y="2821577"/>
              <a:chExt cx="962517" cy="2345266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7812360" y="3474453"/>
                <a:ext cx="217921" cy="1692390"/>
                <a:chOff x="6627047" y="3027756"/>
                <a:chExt cx="217921" cy="1692390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6627047" y="3027756"/>
                  <a:ext cx="216024" cy="169239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latin typeface="+mj-lt"/>
                  </a:endParaRPr>
                </a:p>
              </p:txBody>
            </p:sp>
            <p:cxnSp>
              <p:nvCxnSpPr>
                <p:cNvPr id="18" name="直接连接符 17"/>
                <p:cNvCxnSpPr/>
                <p:nvPr/>
              </p:nvCxnSpPr>
              <p:spPr>
                <a:xfrm>
                  <a:off x="6627047" y="3243781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直接连接符 18"/>
                <p:cNvCxnSpPr/>
                <p:nvPr/>
              </p:nvCxnSpPr>
              <p:spPr>
                <a:xfrm>
                  <a:off x="6628944" y="3457647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接连接符 19"/>
                <p:cNvCxnSpPr/>
                <p:nvPr/>
              </p:nvCxnSpPr>
              <p:spPr>
                <a:xfrm>
                  <a:off x="6627047" y="3675829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直接连接符 20"/>
                <p:cNvCxnSpPr/>
                <p:nvPr/>
              </p:nvCxnSpPr>
              <p:spPr>
                <a:xfrm>
                  <a:off x="6627047" y="3893154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直接连接符 21"/>
                <p:cNvCxnSpPr/>
                <p:nvPr/>
              </p:nvCxnSpPr>
              <p:spPr>
                <a:xfrm>
                  <a:off x="6627047" y="4116126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直接连接符 22"/>
                <p:cNvCxnSpPr/>
                <p:nvPr/>
              </p:nvCxnSpPr>
              <p:spPr>
                <a:xfrm>
                  <a:off x="6627047" y="4323901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/>
                <p:cNvCxnSpPr/>
                <p:nvPr/>
              </p:nvCxnSpPr>
              <p:spPr>
                <a:xfrm>
                  <a:off x="6627047" y="4539925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" name="文本框 14"/>
              <p:cNvSpPr txBox="1"/>
              <p:nvPr/>
            </p:nvSpPr>
            <p:spPr>
              <a:xfrm>
                <a:off x="8335333" y="2821577"/>
                <a:ext cx="439544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 err="1">
                    <a:latin typeface="+mj-lt"/>
                  </a:rPr>
                  <a:t>tmp</a:t>
                </a:r>
                <a:endParaRPr lang="zh-CN" altLang="en-US" sz="1200" dirty="0">
                  <a:latin typeface="+mj-lt"/>
                </a:endParaRPr>
              </a:p>
            </p:txBody>
          </p:sp>
          <p:cxnSp>
            <p:nvCxnSpPr>
              <p:cNvPr id="16" name="直接箭头连接符 15"/>
              <p:cNvCxnSpPr/>
              <p:nvPr/>
            </p:nvCxnSpPr>
            <p:spPr>
              <a:xfrm flipH="1">
                <a:off x="8030281" y="3078356"/>
                <a:ext cx="508685" cy="48723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文本框 9"/>
            <p:cNvSpPr txBox="1"/>
            <p:nvPr/>
          </p:nvSpPr>
          <p:spPr>
            <a:xfrm>
              <a:off x="7476577" y="3406436"/>
              <a:ext cx="2487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>
                  <a:latin typeface="+mj-lt"/>
                </a:rPr>
                <a:t>S</a:t>
              </a:r>
              <a:endParaRPr lang="zh-CN" altLang="en-US" sz="1100" dirty="0">
                <a:latin typeface="+mj-lt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7490495" y="3628811"/>
              <a:ext cx="21993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>
                  <a:latin typeface="+mj-lt"/>
                </a:rPr>
                <a:t>I</a:t>
              </a:r>
              <a:endParaRPr lang="zh-CN" altLang="en-US" sz="1100" dirty="0">
                <a:latin typeface="+mj-lt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7476068" y="3844834"/>
              <a:ext cx="2487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>
                  <a:latin typeface="+mj-lt"/>
                </a:rPr>
                <a:t>S</a:t>
              </a:r>
              <a:endParaRPr lang="zh-CN" altLang="en-US" sz="1100" dirty="0">
                <a:latin typeface="+mj-lt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7480070" y="4058036"/>
              <a:ext cx="25359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>
                  <a:latin typeface="+mj-lt"/>
                </a:rPr>
                <a:t>T</a:t>
              </a:r>
              <a:endParaRPr lang="zh-CN" altLang="en-US" sz="1100" dirty="0">
                <a:latin typeface="+mj-lt"/>
              </a:endParaRPr>
            </a:p>
          </p:txBody>
        </p:sp>
      </p:grpSp>
    </p:spTree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Array Capacity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988" name="Rectangle 4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The implementation: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void 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double_capacity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() {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   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}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508104" y="2603041"/>
            <a:ext cx="1394036" cy="1711084"/>
            <a:chOff x="5490412" y="2199866"/>
            <a:chExt cx="1394036" cy="1711084"/>
          </a:xfrm>
        </p:grpSpPr>
        <p:sp>
          <p:nvSpPr>
            <p:cNvPr id="6" name="矩形 5"/>
            <p:cNvSpPr/>
            <p:nvPr/>
          </p:nvSpPr>
          <p:spPr>
            <a:xfrm>
              <a:off x="6627047" y="3027756"/>
              <a:ext cx="216024" cy="86539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+mj-lt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>
              <a:off x="6627047" y="3243781"/>
              <a:ext cx="216024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6628944" y="3457647"/>
              <a:ext cx="216024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6627047" y="3675829"/>
              <a:ext cx="216024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6627047" y="3893154"/>
              <a:ext cx="216024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本框 10"/>
            <p:cNvSpPr txBox="1"/>
            <p:nvPr/>
          </p:nvSpPr>
          <p:spPr>
            <a:xfrm>
              <a:off x="6609514" y="2997740"/>
              <a:ext cx="2487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>
                  <a:latin typeface="+mj-lt"/>
                </a:rPr>
                <a:t>S</a:t>
              </a:r>
              <a:endParaRPr lang="zh-CN" altLang="en-US" sz="1100" dirty="0">
                <a:latin typeface="+mj-lt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6623432" y="3220115"/>
              <a:ext cx="21993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>
                  <a:latin typeface="+mj-lt"/>
                </a:rPr>
                <a:t>I</a:t>
              </a:r>
              <a:endParaRPr lang="zh-CN" altLang="en-US" sz="1100" dirty="0">
                <a:latin typeface="+mj-lt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6609005" y="3436138"/>
              <a:ext cx="2487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>
                  <a:latin typeface="+mj-lt"/>
                </a:rPr>
                <a:t>S</a:t>
              </a:r>
              <a:endParaRPr lang="zh-CN" altLang="en-US" sz="1100" dirty="0">
                <a:latin typeface="+mj-lt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6613007" y="3649340"/>
              <a:ext cx="25359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>
                  <a:latin typeface="+mj-lt"/>
                </a:rPr>
                <a:t>T</a:t>
              </a:r>
              <a:endParaRPr lang="zh-CN" altLang="en-US" sz="1100" dirty="0">
                <a:latin typeface="+mj-lt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5490412" y="2199866"/>
              <a:ext cx="1394036" cy="64633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latin typeface="+mj-lt"/>
                </a:rPr>
                <a:t>count == 4</a:t>
              </a:r>
              <a:endParaRPr lang="en-US" altLang="zh-CN" sz="1200" dirty="0">
                <a:latin typeface="+mj-lt"/>
              </a:endParaRPr>
            </a:p>
            <a:p>
              <a:r>
                <a:rPr lang="en-US" altLang="zh-CN" sz="1200" dirty="0" err="1">
                  <a:latin typeface="+mj-lt"/>
                </a:rPr>
                <a:t>array_capacity</a:t>
              </a:r>
              <a:r>
                <a:rPr lang="en-US" altLang="zh-CN" sz="1200" dirty="0">
                  <a:latin typeface="+mj-lt"/>
                </a:rPr>
                <a:t> == 4</a:t>
              </a:r>
              <a:endParaRPr lang="en-US" altLang="zh-CN" sz="1200" dirty="0">
                <a:latin typeface="+mj-lt"/>
              </a:endParaRPr>
            </a:p>
            <a:p>
              <a:r>
                <a:rPr lang="en-US" altLang="zh-CN" sz="1200" dirty="0">
                  <a:latin typeface="+mj-lt"/>
                </a:rPr>
                <a:t>array</a:t>
              </a:r>
              <a:endParaRPr lang="zh-CN" altLang="en-US" sz="1200" dirty="0">
                <a:latin typeface="+mj-lt"/>
              </a:endParaRPr>
            </a:p>
          </p:txBody>
        </p:sp>
        <p:cxnSp>
          <p:nvCxnSpPr>
            <p:cNvPr id="16" name="直接箭头连接符 15"/>
            <p:cNvCxnSpPr>
              <a:endCxn id="11" idx="1"/>
            </p:cNvCxnSpPr>
            <p:nvPr/>
          </p:nvCxnSpPr>
          <p:spPr>
            <a:xfrm>
              <a:off x="6065060" y="2668505"/>
              <a:ext cx="544454" cy="46004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Array Capacity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012" name="Rectangle 4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The implementation: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void 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double_capacity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() {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  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Type *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tmp_array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= new Type[2*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array_capacity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];</a:t>
            </a:r>
            <a:endParaRPr lang="en-US" sz="1600" dirty="0">
              <a:solidFill>
                <a:srgbClr val="FF00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sz="1600" dirty="0">
              <a:solidFill>
                <a:srgbClr val="FF00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   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}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5508104" y="2603041"/>
            <a:ext cx="3345448" cy="2520280"/>
            <a:chOff x="2267744" y="2708920"/>
            <a:chExt cx="3345448" cy="2520280"/>
          </a:xfrm>
        </p:grpSpPr>
        <p:grpSp>
          <p:nvGrpSpPr>
            <p:cNvPr id="7" name="组合 6"/>
            <p:cNvGrpSpPr/>
            <p:nvPr/>
          </p:nvGrpSpPr>
          <p:grpSpPr>
            <a:xfrm>
              <a:off x="2267744" y="2708920"/>
              <a:ext cx="1394036" cy="1711084"/>
              <a:chOff x="5490412" y="2199866"/>
              <a:chExt cx="1394036" cy="1711084"/>
            </a:xfrm>
          </p:grpSpPr>
          <p:sp>
            <p:nvSpPr>
              <p:cNvPr id="20" name="矩形 19"/>
              <p:cNvSpPr/>
              <p:nvPr/>
            </p:nvSpPr>
            <p:spPr>
              <a:xfrm>
                <a:off x="6627047" y="3027756"/>
                <a:ext cx="216024" cy="86539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+mj-lt"/>
                </a:endParaRPr>
              </a:p>
            </p:txBody>
          </p:sp>
          <p:cxnSp>
            <p:nvCxnSpPr>
              <p:cNvPr id="21" name="直接连接符 20"/>
              <p:cNvCxnSpPr/>
              <p:nvPr/>
            </p:nvCxnSpPr>
            <p:spPr>
              <a:xfrm>
                <a:off x="6627047" y="3243781"/>
                <a:ext cx="216024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>
                <a:off x="6628944" y="3457647"/>
                <a:ext cx="216024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/>
              <p:cNvCxnSpPr/>
              <p:nvPr/>
            </p:nvCxnSpPr>
            <p:spPr>
              <a:xfrm>
                <a:off x="6627047" y="3675829"/>
                <a:ext cx="216024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/>
              <p:cNvCxnSpPr/>
              <p:nvPr/>
            </p:nvCxnSpPr>
            <p:spPr>
              <a:xfrm>
                <a:off x="6627047" y="3893154"/>
                <a:ext cx="216024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文本框 24"/>
              <p:cNvSpPr txBox="1"/>
              <p:nvPr/>
            </p:nvSpPr>
            <p:spPr>
              <a:xfrm>
                <a:off x="6609514" y="2997740"/>
                <a:ext cx="24878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00" dirty="0">
                    <a:latin typeface="+mj-lt"/>
                  </a:rPr>
                  <a:t>S</a:t>
                </a:r>
                <a:endParaRPr lang="zh-CN" altLang="en-US" sz="1100" dirty="0">
                  <a:latin typeface="+mj-lt"/>
                </a:endParaRPr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6623432" y="3220115"/>
                <a:ext cx="21993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00" dirty="0">
                    <a:latin typeface="+mj-lt"/>
                  </a:rPr>
                  <a:t>I</a:t>
                </a:r>
                <a:endParaRPr lang="zh-CN" altLang="en-US" sz="1100" dirty="0">
                  <a:latin typeface="+mj-lt"/>
                </a:endParaRPr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6609005" y="3436138"/>
                <a:ext cx="24878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00" dirty="0">
                    <a:latin typeface="+mj-lt"/>
                  </a:rPr>
                  <a:t>S</a:t>
                </a:r>
                <a:endParaRPr lang="zh-CN" altLang="en-US" sz="1100" dirty="0">
                  <a:latin typeface="+mj-lt"/>
                </a:endParaRPr>
              </a:p>
            </p:txBody>
          </p:sp>
          <p:sp>
            <p:nvSpPr>
              <p:cNvPr id="28" name="文本框 27"/>
              <p:cNvSpPr txBox="1"/>
              <p:nvPr/>
            </p:nvSpPr>
            <p:spPr>
              <a:xfrm>
                <a:off x="6613007" y="3649340"/>
                <a:ext cx="25359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00" dirty="0">
                    <a:latin typeface="+mj-lt"/>
                  </a:rPr>
                  <a:t>T</a:t>
                </a:r>
                <a:endParaRPr lang="zh-CN" altLang="en-US" sz="1100" dirty="0">
                  <a:latin typeface="+mj-lt"/>
                </a:endParaRPr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5490412" y="2199866"/>
                <a:ext cx="1394036" cy="64633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>
                    <a:latin typeface="+mj-lt"/>
                  </a:rPr>
                  <a:t>count == 4</a:t>
                </a:r>
                <a:endParaRPr lang="en-US" altLang="zh-CN" sz="1200" dirty="0">
                  <a:latin typeface="+mj-lt"/>
                </a:endParaRPr>
              </a:p>
              <a:p>
                <a:r>
                  <a:rPr lang="en-US" altLang="zh-CN" sz="1200" dirty="0" err="1">
                    <a:latin typeface="+mj-lt"/>
                  </a:rPr>
                  <a:t>array_capacity</a:t>
                </a:r>
                <a:r>
                  <a:rPr lang="en-US" altLang="zh-CN" sz="1200" dirty="0">
                    <a:latin typeface="+mj-lt"/>
                  </a:rPr>
                  <a:t> == 4</a:t>
                </a:r>
                <a:endParaRPr lang="en-US" altLang="zh-CN" sz="1200" dirty="0">
                  <a:latin typeface="+mj-lt"/>
                </a:endParaRPr>
              </a:p>
              <a:p>
                <a:r>
                  <a:rPr lang="en-US" altLang="zh-CN" sz="1200" dirty="0">
                    <a:latin typeface="+mj-lt"/>
                  </a:rPr>
                  <a:t>array</a:t>
                </a:r>
                <a:endParaRPr lang="zh-CN" altLang="en-US" sz="1200" dirty="0">
                  <a:latin typeface="+mj-lt"/>
                </a:endParaRPr>
              </a:p>
            </p:txBody>
          </p:sp>
          <p:cxnSp>
            <p:nvCxnSpPr>
              <p:cNvPr id="30" name="直接箭头连接符 29"/>
              <p:cNvCxnSpPr>
                <a:endCxn id="25" idx="1"/>
              </p:cNvCxnSpPr>
              <p:nvPr/>
            </p:nvCxnSpPr>
            <p:spPr>
              <a:xfrm>
                <a:off x="6065060" y="2668505"/>
                <a:ext cx="544454" cy="46004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组合 7"/>
            <p:cNvGrpSpPr/>
            <p:nvPr/>
          </p:nvGrpSpPr>
          <p:grpSpPr>
            <a:xfrm>
              <a:off x="4257555" y="2883934"/>
              <a:ext cx="1355637" cy="2345266"/>
              <a:chOff x="7812360" y="2821577"/>
              <a:chExt cx="1355637" cy="2345266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7812360" y="3474453"/>
                <a:ext cx="217921" cy="1692390"/>
                <a:chOff x="6627047" y="3027756"/>
                <a:chExt cx="217921" cy="1692390"/>
              </a:xfrm>
            </p:grpSpPr>
            <p:sp>
              <p:nvSpPr>
                <p:cNvPr id="12" name="矩形 11"/>
                <p:cNvSpPr/>
                <p:nvPr/>
              </p:nvSpPr>
              <p:spPr>
                <a:xfrm>
                  <a:off x="6627047" y="3027756"/>
                  <a:ext cx="216024" cy="169239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latin typeface="+mj-lt"/>
                  </a:endParaRPr>
                </a:p>
              </p:txBody>
            </p:sp>
            <p:cxnSp>
              <p:nvCxnSpPr>
                <p:cNvPr id="13" name="直接连接符 12"/>
                <p:cNvCxnSpPr/>
                <p:nvPr/>
              </p:nvCxnSpPr>
              <p:spPr>
                <a:xfrm>
                  <a:off x="6627047" y="3243781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接连接符 13"/>
                <p:cNvCxnSpPr/>
                <p:nvPr/>
              </p:nvCxnSpPr>
              <p:spPr>
                <a:xfrm>
                  <a:off x="6628944" y="3457647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接连接符 14"/>
                <p:cNvCxnSpPr/>
                <p:nvPr/>
              </p:nvCxnSpPr>
              <p:spPr>
                <a:xfrm>
                  <a:off x="6627047" y="3675829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直接连接符 15"/>
                <p:cNvCxnSpPr/>
                <p:nvPr/>
              </p:nvCxnSpPr>
              <p:spPr>
                <a:xfrm>
                  <a:off x="6627047" y="3893154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/>
                <p:cNvCxnSpPr/>
                <p:nvPr/>
              </p:nvCxnSpPr>
              <p:spPr>
                <a:xfrm>
                  <a:off x="6627047" y="4116126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直接连接符 17"/>
                <p:cNvCxnSpPr/>
                <p:nvPr/>
              </p:nvCxnSpPr>
              <p:spPr>
                <a:xfrm>
                  <a:off x="6627047" y="4323901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直接连接符 18"/>
                <p:cNvCxnSpPr/>
                <p:nvPr/>
              </p:nvCxnSpPr>
              <p:spPr>
                <a:xfrm>
                  <a:off x="6627047" y="4539925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" name="文本框 9"/>
              <p:cNvSpPr txBox="1"/>
              <p:nvPr/>
            </p:nvSpPr>
            <p:spPr>
              <a:xfrm>
                <a:off x="8335333" y="2821577"/>
                <a:ext cx="832664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 err="1">
                    <a:solidFill>
                      <a:srgbClr val="C00000"/>
                    </a:solidFill>
                    <a:latin typeface="+mj-lt"/>
                  </a:rPr>
                  <a:t>tmp_array</a:t>
                </a:r>
                <a:endParaRPr lang="zh-CN" altLang="en-US" sz="1200" dirty="0">
                  <a:solidFill>
                    <a:srgbClr val="C00000"/>
                  </a:solidFill>
                  <a:latin typeface="+mj-lt"/>
                </a:endParaRPr>
              </a:p>
            </p:txBody>
          </p:sp>
          <p:cxnSp>
            <p:nvCxnSpPr>
              <p:cNvPr id="11" name="直接箭头连接符 10"/>
              <p:cNvCxnSpPr/>
              <p:nvPr/>
            </p:nvCxnSpPr>
            <p:spPr>
              <a:xfrm flipH="1">
                <a:off x="8030281" y="3078356"/>
                <a:ext cx="508685" cy="48723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Array Capacity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036" name="Rectangle 4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The implementation: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void 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double_capacity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() {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   Type *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tmp_array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= new Type[2*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array_capacity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];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  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for (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int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= 0;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&lt;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array_capacity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; ++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) {</a:t>
            </a:r>
            <a:endParaRPr lang="en-US" sz="1600" dirty="0">
              <a:solidFill>
                <a:srgbClr val="FF00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    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tmp_array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[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] = array[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];</a:t>
            </a:r>
            <a:endParaRPr lang="en-US" sz="1600" dirty="0">
              <a:solidFill>
                <a:srgbClr val="FF00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 }</a:t>
            </a:r>
            <a:endParaRPr lang="en-US" sz="1600" dirty="0">
              <a:solidFill>
                <a:srgbClr val="FF00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sz="1600" dirty="0">
              <a:solidFill>
                <a:srgbClr val="FF00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   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}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5724128" y="3356992"/>
            <a:ext cx="3359939" cy="2520280"/>
            <a:chOff x="2267744" y="2708920"/>
            <a:chExt cx="3359939" cy="2520280"/>
          </a:xfrm>
        </p:grpSpPr>
        <p:grpSp>
          <p:nvGrpSpPr>
            <p:cNvPr id="8" name="组合 7"/>
            <p:cNvGrpSpPr/>
            <p:nvPr/>
          </p:nvGrpSpPr>
          <p:grpSpPr>
            <a:xfrm>
              <a:off x="2267744" y="2708920"/>
              <a:ext cx="1394036" cy="1711084"/>
              <a:chOff x="5490412" y="2199866"/>
              <a:chExt cx="1394036" cy="1711084"/>
            </a:xfrm>
          </p:grpSpPr>
          <p:sp>
            <p:nvSpPr>
              <p:cNvPr id="29" name="矩形 28"/>
              <p:cNvSpPr/>
              <p:nvPr/>
            </p:nvSpPr>
            <p:spPr>
              <a:xfrm>
                <a:off x="6627047" y="3027756"/>
                <a:ext cx="216024" cy="86539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+mj-lt"/>
                </a:endParaRPr>
              </a:p>
            </p:txBody>
          </p:sp>
          <p:cxnSp>
            <p:nvCxnSpPr>
              <p:cNvPr id="30" name="直接连接符 29"/>
              <p:cNvCxnSpPr/>
              <p:nvPr/>
            </p:nvCxnSpPr>
            <p:spPr>
              <a:xfrm>
                <a:off x="6627047" y="3243781"/>
                <a:ext cx="216024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/>
              <p:cNvCxnSpPr/>
              <p:nvPr/>
            </p:nvCxnSpPr>
            <p:spPr>
              <a:xfrm>
                <a:off x="6628944" y="3457647"/>
                <a:ext cx="216024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/>
            </p:nvCxnSpPr>
            <p:spPr>
              <a:xfrm>
                <a:off x="6627047" y="3675829"/>
                <a:ext cx="216024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>
              <a:xfrm>
                <a:off x="6627047" y="3893154"/>
                <a:ext cx="216024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文本框 33"/>
              <p:cNvSpPr txBox="1"/>
              <p:nvPr/>
            </p:nvSpPr>
            <p:spPr>
              <a:xfrm>
                <a:off x="6609514" y="2997740"/>
                <a:ext cx="24878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00" dirty="0">
                    <a:latin typeface="+mj-lt"/>
                  </a:rPr>
                  <a:t>S</a:t>
                </a:r>
                <a:endParaRPr lang="zh-CN" altLang="en-US" sz="1100" dirty="0">
                  <a:latin typeface="+mj-lt"/>
                </a:endParaRPr>
              </a:p>
            </p:txBody>
          </p:sp>
          <p:sp>
            <p:nvSpPr>
              <p:cNvPr id="35" name="文本框 34"/>
              <p:cNvSpPr txBox="1"/>
              <p:nvPr/>
            </p:nvSpPr>
            <p:spPr>
              <a:xfrm>
                <a:off x="6623432" y="3220115"/>
                <a:ext cx="21993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00" dirty="0">
                    <a:latin typeface="+mj-lt"/>
                  </a:rPr>
                  <a:t>I</a:t>
                </a:r>
                <a:endParaRPr lang="zh-CN" altLang="en-US" sz="1100" dirty="0">
                  <a:latin typeface="+mj-lt"/>
                </a:endParaRPr>
              </a:p>
            </p:txBody>
          </p:sp>
          <p:sp>
            <p:nvSpPr>
              <p:cNvPr id="36" name="文本框 35"/>
              <p:cNvSpPr txBox="1"/>
              <p:nvPr/>
            </p:nvSpPr>
            <p:spPr>
              <a:xfrm>
                <a:off x="6609005" y="3436138"/>
                <a:ext cx="24878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00" dirty="0">
                    <a:latin typeface="+mj-lt"/>
                  </a:rPr>
                  <a:t>S</a:t>
                </a:r>
                <a:endParaRPr lang="zh-CN" altLang="en-US" sz="1100" dirty="0">
                  <a:latin typeface="+mj-lt"/>
                </a:endParaRPr>
              </a:p>
            </p:txBody>
          </p:sp>
          <p:sp>
            <p:nvSpPr>
              <p:cNvPr id="37" name="文本框 36"/>
              <p:cNvSpPr txBox="1"/>
              <p:nvPr/>
            </p:nvSpPr>
            <p:spPr>
              <a:xfrm>
                <a:off x="6613007" y="3649340"/>
                <a:ext cx="25359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00" dirty="0">
                    <a:latin typeface="+mj-lt"/>
                  </a:rPr>
                  <a:t>T</a:t>
                </a:r>
                <a:endParaRPr lang="zh-CN" altLang="en-US" sz="1100" dirty="0">
                  <a:latin typeface="+mj-lt"/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5490412" y="2199866"/>
                <a:ext cx="1394036" cy="64633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>
                    <a:latin typeface="+mj-lt"/>
                  </a:rPr>
                  <a:t>count == 4</a:t>
                </a:r>
                <a:endParaRPr lang="en-US" altLang="zh-CN" sz="1200" dirty="0">
                  <a:latin typeface="+mj-lt"/>
                </a:endParaRPr>
              </a:p>
              <a:p>
                <a:r>
                  <a:rPr lang="en-US" altLang="zh-CN" sz="1200" dirty="0" err="1">
                    <a:latin typeface="+mj-lt"/>
                  </a:rPr>
                  <a:t>array_capacity</a:t>
                </a:r>
                <a:r>
                  <a:rPr lang="en-US" altLang="zh-CN" sz="1200" dirty="0">
                    <a:latin typeface="+mj-lt"/>
                  </a:rPr>
                  <a:t> == 4</a:t>
                </a:r>
                <a:endParaRPr lang="en-US" altLang="zh-CN" sz="1200" dirty="0">
                  <a:latin typeface="+mj-lt"/>
                </a:endParaRPr>
              </a:p>
              <a:p>
                <a:r>
                  <a:rPr lang="en-US" altLang="zh-CN" sz="1200" dirty="0">
                    <a:latin typeface="+mj-lt"/>
                  </a:rPr>
                  <a:t>array</a:t>
                </a:r>
                <a:endParaRPr lang="zh-CN" altLang="en-US" sz="1200" dirty="0">
                  <a:latin typeface="+mj-lt"/>
                </a:endParaRPr>
              </a:p>
            </p:txBody>
          </p:sp>
          <p:cxnSp>
            <p:nvCxnSpPr>
              <p:cNvPr id="39" name="直接箭头连接符 38"/>
              <p:cNvCxnSpPr>
                <a:endCxn id="34" idx="1"/>
              </p:cNvCxnSpPr>
              <p:nvPr/>
            </p:nvCxnSpPr>
            <p:spPr>
              <a:xfrm>
                <a:off x="6065060" y="2668505"/>
                <a:ext cx="544454" cy="46004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/>
            <p:cNvGrpSpPr/>
            <p:nvPr/>
          </p:nvGrpSpPr>
          <p:grpSpPr>
            <a:xfrm>
              <a:off x="4257555" y="2883934"/>
              <a:ext cx="1370128" cy="2345266"/>
              <a:chOff x="7812360" y="2821577"/>
              <a:chExt cx="1370128" cy="2345266"/>
            </a:xfrm>
          </p:grpSpPr>
          <p:grpSp>
            <p:nvGrpSpPr>
              <p:cNvPr id="18" name="组合 17"/>
              <p:cNvGrpSpPr/>
              <p:nvPr/>
            </p:nvGrpSpPr>
            <p:grpSpPr>
              <a:xfrm>
                <a:off x="7812360" y="3474453"/>
                <a:ext cx="217921" cy="1692390"/>
                <a:chOff x="6627047" y="3027756"/>
                <a:chExt cx="217921" cy="1692390"/>
              </a:xfrm>
            </p:grpSpPr>
            <p:sp>
              <p:nvSpPr>
                <p:cNvPr id="21" name="矩形 20"/>
                <p:cNvSpPr/>
                <p:nvPr/>
              </p:nvSpPr>
              <p:spPr>
                <a:xfrm>
                  <a:off x="6627047" y="3027756"/>
                  <a:ext cx="216024" cy="169239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latin typeface="+mj-lt"/>
                  </a:endParaRPr>
                </a:p>
              </p:txBody>
            </p:sp>
            <p:cxnSp>
              <p:nvCxnSpPr>
                <p:cNvPr id="22" name="直接连接符 21"/>
                <p:cNvCxnSpPr/>
                <p:nvPr/>
              </p:nvCxnSpPr>
              <p:spPr>
                <a:xfrm>
                  <a:off x="6627047" y="3243781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直接连接符 22"/>
                <p:cNvCxnSpPr/>
                <p:nvPr/>
              </p:nvCxnSpPr>
              <p:spPr>
                <a:xfrm>
                  <a:off x="6628944" y="3457647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/>
                <p:cNvCxnSpPr/>
                <p:nvPr/>
              </p:nvCxnSpPr>
              <p:spPr>
                <a:xfrm>
                  <a:off x="6627047" y="3675829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直接连接符 24"/>
                <p:cNvCxnSpPr/>
                <p:nvPr/>
              </p:nvCxnSpPr>
              <p:spPr>
                <a:xfrm>
                  <a:off x="6627047" y="3893154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接连接符 25"/>
                <p:cNvCxnSpPr/>
                <p:nvPr/>
              </p:nvCxnSpPr>
              <p:spPr>
                <a:xfrm>
                  <a:off x="6627047" y="4116126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直接连接符 26"/>
                <p:cNvCxnSpPr/>
                <p:nvPr/>
              </p:nvCxnSpPr>
              <p:spPr>
                <a:xfrm>
                  <a:off x="6627047" y="4323901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直接连接符 27"/>
                <p:cNvCxnSpPr/>
                <p:nvPr/>
              </p:nvCxnSpPr>
              <p:spPr>
                <a:xfrm>
                  <a:off x="6627047" y="4539925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9" name="文本框 18"/>
              <p:cNvSpPr txBox="1"/>
              <p:nvPr/>
            </p:nvSpPr>
            <p:spPr>
              <a:xfrm>
                <a:off x="8335333" y="2821577"/>
                <a:ext cx="847155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 err="1">
                    <a:latin typeface="+mj-lt"/>
                  </a:rPr>
                  <a:t>tmp_array</a:t>
                </a:r>
                <a:endParaRPr lang="zh-CN" altLang="en-US" sz="1200" dirty="0">
                  <a:latin typeface="+mj-lt"/>
                </a:endParaRPr>
              </a:p>
            </p:txBody>
          </p:sp>
          <p:cxnSp>
            <p:nvCxnSpPr>
              <p:cNvPr id="20" name="直接箭头连接符 19"/>
              <p:cNvCxnSpPr/>
              <p:nvPr/>
            </p:nvCxnSpPr>
            <p:spPr>
              <a:xfrm flipH="1">
                <a:off x="8030281" y="3078356"/>
                <a:ext cx="508685" cy="48723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文本框 9"/>
            <p:cNvSpPr txBox="1"/>
            <p:nvPr/>
          </p:nvSpPr>
          <p:spPr>
            <a:xfrm>
              <a:off x="4236217" y="3512315"/>
              <a:ext cx="2487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>
                  <a:solidFill>
                    <a:srgbClr val="C00000"/>
                  </a:solidFill>
                  <a:latin typeface="+mj-lt"/>
                </a:rPr>
                <a:t>S</a:t>
              </a:r>
              <a:endParaRPr lang="zh-CN" altLang="en-US" sz="1100" dirty="0">
                <a:solidFill>
                  <a:srgbClr val="C00000"/>
                </a:solidFill>
                <a:latin typeface="+mj-lt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4250135" y="3734690"/>
              <a:ext cx="21993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>
                  <a:solidFill>
                    <a:srgbClr val="C00000"/>
                  </a:solidFill>
                  <a:latin typeface="+mj-lt"/>
                </a:rPr>
                <a:t>I</a:t>
              </a:r>
              <a:endParaRPr lang="zh-CN" altLang="en-US" sz="1100" dirty="0">
                <a:solidFill>
                  <a:srgbClr val="C00000"/>
                </a:solidFill>
                <a:latin typeface="+mj-lt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4235708" y="3950713"/>
              <a:ext cx="2487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>
                  <a:solidFill>
                    <a:srgbClr val="C00000"/>
                  </a:solidFill>
                  <a:latin typeface="+mj-lt"/>
                </a:rPr>
                <a:t>S</a:t>
              </a:r>
              <a:endParaRPr lang="zh-CN" altLang="en-US" sz="1100" dirty="0">
                <a:solidFill>
                  <a:srgbClr val="C00000"/>
                </a:solidFill>
                <a:latin typeface="+mj-lt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4239710" y="4163915"/>
              <a:ext cx="25359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>
                  <a:solidFill>
                    <a:srgbClr val="C00000"/>
                  </a:solidFill>
                  <a:latin typeface="+mj-lt"/>
                </a:rPr>
                <a:t>T</a:t>
              </a:r>
              <a:endParaRPr lang="zh-CN" altLang="en-US" sz="1100" dirty="0">
                <a:solidFill>
                  <a:srgbClr val="C00000"/>
                </a:solidFill>
                <a:latin typeface="+mj-lt"/>
              </a:endParaRPr>
            </a:p>
          </p:txBody>
        </p:sp>
        <p:cxnSp>
          <p:nvCxnSpPr>
            <p:cNvPr id="14" name="直接箭头连接符 13"/>
            <p:cNvCxnSpPr>
              <a:stCxn id="34" idx="3"/>
              <a:endCxn id="10" idx="1"/>
            </p:cNvCxnSpPr>
            <p:nvPr/>
          </p:nvCxnSpPr>
          <p:spPr>
            <a:xfrm>
              <a:off x="3635632" y="3637599"/>
              <a:ext cx="600585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/>
            <p:cNvCxnSpPr/>
            <p:nvPr/>
          </p:nvCxnSpPr>
          <p:spPr>
            <a:xfrm>
              <a:off x="3641505" y="3861048"/>
              <a:ext cx="600585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/>
            <p:cNvCxnSpPr/>
            <p:nvPr/>
          </p:nvCxnSpPr>
          <p:spPr>
            <a:xfrm>
              <a:off x="3649550" y="4077072"/>
              <a:ext cx="600585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/>
            <p:nvPr/>
          </p:nvCxnSpPr>
          <p:spPr>
            <a:xfrm>
              <a:off x="3641505" y="4289199"/>
              <a:ext cx="600585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Array Capacity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059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The implementation: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void 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double_capacity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() {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   Type *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tmp_array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= new Type[2*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array_capacity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];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   for ( 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i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= 0; 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i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&lt; 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array_capacity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; ++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i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) {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tmp_array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[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i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] = array[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i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];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   }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  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delete [] array;</a:t>
            </a:r>
            <a:endParaRPr lang="en-US" sz="1600" dirty="0">
              <a:solidFill>
                <a:srgbClr val="FF00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   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}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5724128" y="3356992"/>
            <a:ext cx="3359939" cy="2520280"/>
            <a:chOff x="2267744" y="2708920"/>
            <a:chExt cx="3359939" cy="2520280"/>
          </a:xfrm>
        </p:grpSpPr>
        <p:grpSp>
          <p:nvGrpSpPr>
            <p:cNvPr id="9" name="组合 8"/>
            <p:cNvGrpSpPr/>
            <p:nvPr/>
          </p:nvGrpSpPr>
          <p:grpSpPr>
            <a:xfrm>
              <a:off x="2267744" y="2708920"/>
              <a:ext cx="1394036" cy="1711084"/>
              <a:chOff x="5490412" y="2199866"/>
              <a:chExt cx="1394036" cy="1711084"/>
            </a:xfrm>
          </p:grpSpPr>
          <p:sp>
            <p:nvSpPr>
              <p:cNvPr id="30" name="矩形 29"/>
              <p:cNvSpPr/>
              <p:nvPr/>
            </p:nvSpPr>
            <p:spPr>
              <a:xfrm>
                <a:off x="6627047" y="3027756"/>
                <a:ext cx="216024" cy="86539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+mj-lt"/>
                </a:endParaRPr>
              </a:p>
            </p:txBody>
          </p:sp>
          <p:cxnSp>
            <p:nvCxnSpPr>
              <p:cNvPr id="31" name="直接连接符 30"/>
              <p:cNvCxnSpPr/>
              <p:nvPr/>
            </p:nvCxnSpPr>
            <p:spPr>
              <a:xfrm>
                <a:off x="6627047" y="3243781"/>
                <a:ext cx="216024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/>
            </p:nvCxnSpPr>
            <p:spPr>
              <a:xfrm>
                <a:off x="6628944" y="3457647"/>
                <a:ext cx="216024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>
              <a:xfrm>
                <a:off x="6627047" y="3675829"/>
                <a:ext cx="216024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>
                <a:off x="6627047" y="3893154"/>
                <a:ext cx="216024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文本框 34"/>
              <p:cNvSpPr txBox="1"/>
              <p:nvPr/>
            </p:nvSpPr>
            <p:spPr>
              <a:xfrm>
                <a:off x="6609514" y="2997740"/>
                <a:ext cx="24878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00" dirty="0">
                    <a:latin typeface="+mj-lt"/>
                  </a:rPr>
                  <a:t>S</a:t>
                </a:r>
                <a:endParaRPr lang="zh-CN" altLang="en-US" sz="1100" dirty="0">
                  <a:latin typeface="+mj-lt"/>
                </a:endParaRPr>
              </a:p>
            </p:txBody>
          </p:sp>
          <p:sp>
            <p:nvSpPr>
              <p:cNvPr id="36" name="文本框 35"/>
              <p:cNvSpPr txBox="1"/>
              <p:nvPr/>
            </p:nvSpPr>
            <p:spPr>
              <a:xfrm>
                <a:off x="6623432" y="3220115"/>
                <a:ext cx="21993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00" dirty="0">
                    <a:latin typeface="+mj-lt"/>
                  </a:rPr>
                  <a:t>I</a:t>
                </a:r>
                <a:endParaRPr lang="zh-CN" altLang="en-US" sz="1100" dirty="0">
                  <a:latin typeface="+mj-lt"/>
                </a:endParaRPr>
              </a:p>
            </p:txBody>
          </p:sp>
          <p:sp>
            <p:nvSpPr>
              <p:cNvPr id="37" name="文本框 36"/>
              <p:cNvSpPr txBox="1"/>
              <p:nvPr/>
            </p:nvSpPr>
            <p:spPr>
              <a:xfrm>
                <a:off x="6609005" y="3436138"/>
                <a:ext cx="24878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00" dirty="0">
                    <a:latin typeface="+mj-lt"/>
                  </a:rPr>
                  <a:t>S</a:t>
                </a:r>
                <a:endParaRPr lang="zh-CN" altLang="en-US" sz="1100" dirty="0">
                  <a:latin typeface="+mj-lt"/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6613007" y="3649340"/>
                <a:ext cx="25359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00" dirty="0">
                    <a:latin typeface="+mj-lt"/>
                  </a:rPr>
                  <a:t>T</a:t>
                </a:r>
                <a:endParaRPr lang="zh-CN" altLang="en-US" sz="1100" dirty="0">
                  <a:latin typeface="+mj-lt"/>
                </a:endParaRPr>
              </a:p>
            </p:txBody>
          </p:sp>
          <p:sp>
            <p:nvSpPr>
              <p:cNvPr id="39" name="文本框 38"/>
              <p:cNvSpPr txBox="1"/>
              <p:nvPr/>
            </p:nvSpPr>
            <p:spPr>
              <a:xfrm>
                <a:off x="5490412" y="2199866"/>
                <a:ext cx="1394036" cy="64633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>
                    <a:latin typeface="+mj-lt"/>
                  </a:rPr>
                  <a:t>count == 4</a:t>
                </a:r>
                <a:endParaRPr lang="en-US" altLang="zh-CN" sz="1200" dirty="0">
                  <a:latin typeface="+mj-lt"/>
                </a:endParaRPr>
              </a:p>
              <a:p>
                <a:r>
                  <a:rPr lang="en-US" altLang="zh-CN" sz="1200" dirty="0" err="1">
                    <a:latin typeface="+mj-lt"/>
                  </a:rPr>
                  <a:t>array_capacity</a:t>
                </a:r>
                <a:r>
                  <a:rPr lang="en-US" altLang="zh-CN" sz="1200" dirty="0">
                    <a:latin typeface="+mj-lt"/>
                  </a:rPr>
                  <a:t> == 4</a:t>
                </a:r>
                <a:endParaRPr lang="en-US" altLang="zh-CN" sz="1200" dirty="0">
                  <a:latin typeface="+mj-lt"/>
                </a:endParaRPr>
              </a:p>
              <a:p>
                <a:r>
                  <a:rPr lang="en-US" altLang="zh-CN" sz="1200" dirty="0">
                    <a:latin typeface="+mj-lt"/>
                  </a:rPr>
                  <a:t>array</a:t>
                </a:r>
                <a:endParaRPr lang="zh-CN" altLang="en-US" sz="1200" dirty="0">
                  <a:latin typeface="+mj-lt"/>
                </a:endParaRPr>
              </a:p>
            </p:txBody>
          </p:sp>
          <p:cxnSp>
            <p:nvCxnSpPr>
              <p:cNvPr id="40" name="直接箭头连接符 39"/>
              <p:cNvCxnSpPr>
                <a:endCxn id="35" idx="1"/>
              </p:cNvCxnSpPr>
              <p:nvPr/>
            </p:nvCxnSpPr>
            <p:spPr>
              <a:xfrm>
                <a:off x="6065060" y="2668505"/>
                <a:ext cx="544454" cy="46004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组合 9"/>
            <p:cNvGrpSpPr/>
            <p:nvPr/>
          </p:nvGrpSpPr>
          <p:grpSpPr>
            <a:xfrm>
              <a:off x="4257555" y="2883934"/>
              <a:ext cx="1370128" cy="2345266"/>
              <a:chOff x="7812360" y="2821577"/>
              <a:chExt cx="1370128" cy="2345266"/>
            </a:xfrm>
          </p:grpSpPr>
          <p:grpSp>
            <p:nvGrpSpPr>
              <p:cNvPr id="19" name="组合 18"/>
              <p:cNvGrpSpPr/>
              <p:nvPr/>
            </p:nvGrpSpPr>
            <p:grpSpPr>
              <a:xfrm>
                <a:off x="7812360" y="3474453"/>
                <a:ext cx="217921" cy="1692390"/>
                <a:chOff x="6627047" y="3027756"/>
                <a:chExt cx="217921" cy="1692390"/>
              </a:xfrm>
            </p:grpSpPr>
            <p:sp>
              <p:nvSpPr>
                <p:cNvPr id="22" name="矩形 21"/>
                <p:cNvSpPr/>
                <p:nvPr/>
              </p:nvSpPr>
              <p:spPr>
                <a:xfrm>
                  <a:off x="6627047" y="3027756"/>
                  <a:ext cx="216024" cy="169239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latin typeface="+mj-lt"/>
                  </a:endParaRPr>
                </a:p>
              </p:txBody>
            </p:sp>
            <p:cxnSp>
              <p:nvCxnSpPr>
                <p:cNvPr id="23" name="直接连接符 22"/>
                <p:cNvCxnSpPr/>
                <p:nvPr/>
              </p:nvCxnSpPr>
              <p:spPr>
                <a:xfrm>
                  <a:off x="6627047" y="3243781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/>
                <p:cNvCxnSpPr/>
                <p:nvPr/>
              </p:nvCxnSpPr>
              <p:spPr>
                <a:xfrm>
                  <a:off x="6628944" y="3457647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直接连接符 24"/>
                <p:cNvCxnSpPr/>
                <p:nvPr/>
              </p:nvCxnSpPr>
              <p:spPr>
                <a:xfrm>
                  <a:off x="6627047" y="3675829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接连接符 25"/>
                <p:cNvCxnSpPr/>
                <p:nvPr/>
              </p:nvCxnSpPr>
              <p:spPr>
                <a:xfrm>
                  <a:off x="6627047" y="3893154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直接连接符 26"/>
                <p:cNvCxnSpPr/>
                <p:nvPr/>
              </p:nvCxnSpPr>
              <p:spPr>
                <a:xfrm>
                  <a:off x="6627047" y="4116126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直接连接符 27"/>
                <p:cNvCxnSpPr/>
                <p:nvPr/>
              </p:nvCxnSpPr>
              <p:spPr>
                <a:xfrm>
                  <a:off x="6627047" y="4323901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接连接符 28"/>
                <p:cNvCxnSpPr/>
                <p:nvPr/>
              </p:nvCxnSpPr>
              <p:spPr>
                <a:xfrm>
                  <a:off x="6627047" y="4539925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" name="文本框 19"/>
              <p:cNvSpPr txBox="1"/>
              <p:nvPr/>
            </p:nvSpPr>
            <p:spPr>
              <a:xfrm>
                <a:off x="8335333" y="2821577"/>
                <a:ext cx="847155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 err="1">
                    <a:latin typeface="+mj-lt"/>
                  </a:rPr>
                  <a:t>tmp_array</a:t>
                </a:r>
                <a:endParaRPr lang="zh-CN" altLang="en-US" sz="1200" dirty="0">
                  <a:latin typeface="+mj-lt"/>
                </a:endParaRPr>
              </a:p>
            </p:txBody>
          </p:sp>
          <p:cxnSp>
            <p:nvCxnSpPr>
              <p:cNvPr id="21" name="直接箭头连接符 20"/>
              <p:cNvCxnSpPr/>
              <p:nvPr/>
            </p:nvCxnSpPr>
            <p:spPr>
              <a:xfrm flipH="1">
                <a:off x="8030281" y="3078356"/>
                <a:ext cx="508685" cy="48723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文本框 10"/>
            <p:cNvSpPr txBox="1"/>
            <p:nvPr/>
          </p:nvSpPr>
          <p:spPr>
            <a:xfrm>
              <a:off x="4236217" y="3512315"/>
              <a:ext cx="2487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>
                  <a:solidFill>
                    <a:srgbClr val="C00000"/>
                  </a:solidFill>
                  <a:latin typeface="+mj-lt"/>
                </a:rPr>
                <a:t>S</a:t>
              </a:r>
              <a:endParaRPr lang="zh-CN" altLang="en-US" sz="1100" dirty="0">
                <a:solidFill>
                  <a:srgbClr val="C00000"/>
                </a:solidFill>
                <a:latin typeface="+mj-lt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4250135" y="3734690"/>
              <a:ext cx="21993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>
                  <a:solidFill>
                    <a:srgbClr val="C00000"/>
                  </a:solidFill>
                  <a:latin typeface="+mj-lt"/>
                </a:rPr>
                <a:t>I</a:t>
              </a:r>
              <a:endParaRPr lang="zh-CN" altLang="en-US" sz="1100" dirty="0">
                <a:solidFill>
                  <a:srgbClr val="C00000"/>
                </a:solidFill>
                <a:latin typeface="+mj-lt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4235708" y="3950713"/>
              <a:ext cx="2487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>
                  <a:solidFill>
                    <a:srgbClr val="C00000"/>
                  </a:solidFill>
                  <a:latin typeface="+mj-lt"/>
                </a:rPr>
                <a:t>S</a:t>
              </a:r>
              <a:endParaRPr lang="zh-CN" altLang="en-US" sz="1100" dirty="0">
                <a:solidFill>
                  <a:srgbClr val="C00000"/>
                </a:solidFill>
                <a:latin typeface="+mj-lt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4239710" y="4163915"/>
              <a:ext cx="25359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>
                  <a:solidFill>
                    <a:srgbClr val="C00000"/>
                  </a:solidFill>
                  <a:latin typeface="+mj-lt"/>
                </a:rPr>
                <a:t>T</a:t>
              </a:r>
              <a:endParaRPr lang="zh-CN" altLang="en-US" sz="1100" dirty="0">
                <a:solidFill>
                  <a:srgbClr val="C00000"/>
                </a:solidFill>
                <a:latin typeface="+mj-lt"/>
              </a:endParaRPr>
            </a:p>
          </p:txBody>
        </p:sp>
      </p:grpSp>
      <p:sp>
        <p:nvSpPr>
          <p:cNvPr id="41" name="矩形 40"/>
          <p:cNvSpPr/>
          <p:nvPr/>
        </p:nvSpPr>
        <p:spPr>
          <a:xfrm>
            <a:off x="6851850" y="4161905"/>
            <a:ext cx="354740" cy="953891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Array Capacity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084" name="Rectangle 4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The implementation: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void 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double_capacity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() {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   Type *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tmp_array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= new Type[2*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array_capacity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];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   for ( 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i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= 0; 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i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&lt; 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array_capacity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; ++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i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) {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tmp_array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[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i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] = array[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i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];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   }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   delete [] array;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  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array =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tmp_array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  <a:endParaRPr lang="en-US" sz="1600" dirty="0">
              <a:solidFill>
                <a:srgbClr val="FF00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sz="1600" dirty="0">
              <a:solidFill>
                <a:srgbClr val="FF00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 </a:t>
            </a:r>
            <a:endParaRPr lang="en-US" sz="1600" dirty="0">
              <a:solidFill>
                <a:srgbClr val="FF00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}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724128" y="3573016"/>
            <a:ext cx="2952328" cy="2520280"/>
            <a:chOff x="5508104" y="2603041"/>
            <a:chExt cx="2952328" cy="2520280"/>
          </a:xfrm>
        </p:grpSpPr>
        <p:grpSp>
          <p:nvGrpSpPr>
            <p:cNvPr id="9" name="组合 8"/>
            <p:cNvGrpSpPr/>
            <p:nvPr/>
          </p:nvGrpSpPr>
          <p:grpSpPr>
            <a:xfrm>
              <a:off x="5508104" y="2603041"/>
              <a:ext cx="1968473" cy="934200"/>
              <a:chOff x="5490412" y="2199866"/>
              <a:chExt cx="1968473" cy="934200"/>
            </a:xfrm>
          </p:grpSpPr>
          <p:sp>
            <p:nvSpPr>
              <p:cNvPr id="26" name="文本框 25"/>
              <p:cNvSpPr txBox="1"/>
              <p:nvPr/>
            </p:nvSpPr>
            <p:spPr>
              <a:xfrm>
                <a:off x="5490412" y="2199866"/>
                <a:ext cx="1394036" cy="64633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>
                    <a:latin typeface="+mj-lt"/>
                  </a:rPr>
                  <a:t>count == 4</a:t>
                </a:r>
                <a:endParaRPr lang="en-US" altLang="zh-CN" sz="1200" dirty="0">
                  <a:latin typeface="+mj-lt"/>
                </a:endParaRPr>
              </a:p>
              <a:p>
                <a:r>
                  <a:rPr lang="en-US" altLang="zh-CN" sz="1200" dirty="0" err="1">
                    <a:latin typeface="+mj-lt"/>
                  </a:rPr>
                  <a:t>array_capacity</a:t>
                </a:r>
                <a:r>
                  <a:rPr lang="en-US" altLang="zh-CN" sz="1200" dirty="0">
                    <a:latin typeface="+mj-lt"/>
                  </a:rPr>
                  <a:t> == 8</a:t>
                </a:r>
                <a:endParaRPr lang="en-US" altLang="zh-CN" sz="1200" dirty="0">
                  <a:latin typeface="+mj-lt"/>
                </a:endParaRPr>
              </a:p>
              <a:p>
                <a:r>
                  <a:rPr lang="en-US" altLang="zh-CN" sz="1200" dirty="0">
                    <a:latin typeface="+mj-lt"/>
                  </a:rPr>
                  <a:t>array</a:t>
                </a:r>
                <a:endParaRPr lang="zh-CN" altLang="en-US" sz="1200" dirty="0">
                  <a:latin typeface="+mj-lt"/>
                </a:endParaRPr>
              </a:p>
            </p:txBody>
          </p:sp>
          <p:cxnSp>
            <p:nvCxnSpPr>
              <p:cNvPr id="27" name="直接箭头连接符 26"/>
              <p:cNvCxnSpPr>
                <a:endCxn id="11" idx="1"/>
              </p:cNvCxnSpPr>
              <p:nvPr/>
            </p:nvCxnSpPr>
            <p:spPr>
              <a:xfrm>
                <a:off x="6065060" y="2668505"/>
                <a:ext cx="1393825" cy="46556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组合 9"/>
            <p:cNvGrpSpPr/>
            <p:nvPr/>
          </p:nvGrpSpPr>
          <p:grpSpPr>
            <a:xfrm>
              <a:off x="7497915" y="2778055"/>
              <a:ext cx="962517" cy="2345266"/>
              <a:chOff x="7812360" y="2821577"/>
              <a:chExt cx="962517" cy="2345266"/>
            </a:xfrm>
          </p:grpSpPr>
          <p:grpSp>
            <p:nvGrpSpPr>
              <p:cNvPr id="15" name="组合 14"/>
              <p:cNvGrpSpPr/>
              <p:nvPr/>
            </p:nvGrpSpPr>
            <p:grpSpPr>
              <a:xfrm>
                <a:off x="7812360" y="3474453"/>
                <a:ext cx="217921" cy="1692390"/>
                <a:chOff x="6627047" y="3027756"/>
                <a:chExt cx="217921" cy="1692390"/>
              </a:xfrm>
            </p:grpSpPr>
            <p:sp>
              <p:nvSpPr>
                <p:cNvPr id="18" name="矩形 17"/>
                <p:cNvSpPr/>
                <p:nvPr/>
              </p:nvSpPr>
              <p:spPr>
                <a:xfrm>
                  <a:off x="6627047" y="3027756"/>
                  <a:ext cx="216024" cy="169239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latin typeface="+mj-lt"/>
                  </a:endParaRPr>
                </a:p>
              </p:txBody>
            </p:sp>
            <p:cxnSp>
              <p:nvCxnSpPr>
                <p:cNvPr id="19" name="直接连接符 18"/>
                <p:cNvCxnSpPr/>
                <p:nvPr/>
              </p:nvCxnSpPr>
              <p:spPr>
                <a:xfrm>
                  <a:off x="6627047" y="3243781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接连接符 19"/>
                <p:cNvCxnSpPr/>
                <p:nvPr/>
              </p:nvCxnSpPr>
              <p:spPr>
                <a:xfrm>
                  <a:off x="6628944" y="3457647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直接连接符 20"/>
                <p:cNvCxnSpPr/>
                <p:nvPr/>
              </p:nvCxnSpPr>
              <p:spPr>
                <a:xfrm>
                  <a:off x="6627047" y="3675829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直接连接符 21"/>
                <p:cNvCxnSpPr/>
                <p:nvPr/>
              </p:nvCxnSpPr>
              <p:spPr>
                <a:xfrm>
                  <a:off x="6627047" y="3893154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直接连接符 22"/>
                <p:cNvCxnSpPr/>
                <p:nvPr/>
              </p:nvCxnSpPr>
              <p:spPr>
                <a:xfrm>
                  <a:off x="6627047" y="4116126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/>
                <p:cNvCxnSpPr/>
                <p:nvPr/>
              </p:nvCxnSpPr>
              <p:spPr>
                <a:xfrm>
                  <a:off x="6627047" y="4323901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直接连接符 24"/>
                <p:cNvCxnSpPr/>
                <p:nvPr/>
              </p:nvCxnSpPr>
              <p:spPr>
                <a:xfrm>
                  <a:off x="6627047" y="4539925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" name="文本框 15"/>
              <p:cNvSpPr txBox="1"/>
              <p:nvPr/>
            </p:nvSpPr>
            <p:spPr>
              <a:xfrm>
                <a:off x="8335333" y="2821577"/>
                <a:ext cx="439544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 err="1">
                    <a:latin typeface="+mj-lt"/>
                  </a:rPr>
                  <a:t>tmp</a:t>
                </a:r>
                <a:endParaRPr lang="zh-CN" altLang="en-US" sz="1200" dirty="0">
                  <a:latin typeface="+mj-lt"/>
                </a:endParaRPr>
              </a:p>
            </p:txBody>
          </p:sp>
          <p:cxnSp>
            <p:nvCxnSpPr>
              <p:cNvPr id="17" name="直接箭头连接符 16"/>
              <p:cNvCxnSpPr/>
              <p:nvPr/>
            </p:nvCxnSpPr>
            <p:spPr>
              <a:xfrm flipH="1">
                <a:off x="8030281" y="3078356"/>
                <a:ext cx="508685" cy="48723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文本框 10"/>
            <p:cNvSpPr txBox="1"/>
            <p:nvPr/>
          </p:nvSpPr>
          <p:spPr>
            <a:xfrm>
              <a:off x="7476577" y="3406436"/>
              <a:ext cx="2487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>
                  <a:latin typeface="+mj-lt"/>
                </a:rPr>
                <a:t>S</a:t>
              </a:r>
              <a:endParaRPr lang="zh-CN" altLang="en-US" sz="1100" dirty="0">
                <a:latin typeface="+mj-lt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7490495" y="3628811"/>
              <a:ext cx="21993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>
                  <a:latin typeface="+mj-lt"/>
                </a:rPr>
                <a:t>I</a:t>
              </a:r>
              <a:endParaRPr lang="zh-CN" altLang="en-US" sz="1100" dirty="0">
                <a:latin typeface="+mj-lt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7476068" y="3844834"/>
              <a:ext cx="2487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>
                  <a:latin typeface="+mj-lt"/>
                </a:rPr>
                <a:t>S</a:t>
              </a:r>
              <a:endParaRPr lang="zh-CN" altLang="en-US" sz="1100" dirty="0">
                <a:latin typeface="+mj-lt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7480070" y="4058036"/>
              <a:ext cx="25359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>
                  <a:latin typeface="+mj-lt"/>
                </a:rPr>
                <a:t>T</a:t>
              </a:r>
              <a:endParaRPr lang="zh-CN" altLang="en-US" sz="1100" dirty="0">
                <a:latin typeface="+mj-lt"/>
              </a:endParaRPr>
            </a:p>
          </p:txBody>
        </p:sp>
      </p:grp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Array Capacity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084" name="Rectangle 4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The implementation: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void 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double_capacity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() {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   Type *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tmp_array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= new Type[2*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array_capacity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];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   for ( 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i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= 0; 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i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&lt; 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array_capacity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; ++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i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) {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tmp_array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[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i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] = array[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i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];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   }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   delete [] array;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  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array =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tmp_array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  <a:endParaRPr lang="en-US" sz="1600" dirty="0">
              <a:solidFill>
                <a:srgbClr val="FF00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sz="1600" dirty="0">
              <a:solidFill>
                <a:srgbClr val="FF00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array_capacity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*= 2;</a:t>
            </a:r>
            <a:endParaRPr lang="en-US" sz="1600" dirty="0">
              <a:solidFill>
                <a:srgbClr val="FF00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}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5724128" y="3573016"/>
            <a:ext cx="2952328" cy="2520280"/>
            <a:chOff x="5508104" y="2603041"/>
            <a:chExt cx="2952328" cy="2520280"/>
          </a:xfrm>
        </p:grpSpPr>
        <p:grpSp>
          <p:nvGrpSpPr>
            <p:cNvPr id="28" name="组合 27"/>
            <p:cNvGrpSpPr/>
            <p:nvPr/>
          </p:nvGrpSpPr>
          <p:grpSpPr>
            <a:xfrm>
              <a:off x="5508104" y="2603041"/>
              <a:ext cx="1968473" cy="934200"/>
              <a:chOff x="5490412" y="2199866"/>
              <a:chExt cx="1968473" cy="934200"/>
            </a:xfrm>
          </p:grpSpPr>
          <p:sp>
            <p:nvSpPr>
              <p:cNvPr id="45" name="文本框 44"/>
              <p:cNvSpPr txBox="1"/>
              <p:nvPr/>
            </p:nvSpPr>
            <p:spPr>
              <a:xfrm>
                <a:off x="5490412" y="2199866"/>
                <a:ext cx="1394036" cy="64633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>
                    <a:latin typeface="+mj-lt"/>
                  </a:rPr>
                  <a:t>count == 4</a:t>
                </a:r>
                <a:endParaRPr lang="en-US" altLang="zh-CN" sz="1200" dirty="0">
                  <a:latin typeface="+mj-lt"/>
                </a:endParaRPr>
              </a:p>
              <a:p>
                <a:r>
                  <a:rPr lang="en-US" altLang="zh-CN" sz="1200" dirty="0" err="1">
                    <a:latin typeface="+mj-lt"/>
                  </a:rPr>
                  <a:t>array_capacity</a:t>
                </a:r>
                <a:r>
                  <a:rPr lang="en-US" altLang="zh-CN" sz="1200" dirty="0">
                    <a:latin typeface="+mj-lt"/>
                  </a:rPr>
                  <a:t> == 8</a:t>
                </a:r>
                <a:endParaRPr lang="en-US" altLang="zh-CN" sz="1200" dirty="0">
                  <a:latin typeface="+mj-lt"/>
                </a:endParaRPr>
              </a:p>
              <a:p>
                <a:r>
                  <a:rPr lang="en-US" altLang="zh-CN" sz="1200" dirty="0">
                    <a:latin typeface="+mj-lt"/>
                  </a:rPr>
                  <a:t>array</a:t>
                </a:r>
                <a:endParaRPr lang="zh-CN" altLang="en-US" sz="1200" dirty="0">
                  <a:latin typeface="+mj-lt"/>
                </a:endParaRPr>
              </a:p>
            </p:txBody>
          </p:sp>
          <p:cxnSp>
            <p:nvCxnSpPr>
              <p:cNvPr id="46" name="直接箭头连接符 45"/>
              <p:cNvCxnSpPr>
                <a:endCxn id="30" idx="1"/>
              </p:cNvCxnSpPr>
              <p:nvPr/>
            </p:nvCxnSpPr>
            <p:spPr>
              <a:xfrm>
                <a:off x="6065060" y="2668505"/>
                <a:ext cx="1393825" cy="46556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组合 28"/>
            <p:cNvGrpSpPr/>
            <p:nvPr/>
          </p:nvGrpSpPr>
          <p:grpSpPr>
            <a:xfrm>
              <a:off x="7497915" y="2778055"/>
              <a:ext cx="962517" cy="2345266"/>
              <a:chOff x="7812360" y="2821577"/>
              <a:chExt cx="962517" cy="2345266"/>
            </a:xfrm>
          </p:grpSpPr>
          <p:grpSp>
            <p:nvGrpSpPr>
              <p:cNvPr id="34" name="组合 33"/>
              <p:cNvGrpSpPr/>
              <p:nvPr/>
            </p:nvGrpSpPr>
            <p:grpSpPr>
              <a:xfrm>
                <a:off x="7812360" y="3474453"/>
                <a:ext cx="217921" cy="1692390"/>
                <a:chOff x="6627047" y="3027756"/>
                <a:chExt cx="217921" cy="1692390"/>
              </a:xfrm>
            </p:grpSpPr>
            <p:sp>
              <p:nvSpPr>
                <p:cNvPr id="37" name="矩形 36"/>
                <p:cNvSpPr/>
                <p:nvPr/>
              </p:nvSpPr>
              <p:spPr>
                <a:xfrm>
                  <a:off x="6627047" y="3027756"/>
                  <a:ext cx="216024" cy="169239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latin typeface="+mj-lt"/>
                  </a:endParaRPr>
                </a:p>
              </p:txBody>
            </p:sp>
            <p:cxnSp>
              <p:nvCxnSpPr>
                <p:cNvPr id="38" name="直接连接符 37"/>
                <p:cNvCxnSpPr/>
                <p:nvPr/>
              </p:nvCxnSpPr>
              <p:spPr>
                <a:xfrm>
                  <a:off x="6627047" y="3243781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接连接符 38"/>
                <p:cNvCxnSpPr/>
                <p:nvPr/>
              </p:nvCxnSpPr>
              <p:spPr>
                <a:xfrm>
                  <a:off x="6628944" y="3457647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 39"/>
                <p:cNvCxnSpPr/>
                <p:nvPr/>
              </p:nvCxnSpPr>
              <p:spPr>
                <a:xfrm>
                  <a:off x="6627047" y="3675829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接连接符 40"/>
                <p:cNvCxnSpPr/>
                <p:nvPr/>
              </p:nvCxnSpPr>
              <p:spPr>
                <a:xfrm>
                  <a:off x="6627047" y="3893154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连接符 41"/>
                <p:cNvCxnSpPr/>
                <p:nvPr/>
              </p:nvCxnSpPr>
              <p:spPr>
                <a:xfrm>
                  <a:off x="6627047" y="4116126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直接连接符 42"/>
                <p:cNvCxnSpPr/>
                <p:nvPr/>
              </p:nvCxnSpPr>
              <p:spPr>
                <a:xfrm>
                  <a:off x="6627047" y="4323901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直接连接符 43"/>
                <p:cNvCxnSpPr/>
                <p:nvPr/>
              </p:nvCxnSpPr>
              <p:spPr>
                <a:xfrm>
                  <a:off x="6627047" y="4539925"/>
                  <a:ext cx="21602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5" name="文本框 34"/>
              <p:cNvSpPr txBox="1"/>
              <p:nvPr/>
            </p:nvSpPr>
            <p:spPr>
              <a:xfrm>
                <a:off x="8335333" y="2821577"/>
                <a:ext cx="439544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 err="1">
                    <a:latin typeface="+mj-lt"/>
                  </a:rPr>
                  <a:t>tmp</a:t>
                </a:r>
                <a:endParaRPr lang="zh-CN" altLang="en-US" sz="1200" dirty="0">
                  <a:latin typeface="+mj-lt"/>
                </a:endParaRPr>
              </a:p>
            </p:txBody>
          </p:sp>
          <p:cxnSp>
            <p:nvCxnSpPr>
              <p:cNvPr id="36" name="直接箭头连接符 35"/>
              <p:cNvCxnSpPr/>
              <p:nvPr/>
            </p:nvCxnSpPr>
            <p:spPr>
              <a:xfrm flipH="1">
                <a:off x="8030281" y="3078356"/>
                <a:ext cx="508685" cy="48723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文本框 29"/>
            <p:cNvSpPr txBox="1"/>
            <p:nvPr/>
          </p:nvSpPr>
          <p:spPr>
            <a:xfrm>
              <a:off x="7476577" y="3406436"/>
              <a:ext cx="2487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>
                  <a:latin typeface="+mj-lt"/>
                </a:rPr>
                <a:t>S</a:t>
              </a:r>
              <a:endParaRPr lang="zh-CN" altLang="en-US" sz="1100" dirty="0">
                <a:latin typeface="+mj-lt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7490495" y="3628811"/>
              <a:ext cx="21993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>
                  <a:latin typeface="+mj-lt"/>
                </a:rPr>
                <a:t>I</a:t>
              </a:r>
              <a:endParaRPr lang="zh-CN" altLang="en-US" sz="1100" dirty="0">
                <a:latin typeface="+mj-lt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7476068" y="3844834"/>
              <a:ext cx="2487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>
                  <a:latin typeface="+mj-lt"/>
                </a:rPr>
                <a:t>S</a:t>
              </a:r>
              <a:endParaRPr lang="zh-CN" altLang="en-US" sz="1100" dirty="0">
                <a:latin typeface="+mj-lt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7480070" y="4058036"/>
              <a:ext cx="25359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>
                  <a:latin typeface="+mj-lt"/>
                </a:rPr>
                <a:t>T</a:t>
              </a:r>
              <a:endParaRPr lang="zh-CN" altLang="en-US" sz="1100" dirty="0">
                <a:latin typeface="+mj-lt"/>
              </a:endParaRPr>
            </a:p>
          </p:txBody>
        </p:sp>
      </p:grp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Array Capacity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107" name="Rectangle 4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Back to the original question: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 much do we change the capacity?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Add a constant?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Multiply by a constant?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First, we recognize that any time that we </a:t>
            </a:r>
            <a:r>
              <a:rPr lang="en-US" dirty="0">
                <a:latin typeface="Consolas" panose="020B0609020204030204" pitchFamily="49" charset="0"/>
                <a:cs typeface="Arial" panose="020B0604020202020204" pitchFamily="34" charset="0"/>
              </a:rPr>
              <a:t>push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onto a full stack, this requires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copies, and the run time is </a:t>
            </a:r>
            <a:r>
              <a:rPr lang="en-CA" b="1" dirty="0">
                <a:solidFill>
                  <a:srgbClr val="00000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Q</a:t>
            </a:r>
            <a:r>
              <a:rPr lang="en-CA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CA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CA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CA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Therefore, </a:t>
            </a:r>
            <a:r>
              <a:rPr lang="en-US" dirty="0">
                <a:latin typeface="Consolas" panose="020B0609020204030204" pitchFamily="49" charset="0"/>
                <a:cs typeface="Arial" panose="020B0604020202020204" pitchFamily="34" charset="0"/>
              </a:rPr>
              <a:t>push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usually </a:t>
            </a:r>
            <a:r>
              <a:rPr lang="en-CA" b="1" dirty="0">
                <a:solidFill>
                  <a:srgbClr val="00000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Q</a:t>
            </a:r>
            <a:r>
              <a:rPr lang="en-CA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except when new memory is required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Array Capacity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8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To state the average run time, we will introduce the concept of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amortized time: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CA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operations requires </a:t>
            </a:r>
            <a:r>
              <a:rPr lang="en-CA" b="1" dirty="0">
                <a:solidFill>
                  <a:srgbClr val="00000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Q</a:t>
            </a:r>
            <a:r>
              <a:rPr lang="en-CA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(f(</a:t>
            </a:r>
            <a:r>
              <a:rPr lang="en-CA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CA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we will say that an individual operation has an amortized run time of </a:t>
            </a:r>
            <a:r>
              <a:rPr lang="en-CA" b="1" dirty="0">
                <a:solidFill>
                  <a:srgbClr val="00000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Q</a:t>
            </a:r>
            <a:r>
              <a:rPr lang="en-CA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(f(</a:t>
            </a:r>
            <a:r>
              <a:rPr lang="en-CA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CA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)/</a:t>
            </a:r>
            <a:r>
              <a:rPr lang="en-CA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CA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Therefore, if inserting </a:t>
            </a:r>
            <a:r>
              <a:rPr lang="en-CA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objects requires: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CA" b="1" dirty="0">
                <a:solidFill>
                  <a:srgbClr val="00000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Q</a:t>
            </a:r>
            <a:r>
              <a:rPr lang="en-CA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CA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CA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CA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copies, the amortized time is </a:t>
            </a:r>
            <a:r>
              <a:rPr lang="en-CA" b="1" dirty="0">
                <a:solidFill>
                  <a:srgbClr val="00000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Q</a:t>
            </a:r>
            <a:r>
              <a:rPr lang="en-CA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CA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CA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CA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CA" b="1" dirty="0">
                <a:solidFill>
                  <a:srgbClr val="FF000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Q</a:t>
            </a:r>
            <a:r>
              <a:rPr lang="en-CA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CA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CA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copies, the amortized time is </a:t>
            </a:r>
            <a:r>
              <a:rPr lang="en-CA" b="1" dirty="0">
                <a:solidFill>
                  <a:srgbClr val="FF000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Q</a:t>
            </a:r>
            <a:r>
              <a:rPr lang="en-CA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 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Arial" panose="020B0604020202020204" pitchFamily="34" charset="0"/>
              <a:buNone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8466" name="Equation" r:id="rId1" imgW="114300" imgH="215900" progId="Equation.3">
                  <p:embed/>
                </p:oleObj>
              </mc:Choice>
              <mc:Fallback>
                <p:oleObj name="Equation" r:id="rId1" imgW="114300" imgH="215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9" descr="dd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841625" y="863600"/>
            <a:ext cx="5907088" cy="556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2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Array Capacity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3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Let us consider the case of increasing the capacity by 1 each time the array is full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With each insertion when the array is full, this requires all entries to be copied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050" name="Object 4"/>
          <p:cNvGraphicFramePr>
            <a:graphicFrameLocks noChangeAspect="1"/>
          </p:cNvGraphicFramePr>
          <p:nvPr/>
        </p:nvGraphicFramePr>
        <p:xfrm>
          <a:off x="6372225" y="4103688"/>
          <a:ext cx="147638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9489" name="Equation" r:id="rId2" imgW="114300" imgH="215900" progId="Equation.3">
                  <p:embed/>
                </p:oleObj>
              </mc:Choice>
              <mc:Fallback>
                <p:oleObj name="Equation" r:id="rId2" imgW="114300" imgH="215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4103688"/>
                        <a:ext cx="147638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Picture 5" descr="dd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843213" y="712788"/>
            <a:ext cx="5905500" cy="5811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2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Array Capacity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03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Suppose we insert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objects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pushing of the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k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object on the stack requires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k-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copies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total number of copies is now given by: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Therefore, the amortized number of copies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is given by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Therefore, each push must run in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latin typeface="Symbol" panose="05050102010706020507" pitchFamily="18" charset="2"/>
                <a:cs typeface="Arial" panose="020B0604020202020204" pitchFamily="34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time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wasted space, however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lang="en-US" b="1" dirty="0">
                <a:latin typeface="Symbol" panose="05050102010706020507" pitchFamily="18" charset="2"/>
                <a:cs typeface="Arial" panose="020B0604020202020204" pitchFamily="34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(1)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4098" name="Object 4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044" name="Equation" r:id="rId2" imgW="114300" imgH="215900" progId="Equation.3">
                  <p:embed/>
                </p:oleObj>
              </mc:Choice>
              <mc:Fallback>
                <p:oleObj name="Equation" r:id="rId2" imgW="114300" imgH="215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6"/>
          <p:cNvGraphicFramePr>
            <a:graphicFrameLocks noChangeAspect="1"/>
          </p:cNvGraphicFramePr>
          <p:nvPr/>
        </p:nvGraphicFramePr>
        <p:xfrm>
          <a:off x="2051050" y="2636838"/>
          <a:ext cx="4679950" cy="706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045" name="Equation" r:id="rId4" imgW="3365500" imgH="508000" progId="Equation.3">
                  <p:embed/>
                </p:oleObj>
              </mc:Choice>
              <mc:Fallback>
                <p:oleObj name="Equation" r:id="rId4" imgW="3365500" imgH="508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2636838"/>
                        <a:ext cx="4679950" cy="706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" name="Object 7"/>
          <p:cNvGraphicFramePr>
            <a:graphicFrameLocks noChangeAspect="1"/>
          </p:cNvGraphicFramePr>
          <p:nvPr/>
        </p:nvGraphicFramePr>
        <p:xfrm>
          <a:off x="2555875" y="3525838"/>
          <a:ext cx="1511300" cy="83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046" name="Equation" r:id="rId6" imgW="914400" imgH="508000" progId="Equation.3">
                  <p:embed/>
                </p:oleObj>
              </mc:Choice>
              <mc:Fallback>
                <p:oleObj name="Equation" r:id="rId6" imgW="914400" imgH="5080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3525838"/>
                        <a:ext cx="1511300" cy="839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8" descr="dd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841625" y="863600"/>
            <a:ext cx="5907088" cy="556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6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Array Capacity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77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Suppose we double the number of entries each time</a:t>
            </a:r>
            <a:br>
              <a:rPr lang="en-US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the array is full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Now the number of copies appears to be significantly</a:t>
            </a:r>
            <a:br>
              <a:rPr lang="en-US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fewer</a:t>
            </a:r>
            <a:endParaRPr lang="en-US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074" name="Object 4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0513" name="Equation" r:id="rId2" imgW="114300" imgH="215900" progId="Equation.3">
                  <p:embed/>
                </p:oleObj>
              </mc:Choice>
              <mc:Fallback>
                <p:oleObj name="Equation" r:id="rId2" imgW="114300" imgH="215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5" name="Picture 7" descr="dd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843213" y="712788"/>
            <a:ext cx="5905500" cy="5811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6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Array Capacity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27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Suppose we double the array size each time it is full: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Inserting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objects would require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4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8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..., all the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way up to the largest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i="1" baseline="30000" dirty="0">
                <a:latin typeface="Times New Roman" panose="02020603050405020304" pitchFamily="18" charset="0"/>
                <a:cs typeface="Arial" panose="020B0604020202020204" pitchFamily="34" charset="0"/>
              </a:rPr>
              <a:t>k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&lt;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Therefore, the amortized number of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copies per insertion is </a:t>
            </a:r>
            <a:r>
              <a:rPr lang="en-US" b="1" dirty="0">
                <a:latin typeface="Symbol" panose="05050102010706020507" pitchFamily="18" charset="2"/>
                <a:cs typeface="Arial" panose="020B0604020202020204" pitchFamily="34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(1)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wasted space,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however is </a:t>
            </a:r>
            <a:r>
              <a:rPr 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O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5122" name="Object 4"/>
          <p:cNvGraphicFramePr>
            <a:graphicFrameLocks noChangeAspect="1"/>
          </p:cNvGraphicFramePr>
          <p:nvPr/>
        </p:nvGraphicFramePr>
        <p:xfrm>
          <a:off x="4514850" y="3000623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068" name="Equation" r:id="rId2" imgW="114300" imgH="215900" progId="Equation.3">
                  <p:embed/>
                </p:oleObj>
              </mc:Choice>
              <mc:Fallback>
                <p:oleObj name="Equation" r:id="rId2" imgW="114300" imgH="215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000623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8"/>
          <p:cNvGraphicFramePr>
            <a:graphicFrameLocks noChangeAspect="1"/>
          </p:cNvGraphicFramePr>
          <p:nvPr/>
        </p:nvGraphicFramePr>
        <p:xfrm>
          <a:off x="1276350" y="2760911"/>
          <a:ext cx="4432300" cy="1100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069" name="Equation" r:id="rId4" imgW="2870200" imgH="711200" progId="Equation.DSMT4">
                  <p:embed/>
                </p:oleObj>
              </mc:Choice>
              <mc:Fallback>
                <p:oleObj name="Equation" r:id="rId4" imgW="2870200" imgH="7112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6350" y="2760911"/>
                        <a:ext cx="4432300" cy="1100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" name="Object 9"/>
          <p:cNvGraphicFramePr>
            <a:graphicFrameLocks noChangeAspect="1"/>
          </p:cNvGraphicFramePr>
          <p:nvPr/>
        </p:nvGraphicFramePr>
        <p:xfrm>
          <a:off x="4308475" y="2244973"/>
          <a:ext cx="1187450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070" name="Equation" r:id="rId6" imgW="685800" imgH="228600" progId="Equation.DSMT4">
                  <p:embed/>
                </p:oleObj>
              </mc:Choice>
              <mc:Fallback>
                <p:oleObj name="Equation" r:id="rId6" imgW="685800" imgH="2286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8475" y="2244973"/>
                        <a:ext cx="1187450" cy="395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5" descr="dd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841625" y="863600"/>
            <a:ext cx="5907088" cy="556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8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Array Capacity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49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What if we increase the array size by a larger constant?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example, increase the array size by 4, 8, or 100?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146" name="Object 4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586" name="Equation" r:id="rId2" imgW="114300" imgH="215900" progId="Equation.3">
                  <p:embed/>
                </p:oleObj>
              </mc:Choice>
              <mc:Fallback>
                <p:oleObj name="Equation" r:id="rId2" imgW="114300" imgH="215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7" descr="dd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843213" y="712788"/>
            <a:ext cx="5905500" cy="5811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3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Array Capacity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74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uppose we increase it by a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constant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value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m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Therefore, the amortized run time per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insertion is </a:t>
            </a:r>
            <a:r>
              <a:rPr lang="en-US" b="1" dirty="0">
                <a:latin typeface="Symbol" panose="05050102010706020507" pitchFamily="18" charset="2"/>
                <a:cs typeface="Arial" panose="020B0604020202020204" pitchFamily="34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170" name="Object 4"/>
          <p:cNvGraphicFramePr>
            <a:graphicFrameLocks noChangeAspect="1"/>
          </p:cNvGraphicFramePr>
          <p:nvPr/>
        </p:nvGraphicFramePr>
        <p:xfrm>
          <a:off x="4514850" y="2791718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4861" name="Equation" r:id="rId2" imgW="114300" imgH="215900" progId="Equation.3">
                  <p:embed/>
                </p:oleObj>
              </mc:Choice>
              <mc:Fallback>
                <p:oleObj name="Equation" r:id="rId2" imgW="114300" imgH="215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2791718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" name="Object 8"/>
          <p:cNvGraphicFramePr>
            <a:graphicFrameLocks noChangeAspect="1"/>
          </p:cNvGraphicFramePr>
          <p:nvPr/>
        </p:nvGraphicFramePr>
        <p:xfrm>
          <a:off x="2555875" y="2107506"/>
          <a:ext cx="4537075" cy="1033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4862" name="Equation" r:id="rId4" imgW="2895600" imgH="660400" progId="Equation.3">
                  <p:embed/>
                </p:oleObj>
              </mc:Choice>
              <mc:Fallback>
                <p:oleObj name="Equation" r:id="rId4" imgW="2895600" imgH="6604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2107506"/>
                        <a:ext cx="4537075" cy="1033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Array Capacity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131" name="Rectangle 4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Note the difference in worst-case amortized scenarios: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48885" name="Group 53"/>
          <p:cNvGraphicFramePr>
            <a:graphicFrameLocks noGrp="1"/>
          </p:cNvGraphicFramePr>
          <p:nvPr/>
        </p:nvGraphicFramePr>
        <p:xfrm>
          <a:off x="1403350" y="2024063"/>
          <a:ext cx="5112569" cy="2124393"/>
        </p:xfrm>
        <a:graphic>
          <a:graphicData uri="http://schemas.openxmlformats.org/drawingml/2006/table">
            <a:tbl>
              <a:tblPr/>
              <a:tblGrid>
                <a:gridCol w="2808313"/>
                <a:gridCol w="1296144"/>
                <a:gridCol w="1008112"/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CA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Copies per</a:t>
                      </a:r>
                      <a:endParaRPr kumimoji="0" lang="en-CA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Insertion</a:t>
                      </a:r>
                      <a:endParaRPr kumimoji="0" lang="en-CA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Unused Memory</a:t>
                      </a:r>
                      <a:endParaRPr kumimoji="0" lang="en-CA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9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Increase by </a:t>
                      </a:r>
                      <a:r>
                        <a:rPr kumimoji="0" lang="en-CA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kumimoji="0" lang="en-CA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en-CA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1</a:t>
                      </a:r>
                      <a:endParaRPr kumimoji="0" lang="en-CA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CA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Increase by </a:t>
                      </a:r>
                      <a:r>
                        <a:rPr kumimoji="0" lang="en-CA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m</a:t>
                      </a:r>
                      <a:endParaRPr kumimoji="0" lang="en-CA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n/m</a:t>
                      </a:r>
                      <a:endParaRPr kumimoji="0" lang="en-CA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0" lang="en-CA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1</a:t>
                      </a:r>
                      <a:endParaRPr kumimoji="0" lang="en-CA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Increase by a factor of </a:t>
                      </a:r>
                      <a:r>
                        <a:rPr kumimoji="0" lang="en-CA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  <a:endParaRPr kumimoji="0" lang="en-CA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CA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kumimoji="0" lang="en-CA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Increase by a factor of </a:t>
                      </a:r>
                      <a:r>
                        <a:rPr kumimoji="0" lang="en-CA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kumimoji="0" lang="en-CA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 &gt; 1</a:t>
                      </a:r>
                      <a:endParaRPr kumimoji="0" lang="en-CA" sz="1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1/(</a:t>
                      </a:r>
                      <a:r>
                        <a:rPr kumimoji="0" lang="en-CA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kumimoji="0" lang="en-CA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1) </a:t>
                      </a:r>
                      <a:endParaRPr kumimoji="0" lang="en-CA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CA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kumimoji="0" lang="en-CA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1)</a:t>
                      </a:r>
                      <a:r>
                        <a:rPr kumimoji="0" lang="en-CA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kumimoji="0" lang="en-CA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  <a:endParaRPr 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 ADT</a:t>
            </a:r>
            <a:endParaRPr lang="en-US" dirty="0"/>
          </a:p>
          <a:p>
            <a:r>
              <a:rPr lang="en-US" dirty="0"/>
              <a:t>Implementation</a:t>
            </a:r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Example applications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10973" y="1844824"/>
            <a:ext cx="4451351" cy="4790586"/>
            <a:chOff x="333375" y="1854200"/>
            <a:chExt cx="4611688" cy="4856163"/>
          </a:xfrm>
        </p:grpSpPr>
        <p:grpSp>
          <p:nvGrpSpPr>
            <p:cNvPr id="34820" name="Group 4"/>
            <p:cNvGrpSpPr/>
            <p:nvPr/>
          </p:nvGrpSpPr>
          <p:grpSpPr bwMode="auto">
            <a:xfrm>
              <a:off x="684213" y="2438400"/>
              <a:ext cx="3505200" cy="3505200"/>
              <a:chOff x="0" y="0"/>
              <a:chExt cx="2208" cy="2208"/>
            </a:xfrm>
          </p:grpSpPr>
          <p:sp>
            <p:nvSpPr>
              <p:cNvPr id="34821" name="Rectangle 5"/>
              <p:cNvSpPr>
                <a:spLocks noChangeArrowheads="1"/>
              </p:cNvSpPr>
              <p:nvPr/>
            </p:nvSpPr>
            <p:spPr bwMode="auto">
              <a:xfrm>
                <a:off x="288" y="288"/>
                <a:ext cx="240" cy="240"/>
              </a:xfrm>
              <a:prstGeom prst="rect">
                <a:avLst/>
              </a:prstGeom>
              <a:noFill/>
              <a:ln w="9525" cmpd="sng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22" name="Rectangle 6"/>
              <p:cNvSpPr>
                <a:spLocks noChangeArrowheads="1"/>
              </p:cNvSpPr>
              <p:nvPr/>
            </p:nvSpPr>
            <p:spPr bwMode="auto">
              <a:xfrm>
                <a:off x="528" y="288"/>
                <a:ext cx="240" cy="240"/>
              </a:xfrm>
              <a:prstGeom prst="rect">
                <a:avLst/>
              </a:prstGeom>
              <a:noFill/>
              <a:ln w="9525" cmpd="sng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23" name="Rectangle 7"/>
              <p:cNvSpPr>
                <a:spLocks noChangeArrowheads="1"/>
              </p:cNvSpPr>
              <p:nvPr/>
            </p:nvSpPr>
            <p:spPr bwMode="auto">
              <a:xfrm>
                <a:off x="768" y="288"/>
                <a:ext cx="240" cy="240"/>
              </a:xfrm>
              <a:prstGeom prst="rect">
                <a:avLst/>
              </a:prstGeom>
              <a:solidFill>
                <a:schemeClr val="accent1"/>
              </a:solidFill>
              <a:ln w="9525" cmpd="sng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24" name="Rectangle 8"/>
              <p:cNvSpPr>
                <a:spLocks noChangeArrowheads="1"/>
              </p:cNvSpPr>
              <p:nvPr/>
            </p:nvSpPr>
            <p:spPr bwMode="auto">
              <a:xfrm>
                <a:off x="1008" y="288"/>
                <a:ext cx="240" cy="240"/>
              </a:xfrm>
              <a:prstGeom prst="rect">
                <a:avLst/>
              </a:prstGeom>
              <a:noFill/>
              <a:ln w="9525" cmpd="sng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25" name="Rectangle 9"/>
              <p:cNvSpPr>
                <a:spLocks noChangeArrowheads="1"/>
              </p:cNvSpPr>
              <p:nvPr/>
            </p:nvSpPr>
            <p:spPr bwMode="auto">
              <a:xfrm>
                <a:off x="1248" y="288"/>
                <a:ext cx="240" cy="240"/>
              </a:xfrm>
              <a:prstGeom prst="rect">
                <a:avLst/>
              </a:prstGeom>
              <a:noFill/>
              <a:ln w="9525" cmpd="sng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26" name="Rectangle 10"/>
              <p:cNvSpPr>
                <a:spLocks noChangeArrowheads="1"/>
              </p:cNvSpPr>
              <p:nvPr/>
            </p:nvSpPr>
            <p:spPr bwMode="auto">
              <a:xfrm>
                <a:off x="1488" y="288"/>
                <a:ext cx="240" cy="240"/>
              </a:xfrm>
              <a:prstGeom prst="rect">
                <a:avLst/>
              </a:prstGeom>
              <a:noFill/>
              <a:ln w="9525" cmpd="sng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27" name="Rectangle 11"/>
              <p:cNvSpPr>
                <a:spLocks noChangeArrowheads="1"/>
              </p:cNvSpPr>
              <p:nvPr/>
            </p:nvSpPr>
            <p:spPr bwMode="auto">
              <a:xfrm>
                <a:off x="1728" y="288"/>
                <a:ext cx="240" cy="240"/>
              </a:xfrm>
              <a:prstGeom prst="rect">
                <a:avLst/>
              </a:prstGeom>
              <a:solidFill>
                <a:schemeClr val="accent1"/>
              </a:solidFill>
              <a:ln w="9525" cmpd="sng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28" name="Rectangle 12"/>
              <p:cNvSpPr>
                <a:spLocks noChangeArrowheads="1"/>
              </p:cNvSpPr>
              <p:nvPr/>
            </p:nvSpPr>
            <p:spPr bwMode="auto">
              <a:xfrm>
                <a:off x="1968" y="288"/>
                <a:ext cx="240" cy="240"/>
              </a:xfrm>
              <a:prstGeom prst="rect">
                <a:avLst/>
              </a:prstGeom>
              <a:noFill/>
              <a:ln w="9525" cmpd="sng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29" name="Rectangle 13"/>
              <p:cNvSpPr>
                <a:spLocks noChangeArrowheads="1"/>
              </p:cNvSpPr>
              <p:nvPr/>
            </p:nvSpPr>
            <p:spPr bwMode="auto">
              <a:xfrm>
                <a:off x="288" y="528"/>
                <a:ext cx="240" cy="240"/>
              </a:xfrm>
              <a:prstGeom prst="rect">
                <a:avLst/>
              </a:prstGeom>
              <a:noFill/>
              <a:ln w="9525" cmpd="sng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30" name="Rectangle 14"/>
              <p:cNvSpPr>
                <a:spLocks noChangeArrowheads="1"/>
              </p:cNvSpPr>
              <p:nvPr/>
            </p:nvSpPr>
            <p:spPr bwMode="auto">
              <a:xfrm>
                <a:off x="528" y="528"/>
                <a:ext cx="240" cy="240"/>
              </a:xfrm>
              <a:prstGeom prst="rect">
                <a:avLst/>
              </a:prstGeom>
              <a:noFill/>
              <a:ln w="9525" cmpd="sng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31" name="Rectangle 15"/>
              <p:cNvSpPr>
                <a:spLocks noChangeArrowheads="1"/>
              </p:cNvSpPr>
              <p:nvPr/>
            </p:nvSpPr>
            <p:spPr bwMode="auto">
              <a:xfrm>
                <a:off x="768" y="528"/>
                <a:ext cx="240" cy="240"/>
              </a:xfrm>
              <a:prstGeom prst="rect">
                <a:avLst/>
              </a:prstGeom>
              <a:solidFill>
                <a:schemeClr val="accent1"/>
              </a:solidFill>
              <a:ln w="9525" cmpd="sng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32" name="Rectangle 16"/>
              <p:cNvSpPr>
                <a:spLocks noChangeArrowheads="1"/>
              </p:cNvSpPr>
              <p:nvPr/>
            </p:nvSpPr>
            <p:spPr bwMode="auto">
              <a:xfrm>
                <a:off x="1008" y="528"/>
                <a:ext cx="240" cy="240"/>
              </a:xfrm>
              <a:prstGeom prst="rect">
                <a:avLst/>
              </a:prstGeom>
              <a:noFill/>
              <a:ln w="9525" cmpd="sng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33" name="Rectangle 17"/>
              <p:cNvSpPr>
                <a:spLocks noChangeArrowheads="1"/>
              </p:cNvSpPr>
              <p:nvPr/>
            </p:nvSpPr>
            <p:spPr bwMode="auto">
              <a:xfrm>
                <a:off x="1248" y="528"/>
                <a:ext cx="240" cy="240"/>
              </a:xfrm>
              <a:prstGeom prst="rect">
                <a:avLst/>
              </a:prstGeom>
              <a:noFill/>
              <a:ln w="9525" cmpd="sng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34" name="Rectangle 18"/>
              <p:cNvSpPr>
                <a:spLocks noChangeArrowheads="1"/>
              </p:cNvSpPr>
              <p:nvPr/>
            </p:nvSpPr>
            <p:spPr bwMode="auto">
              <a:xfrm>
                <a:off x="1488" y="528"/>
                <a:ext cx="240" cy="240"/>
              </a:xfrm>
              <a:prstGeom prst="rect">
                <a:avLst/>
              </a:prstGeom>
              <a:noFill/>
              <a:ln w="9525" cmpd="sng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35" name="Rectangle 19"/>
              <p:cNvSpPr>
                <a:spLocks noChangeArrowheads="1"/>
              </p:cNvSpPr>
              <p:nvPr/>
            </p:nvSpPr>
            <p:spPr bwMode="auto">
              <a:xfrm>
                <a:off x="1728" y="528"/>
                <a:ext cx="240" cy="240"/>
              </a:xfrm>
              <a:prstGeom prst="rect">
                <a:avLst/>
              </a:prstGeom>
              <a:solidFill>
                <a:schemeClr val="accent1"/>
              </a:solidFill>
              <a:ln w="9525" cmpd="sng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36" name="Rectangle 20"/>
              <p:cNvSpPr>
                <a:spLocks noChangeArrowheads="1"/>
              </p:cNvSpPr>
              <p:nvPr/>
            </p:nvSpPr>
            <p:spPr bwMode="auto">
              <a:xfrm>
                <a:off x="1968" y="528"/>
                <a:ext cx="240" cy="240"/>
              </a:xfrm>
              <a:prstGeom prst="rect">
                <a:avLst/>
              </a:prstGeom>
              <a:noFill/>
              <a:ln w="9525" cmpd="sng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37" name="Rectangle 21"/>
              <p:cNvSpPr>
                <a:spLocks noChangeArrowheads="1"/>
              </p:cNvSpPr>
              <p:nvPr/>
            </p:nvSpPr>
            <p:spPr bwMode="auto">
              <a:xfrm>
                <a:off x="288" y="768"/>
                <a:ext cx="240" cy="240"/>
              </a:xfrm>
              <a:prstGeom prst="rect">
                <a:avLst/>
              </a:prstGeom>
              <a:noFill/>
              <a:ln w="9525" cmpd="sng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38" name="Rectangle 22"/>
              <p:cNvSpPr>
                <a:spLocks noChangeArrowheads="1"/>
              </p:cNvSpPr>
              <p:nvPr/>
            </p:nvSpPr>
            <p:spPr bwMode="auto">
              <a:xfrm>
                <a:off x="528" y="768"/>
                <a:ext cx="240" cy="240"/>
              </a:xfrm>
              <a:prstGeom prst="rect">
                <a:avLst/>
              </a:prstGeom>
              <a:noFill/>
              <a:ln w="9525" cmpd="sng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39" name="Rectangle 23"/>
              <p:cNvSpPr>
                <a:spLocks noChangeArrowheads="1"/>
              </p:cNvSpPr>
              <p:nvPr/>
            </p:nvSpPr>
            <p:spPr bwMode="auto">
              <a:xfrm>
                <a:off x="768" y="768"/>
                <a:ext cx="240" cy="240"/>
              </a:xfrm>
              <a:prstGeom prst="rect">
                <a:avLst/>
              </a:prstGeom>
              <a:noFill/>
              <a:ln w="9525" cmpd="sng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40" name="Rectangle 24"/>
              <p:cNvSpPr>
                <a:spLocks noChangeArrowheads="1"/>
              </p:cNvSpPr>
              <p:nvPr/>
            </p:nvSpPr>
            <p:spPr bwMode="auto">
              <a:xfrm>
                <a:off x="1008" y="768"/>
                <a:ext cx="240" cy="240"/>
              </a:xfrm>
              <a:prstGeom prst="rect">
                <a:avLst/>
              </a:prstGeom>
              <a:noFill/>
              <a:ln w="9525" cmpd="sng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41" name="Rectangle 25"/>
              <p:cNvSpPr>
                <a:spLocks noChangeArrowheads="1"/>
              </p:cNvSpPr>
              <p:nvPr/>
            </p:nvSpPr>
            <p:spPr bwMode="auto">
              <a:xfrm>
                <a:off x="1248" y="768"/>
                <a:ext cx="240" cy="240"/>
              </a:xfrm>
              <a:prstGeom prst="rect">
                <a:avLst/>
              </a:prstGeom>
              <a:solidFill>
                <a:schemeClr val="accent1"/>
              </a:solidFill>
              <a:ln w="9525" cmpd="sng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42" name="Rectangle 26"/>
              <p:cNvSpPr>
                <a:spLocks noChangeArrowheads="1"/>
              </p:cNvSpPr>
              <p:nvPr/>
            </p:nvSpPr>
            <p:spPr bwMode="auto">
              <a:xfrm>
                <a:off x="1488" y="768"/>
                <a:ext cx="240" cy="240"/>
              </a:xfrm>
              <a:prstGeom prst="rect">
                <a:avLst/>
              </a:prstGeom>
              <a:solidFill>
                <a:schemeClr val="accent1"/>
              </a:solidFill>
              <a:ln w="9525" cmpd="sng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43" name="Rectangle 27"/>
              <p:cNvSpPr>
                <a:spLocks noChangeArrowheads="1"/>
              </p:cNvSpPr>
              <p:nvPr/>
            </p:nvSpPr>
            <p:spPr bwMode="auto">
              <a:xfrm>
                <a:off x="1728" y="768"/>
                <a:ext cx="240" cy="240"/>
              </a:xfrm>
              <a:prstGeom prst="rect">
                <a:avLst/>
              </a:prstGeom>
              <a:noFill/>
              <a:ln w="9525" cmpd="sng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44" name="Rectangle 28"/>
              <p:cNvSpPr>
                <a:spLocks noChangeArrowheads="1"/>
              </p:cNvSpPr>
              <p:nvPr/>
            </p:nvSpPr>
            <p:spPr bwMode="auto">
              <a:xfrm>
                <a:off x="1968" y="768"/>
                <a:ext cx="240" cy="240"/>
              </a:xfrm>
              <a:prstGeom prst="rect">
                <a:avLst/>
              </a:prstGeom>
              <a:noFill/>
              <a:ln w="9525" cmpd="sng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45" name="Rectangle 29"/>
              <p:cNvSpPr>
                <a:spLocks noChangeArrowheads="1"/>
              </p:cNvSpPr>
              <p:nvPr/>
            </p:nvSpPr>
            <p:spPr bwMode="auto">
              <a:xfrm>
                <a:off x="288" y="1008"/>
                <a:ext cx="240" cy="240"/>
              </a:xfrm>
              <a:prstGeom prst="rect">
                <a:avLst/>
              </a:prstGeom>
              <a:noFill/>
              <a:ln w="9525" cmpd="sng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46" name="Rectangle 30"/>
              <p:cNvSpPr>
                <a:spLocks noChangeArrowheads="1"/>
              </p:cNvSpPr>
              <p:nvPr/>
            </p:nvSpPr>
            <p:spPr bwMode="auto">
              <a:xfrm>
                <a:off x="528" y="1008"/>
                <a:ext cx="240" cy="240"/>
              </a:xfrm>
              <a:prstGeom prst="rect">
                <a:avLst/>
              </a:prstGeom>
              <a:solidFill>
                <a:schemeClr val="accent1"/>
              </a:solidFill>
              <a:ln w="9525" cmpd="sng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47" name="Rectangle 31"/>
              <p:cNvSpPr>
                <a:spLocks noChangeArrowheads="1"/>
              </p:cNvSpPr>
              <p:nvPr/>
            </p:nvSpPr>
            <p:spPr bwMode="auto">
              <a:xfrm>
                <a:off x="768" y="1008"/>
                <a:ext cx="240" cy="240"/>
              </a:xfrm>
              <a:prstGeom prst="rect">
                <a:avLst/>
              </a:prstGeom>
              <a:solidFill>
                <a:schemeClr val="accent1"/>
              </a:solidFill>
              <a:ln w="9525" cmpd="sng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48" name="Rectangle 32"/>
              <p:cNvSpPr>
                <a:spLocks noChangeArrowheads="1"/>
              </p:cNvSpPr>
              <p:nvPr/>
            </p:nvSpPr>
            <p:spPr bwMode="auto">
              <a:xfrm>
                <a:off x="1008" y="1008"/>
                <a:ext cx="240" cy="240"/>
              </a:xfrm>
              <a:prstGeom prst="rect">
                <a:avLst/>
              </a:prstGeom>
              <a:solidFill>
                <a:schemeClr val="accent1"/>
              </a:solidFill>
              <a:ln w="9525" cmpd="sng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49" name="Rectangle 33"/>
              <p:cNvSpPr>
                <a:spLocks noChangeArrowheads="1"/>
              </p:cNvSpPr>
              <p:nvPr/>
            </p:nvSpPr>
            <p:spPr bwMode="auto">
              <a:xfrm>
                <a:off x="1248" y="1008"/>
                <a:ext cx="240" cy="240"/>
              </a:xfrm>
              <a:prstGeom prst="rect">
                <a:avLst/>
              </a:prstGeom>
              <a:noFill/>
              <a:ln w="9525" cmpd="sng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50" name="Rectangle 34"/>
              <p:cNvSpPr>
                <a:spLocks noChangeArrowheads="1"/>
              </p:cNvSpPr>
              <p:nvPr/>
            </p:nvSpPr>
            <p:spPr bwMode="auto">
              <a:xfrm>
                <a:off x="1488" y="1008"/>
                <a:ext cx="240" cy="240"/>
              </a:xfrm>
              <a:prstGeom prst="rect">
                <a:avLst/>
              </a:prstGeom>
              <a:noFill/>
              <a:ln w="9525" cmpd="sng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51" name="Rectangle 35"/>
              <p:cNvSpPr>
                <a:spLocks noChangeArrowheads="1"/>
              </p:cNvSpPr>
              <p:nvPr/>
            </p:nvSpPr>
            <p:spPr bwMode="auto">
              <a:xfrm>
                <a:off x="1728" y="1008"/>
                <a:ext cx="240" cy="240"/>
              </a:xfrm>
              <a:prstGeom prst="rect">
                <a:avLst/>
              </a:prstGeom>
              <a:noFill/>
              <a:ln w="9525" cmpd="sng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52" name="Rectangle 36"/>
              <p:cNvSpPr>
                <a:spLocks noChangeArrowheads="1"/>
              </p:cNvSpPr>
              <p:nvPr/>
            </p:nvSpPr>
            <p:spPr bwMode="auto">
              <a:xfrm>
                <a:off x="1968" y="1008"/>
                <a:ext cx="240" cy="240"/>
              </a:xfrm>
              <a:prstGeom prst="rect">
                <a:avLst/>
              </a:prstGeom>
              <a:noFill/>
              <a:ln w="9525" cmpd="sng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53" name="Rectangle 37"/>
              <p:cNvSpPr>
                <a:spLocks noChangeArrowheads="1"/>
              </p:cNvSpPr>
              <p:nvPr/>
            </p:nvSpPr>
            <p:spPr bwMode="auto">
              <a:xfrm>
                <a:off x="288" y="1248"/>
                <a:ext cx="240" cy="240"/>
              </a:xfrm>
              <a:prstGeom prst="rect">
                <a:avLst/>
              </a:prstGeom>
              <a:noFill/>
              <a:ln w="9525" cmpd="sng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54" name="Rectangle 38"/>
              <p:cNvSpPr>
                <a:spLocks noChangeArrowheads="1"/>
              </p:cNvSpPr>
              <p:nvPr/>
            </p:nvSpPr>
            <p:spPr bwMode="auto">
              <a:xfrm>
                <a:off x="528" y="1248"/>
                <a:ext cx="240" cy="240"/>
              </a:xfrm>
              <a:prstGeom prst="rect">
                <a:avLst/>
              </a:prstGeom>
              <a:noFill/>
              <a:ln w="9525" cmpd="sng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55" name="Rectangle 39"/>
              <p:cNvSpPr>
                <a:spLocks noChangeArrowheads="1"/>
              </p:cNvSpPr>
              <p:nvPr/>
            </p:nvSpPr>
            <p:spPr bwMode="auto">
              <a:xfrm>
                <a:off x="768" y="1248"/>
                <a:ext cx="240" cy="240"/>
              </a:xfrm>
              <a:prstGeom prst="rect">
                <a:avLst/>
              </a:prstGeom>
              <a:noFill/>
              <a:ln w="9525" cmpd="sng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56" name="Rectangle 40"/>
              <p:cNvSpPr>
                <a:spLocks noChangeArrowheads="1"/>
              </p:cNvSpPr>
              <p:nvPr/>
            </p:nvSpPr>
            <p:spPr bwMode="auto">
              <a:xfrm>
                <a:off x="1008" y="1248"/>
                <a:ext cx="240" cy="240"/>
              </a:xfrm>
              <a:prstGeom prst="rect">
                <a:avLst/>
              </a:prstGeom>
              <a:solidFill>
                <a:schemeClr val="accent1"/>
              </a:solidFill>
              <a:ln w="9525" cmpd="sng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57" name="Rectangle 41"/>
              <p:cNvSpPr>
                <a:spLocks noChangeArrowheads="1"/>
              </p:cNvSpPr>
              <p:nvPr/>
            </p:nvSpPr>
            <p:spPr bwMode="auto">
              <a:xfrm>
                <a:off x="1248" y="1248"/>
                <a:ext cx="240" cy="240"/>
              </a:xfrm>
              <a:prstGeom prst="rect">
                <a:avLst/>
              </a:prstGeom>
              <a:noFill/>
              <a:ln w="9525" cmpd="sng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58" name="Rectangle 42"/>
              <p:cNvSpPr>
                <a:spLocks noChangeArrowheads="1"/>
              </p:cNvSpPr>
              <p:nvPr/>
            </p:nvSpPr>
            <p:spPr bwMode="auto">
              <a:xfrm>
                <a:off x="1488" y="1248"/>
                <a:ext cx="240" cy="240"/>
              </a:xfrm>
              <a:prstGeom prst="rect">
                <a:avLst/>
              </a:prstGeom>
              <a:noFill/>
              <a:ln w="9525" cmpd="sng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59" name="Rectangle 43"/>
              <p:cNvSpPr>
                <a:spLocks noChangeArrowheads="1"/>
              </p:cNvSpPr>
              <p:nvPr/>
            </p:nvSpPr>
            <p:spPr bwMode="auto">
              <a:xfrm>
                <a:off x="1728" y="1248"/>
                <a:ext cx="240" cy="240"/>
              </a:xfrm>
              <a:prstGeom prst="rect">
                <a:avLst/>
              </a:prstGeom>
              <a:noFill/>
              <a:ln w="9525" cmpd="sng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60" name="Rectangle 44"/>
              <p:cNvSpPr>
                <a:spLocks noChangeArrowheads="1"/>
              </p:cNvSpPr>
              <p:nvPr/>
            </p:nvSpPr>
            <p:spPr bwMode="auto">
              <a:xfrm>
                <a:off x="1968" y="1248"/>
                <a:ext cx="240" cy="240"/>
              </a:xfrm>
              <a:prstGeom prst="rect">
                <a:avLst/>
              </a:prstGeom>
              <a:noFill/>
              <a:ln w="9525" cmpd="sng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61" name="Rectangle 45"/>
              <p:cNvSpPr>
                <a:spLocks noChangeArrowheads="1"/>
              </p:cNvSpPr>
              <p:nvPr/>
            </p:nvSpPr>
            <p:spPr bwMode="auto">
              <a:xfrm>
                <a:off x="288" y="1488"/>
                <a:ext cx="240" cy="240"/>
              </a:xfrm>
              <a:prstGeom prst="rect">
                <a:avLst/>
              </a:prstGeom>
              <a:noFill/>
              <a:ln w="9525" cmpd="sng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62" name="Rectangle 46"/>
              <p:cNvSpPr>
                <a:spLocks noChangeArrowheads="1"/>
              </p:cNvSpPr>
              <p:nvPr/>
            </p:nvSpPr>
            <p:spPr bwMode="auto">
              <a:xfrm>
                <a:off x="528" y="1488"/>
                <a:ext cx="240" cy="240"/>
              </a:xfrm>
              <a:prstGeom prst="rect">
                <a:avLst/>
              </a:prstGeom>
              <a:solidFill>
                <a:schemeClr val="accent1"/>
              </a:solidFill>
              <a:ln w="9525" cmpd="sng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63" name="Rectangle 47"/>
              <p:cNvSpPr>
                <a:spLocks noChangeArrowheads="1"/>
              </p:cNvSpPr>
              <p:nvPr/>
            </p:nvSpPr>
            <p:spPr bwMode="auto">
              <a:xfrm>
                <a:off x="768" y="1488"/>
                <a:ext cx="240" cy="240"/>
              </a:xfrm>
              <a:prstGeom prst="rect">
                <a:avLst/>
              </a:prstGeom>
              <a:noFill/>
              <a:ln w="9525" cmpd="sng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64" name="Rectangle 48"/>
              <p:cNvSpPr>
                <a:spLocks noChangeArrowheads="1"/>
              </p:cNvSpPr>
              <p:nvPr/>
            </p:nvSpPr>
            <p:spPr bwMode="auto">
              <a:xfrm>
                <a:off x="1008" y="1488"/>
                <a:ext cx="240" cy="240"/>
              </a:xfrm>
              <a:prstGeom prst="rect">
                <a:avLst/>
              </a:prstGeom>
              <a:noFill/>
              <a:ln w="9525" cmpd="sng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65" name="Rectangle 49"/>
              <p:cNvSpPr>
                <a:spLocks noChangeArrowheads="1"/>
              </p:cNvSpPr>
              <p:nvPr/>
            </p:nvSpPr>
            <p:spPr bwMode="auto">
              <a:xfrm>
                <a:off x="1248" y="1488"/>
                <a:ext cx="240" cy="240"/>
              </a:xfrm>
              <a:prstGeom prst="rect">
                <a:avLst/>
              </a:prstGeom>
              <a:noFill/>
              <a:ln w="9525" cmpd="sng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66" name="Rectangle 50"/>
              <p:cNvSpPr>
                <a:spLocks noChangeArrowheads="1"/>
              </p:cNvSpPr>
              <p:nvPr/>
            </p:nvSpPr>
            <p:spPr bwMode="auto">
              <a:xfrm>
                <a:off x="1488" y="1488"/>
                <a:ext cx="240" cy="240"/>
              </a:xfrm>
              <a:prstGeom prst="rect">
                <a:avLst/>
              </a:prstGeom>
              <a:solidFill>
                <a:schemeClr val="accent1"/>
              </a:solidFill>
              <a:ln w="9525" cmpd="sng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67" name="Rectangle 51"/>
              <p:cNvSpPr>
                <a:spLocks noChangeArrowheads="1"/>
              </p:cNvSpPr>
              <p:nvPr/>
            </p:nvSpPr>
            <p:spPr bwMode="auto">
              <a:xfrm>
                <a:off x="1728" y="1488"/>
                <a:ext cx="240" cy="240"/>
              </a:xfrm>
              <a:prstGeom prst="rect">
                <a:avLst/>
              </a:prstGeom>
              <a:noFill/>
              <a:ln w="9525" cmpd="sng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68" name="Rectangle 52"/>
              <p:cNvSpPr>
                <a:spLocks noChangeArrowheads="1"/>
              </p:cNvSpPr>
              <p:nvPr/>
            </p:nvSpPr>
            <p:spPr bwMode="auto">
              <a:xfrm>
                <a:off x="1968" y="1488"/>
                <a:ext cx="240" cy="240"/>
              </a:xfrm>
              <a:prstGeom prst="rect">
                <a:avLst/>
              </a:prstGeom>
              <a:noFill/>
              <a:ln w="9525" cmpd="sng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69" name="Rectangle 53"/>
              <p:cNvSpPr>
                <a:spLocks noChangeArrowheads="1"/>
              </p:cNvSpPr>
              <p:nvPr/>
            </p:nvSpPr>
            <p:spPr bwMode="auto">
              <a:xfrm>
                <a:off x="288" y="1728"/>
                <a:ext cx="240" cy="240"/>
              </a:xfrm>
              <a:prstGeom prst="rect">
                <a:avLst/>
              </a:prstGeom>
              <a:noFill/>
              <a:ln w="9525" cmpd="sng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70" name="Rectangle 54"/>
              <p:cNvSpPr>
                <a:spLocks noChangeArrowheads="1"/>
              </p:cNvSpPr>
              <p:nvPr/>
            </p:nvSpPr>
            <p:spPr bwMode="auto">
              <a:xfrm>
                <a:off x="528" y="1728"/>
                <a:ext cx="240" cy="240"/>
              </a:xfrm>
              <a:prstGeom prst="rect">
                <a:avLst/>
              </a:prstGeom>
              <a:solidFill>
                <a:schemeClr val="accent1"/>
              </a:solidFill>
              <a:ln w="9525" cmpd="sng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71" name="Rectangle 55"/>
              <p:cNvSpPr>
                <a:spLocks noChangeArrowheads="1"/>
              </p:cNvSpPr>
              <p:nvPr/>
            </p:nvSpPr>
            <p:spPr bwMode="auto">
              <a:xfrm>
                <a:off x="768" y="1728"/>
                <a:ext cx="240" cy="240"/>
              </a:xfrm>
              <a:prstGeom prst="rect">
                <a:avLst/>
              </a:prstGeom>
              <a:solidFill>
                <a:schemeClr val="accent1"/>
              </a:solidFill>
              <a:ln w="9525" cmpd="sng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72" name="Rectangle 56"/>
              <p:cNvSpPr>
                <a:spLocks noChangeArrowheads="1"/>
              </p:cNvSpPr>
              <p:nvPr/>
            </p:nvSpPr>
            <p:spPr bwMode="auto">
              <a:xfrm>
                <a:off x="1008" y="1728"/>
                <a:ext cx="240" cy="240"/>
              </a:xfrm>
              <a:prstGeom prst="rect">
                <a:avLst/>
              </a:prstGeom>
              <a:solidFill>
                <a:schemeClr val="accent1"/>
              </a:solidFill>
              <a:ln w="9525" cmpd="sng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73" name="Rectangle 57"/>
              <p:cNvSpPr>
                <a:spLocks noChangeArrowheads="1"/>
              </p:cNvSpPr>
              <p:nvPr/>
            </p:nvSpPr>
            <p:spPr bwMode="auto">
              <a:xfrm>
                <a:off x="1248" y="1728"/>
                <a:ext cx="240" cy="240"/>
              </a:xfrm>
              <a:prstGeom prst="rect">
                <a:avLst/>
              </a:prstGeom>
              <a:noFill/>
              <a:ln w="9525" cmpd="sng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74" name="Rectangle 58"/>
              <p:cNvSpPr>
                <a:spLocks noChangeArrowheads="1"/>
              </p:cNvSpPr>
              <p:nvPr/>
            </p:nvSpPr>
            <p:spPr bwMode="auto">
              <a:xfrm>
                <a:off x="1488" y="1728"/>
                <a:ext cx="240" cy="240"/>
              </a:xfrm>
              <a:prstGeom prst="rect">
                <a:avLst/>
              </a:prstGeom>
              <a:solidFill>
                <a:schemeClr val="accent1"/>
              </a:solidFill>
              <a:ln w="9525" cmpd="sng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75" name="Rectangle 59"/>
              <p:cNvSpPr>
                <a:spLocks noChangeArrowheads="1"/>
              </p:cNvSpPr>
              <p:nvPr/>
            </p:nvSpPr>
            <p:spPr bwMode="auto">
              <a:xfrm>
                <a:off x="1728" y="1728"/>
                <a:ext cx="240" cy="240"/>
              </a:xfrm>
              <a:prstGeom prst="rect">
                <a:avLst/>
              </a:prstGeom>
              <a:solidFill>
                <a:schemeClr val="accent1"/>
              </a:solidFill>
              <a:ln w="9525" cmpd="sng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76" name="Rectangle 60"/>
              <p:cNvSpPr>
                <a:spLocks noChangeArrowheads="1"/>
              </p:cNvSpPr>
              <p:nvPr/>
            </p:nvSpPr>
            <p:spPr bwMode="auto">
              <a:xfrm>
                <a:off x="1968" y="1728"/>
                <a:ext cx="240" cy="240"/>
              </a:xfrm>
              <a:prstGeom prst="rect">
                <a:avLst/>
              </a:prstGeom>
              <a:noFill/>
              <a:ln w="9525" cmpd="sng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77" name="Rectangle 61"/>
              <p:cNvSpPr>
                <a:spLocks noChangeArrowheads="1"/>
              </p:cNvSpPr>
              <p:nvPr/>
            </p:nvSpPr>
            <p:spPr bwMode="auto">
              <a:xfrm>
                <a:off x="288" y="1968"/>
                <a:ext cx="240" cy="240"/>
              </a:xfrm>
              <a:prstGeom prst="rect">
                <a:avLst/>
              </a:prstGeom>
              <a:solidFill>
                <a:schemeClr val="accent1"/>
              </a:solidFill>
              <a:ln w="9525" cmpd="sng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78" name="Rectangle 62"/>
              <p:cNvSpPr>
                <a:spLocks noChangeArrowheads="1"/>
              </p:cNvSpPr>
              <p:nvPr/>
            </p:nvSpPr>
            <p:spPr bwMode="auto">
              <a:xfrm>
                <a:off x="528" y="1968"/>
                <a:ext cx="240" cy="240"/>
              </a:xfrm>
              <a:prstGeom prst="rect">
                <a:avLst/>
              </a:prstGeom>
              <a:solidFill>
                <a:schemeClr val="accent1"/>
              </a:solidFill>
              <a:ln w="9525" cmpd="sng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79" name="Rectangle 63"/>
              <p:cNvSpPr>
                <a:spLocks noChangeArrowheads="1"/>
              </p:cNvSpPr>
              <p:nvPr/>
            </p:nvSpPr>
            <p:spPr bwMode="auto">
              <a:xfrm>
                <a:off x="768" y="1968"/>
                <a:ext cx="240" cy="240"/>
              </a:xfrm>
              <a:prstGeom prst="rect">
                <a:avLst/>
              </a:prstGeom>
              <a:noFill/>
              <a:ln w="9525" cmpd="sng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80" name="Rectangle 64"/>
              <p:cNvSpPr>
                <a:spLocks noChangeArrowheads="1"/>
              </p:cNvSpPr>
              <p:nvPr/>
            </p:nvSpPr>
            <p:spPr bwMode="auto">
              <a:xfrm>
                <a:off x="1008" y="1968"/>
                <a:ext cx="240" cy="240"/>
              </a:xfrm>
              <a:prstGeom prst="rect">
                <a:avLst/>
              </a:prstGeom>
              <a:noFill/>
              <a:ln w="9525" cmpd="sng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81" name="Rectangle 65"/>
              <p:cNvSpPr>
                <a:spLocks noChangeArrowheads="1"/>
              </p:cNvSpPr>
              <p:nvPr/>
            </p:nvSpPr>
            <p:spPr bwMode="auto">
              <a:xfrm>
                <a:off x="1248" y="1968"/>
                <a:ext cx="240" cy="240"/>
              </a:xfrm>
              <a:prstGeom prst="rect">
                <a:avLst/>
              </a:prstGeom>
              <a:noFill/>
              <a:ln w="9525" cmpd="sng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82" name="Rectangle 66"/>
              <p:cNvSpPr>
                <a:spLocks noChangeArrowheads="1"/>
              </p:cNvSpPr>
              <p:nvPr/>
            </p:nvSpPr>
            <p:spPr bwMode="auto">
              <a:xfrm>
                <a:off x="1488" y="1968"/>
                <a:ext cx="240" cy="240"/>
              </a:xfrm>
              <a:prstGeom prst="rect">
                <a:avLst/>
              </a:prstGeom>
              <a:noFill/>
              <a:ln w="9525" cmpd="sng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83" name="Rectangle 67"/>
              <p:cNvSpPr>
                <a:spLocks noChangeArrowheads="1"/>
              </p:cNvSpPr>
              <p:nvPr/>
            </p:nvSpPr>
            <p:spPr bwMode="auto">
              <a:xfrm>
                <a:off x="1728" y="1968"/>
                <a:ext cx="240" cy="240"/>
              </a:xfrm>
              <a:prstGeom prst="rect">
                <a:avLst/>
              </a:prstGeom>
              <a:noFill/>
              <a:ln w="9525" cmpd="sng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84" name="Rectangle 68"/>
              <p:cNvSpPr>
                <a:spLocks noChangeArrowheads="1"/>
              </p:cNvSpPr>
              <p:nvPr/>
            </p:nvSpPr>
            <p:spPr bwMode="auto">
              <a:xfrm>
                <a:off x="1968" y="1968"/>
                <a:ext cx="240" cy="240"/>
              </a:xfrm>
              <a:prstGeom prst="rect">
                <a:avLst/>
              </a:prstGeom>
              <a:noFill/>
              <a:ln w="9525" cmpd="sng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34885" name="Group 69"/>
              <p:cNvGrpSpPr/>
              <p:nvPr/>
            </p:nvGrpSpPr>
            <p:grpSpPr bwMode="auto">
              <a:xfrm>
                <a:off x="288" y="0"/>
                <a:ext cx="1920" cy="240"/>
                <a:chOff x="0" y="0"/>
                <a:chExt cx="1920" cy="240"/>
              </a:xfrm>
            </p:grpSpPr>
            <p:sp>
              <p:nvSpPr>
                <p:cNvPr id="34886" name="Rectangle 70"/>
                <p:cNvSpPr>
                  <a:spLocks noChangeArrowheads="1"/>
                </p:cNvSpPr>
                <p:nvPr/>
              </p:nvSpPr>
              <p:spPr bwMode="auto">
                <a:xfrm>
                  <a:off x="1680" y="0"/>
                  <a:ext cx="240" cy="2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400">
                      <a:latin typeface="Tahoma" panose="020B0604030504040204" pitchFamily="34" charset="0"/>
                    </a:rPr>
                    <a:t>8</a:t>
                  </a:r>
                  <a:endParaRPr lang="zh-CN" alt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4887" name="Rectangle 71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40" cy="2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400">
                      <a:latin typeface="Tahoma" panose="020B0604030504040204" pitchFamily="34" charset="0"/>
                    </a:rPr>
                    <a:t>1</a:t>
                  </a:r>
                  <a:endParaRPr lang="zh-CN" alt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4888" name="Rectangle 72"/>
                <p:cNvSpPr>
                  <a:spLocks noChangeArrowheads="1"/>
                </p:cNvSpPr>
                <p:nvPr/>
              </p:nvSpPr>
              <p:spPr bwMode="auto">
                <a:xfrm>
                  <a:off x="240" y="0"/>
                  <a:ext cx="240" cy="2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400">
                      <a:latin typeface="Tahoma" panose="020B0604030504040204" pitchFamily="34" charset="0"/>
                    </a:rPr>
                    <a:t>2</a:t>
                  </a:r>
                  <a:endParaRPr lang="zh-CN" alt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4889" name="Rectangle 73"/>
                <p:cNvSpPr>
                  <a:spLocks noChangeArrowheads="1"/>
                </p:cNvSpPr>
                <p:nvPr/>
              </p:nvSpPr>
              <p:spPr bwMode="auto">
                <a:xfrm>
                  <a:off x="480" y="0"/>
                  <a:ext cx="240" cy="2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400">
                      <a:latin typeface="Tahoma" panose="020B0604030504040204" pitchFamily="34" charset="0"/>
                    </a:rPr>
                    <a:t>3</a:t>
                  </a:r>
                  <a:endParaRPr lang="zh-CN" alt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4890" name="Rectangle 74"/>
                <p:cNvSpPr>
                  <a:spLocks noChangeArrowheads="1"/>
                </p:cNvSpPr>
                <p:nvPr/>
              </p:nvSpPr>
              <p:spPr bwMode="auto">
                <a:xfrm>
                  <a:off x="720" y="0"/>
                  <a:ext cx="240" cy="2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400">
                      <a:latin typeface="Tahoma" panose="020B0604030504040204" pitchFamily="34" charset="0"/>
                    </a:rPr>
                    <a:t>4</a:t>
                  </a:r>
                  <a:endParaRPr lang="zh-CN" alt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4891" name="Rectangle 75"/>
                <p:cNvSpPr>
                  <a:spLocks noChangeArrowheads="1"/>
                </p:cNvSpPr>
                <p:nvPr/>
              </p:nvSpPr>
              <p:spPr bwMode="auto">
                <a:xfrm>
                  <a:off x="960" y="0"/>
                  <a:ext cx="240" cy="2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400">
                      <a:latin typeface="Tahoma" panose="020B0604030504040204" pitchFamily="34" charset="0"/>
                    </a:rPr>
                    <a:t>5</a:t>
                  </a:r>
                  <a:endParaRPr lang="zh-CN" alt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4892" name="Rectangle 76"/>
                <p:cNvSpPr>
                  <a:spLocks noChangeArrowheads="1"/>
                </p:cNvSpPr>
                <p:nvPr/>
              </p:nvSpPr>
              <p:spPr bwMode="auto">
                <a:xfrm>
                  <a:off x="1200" y="0"/>
                  <a:ext cx="240" cy="2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400">
                      <a:latin typeface="Tahoma" panose="020B0604030504040204" pitchFamily="34" charset="0"/>
                    </a:rPr>
                    <a:t>6</a:t>
                  </a:r>
                  <a:endParaRPr lang="zh-CN" alt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4893" name="Rectangle 77"/>
                <p:cNvSpPr>
                  <a:spLocks noChangeArrowheads="1"/>
                </p:cNvSpPr>
                <p:nvPr/>
              </p:nvSpPr>
              <p:spPr bwMode="auto">
                <a:xfrm>
                  <a:off x="1440" y="0"/>
                  <a:ext cx="240" cy="2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400">
                      <a:latin typeface="Tahoma" panose="020B0604030504040204" pitchFamily="34" charset="0"/>
                    </a:rPr>
                    <a:t>7</a:t>
                  </a:r>
                  <a:endParaRPr lang="zh-CN" altLang="en-US" sz="2400"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4894" name="Group 78"/>
              <p:cNvGrpSpPr/>
              <p:nvPr/>
            </p:nvGrpSpPr>
            <p:grpSpPr bwMode="auto">
              <a:xfrm>
                <a:off x="0" y="288"/>
                <a:ext cx="240" cy="1920"/>
                <a:chOff x="0" y="0"/>
                <a:chExt cx="240" cy="1920"/>
              </a:xfrm>
            </p:grpSpPr>
            <p:sp>
              <p:nvSpPr>
                <p:cNvPr id="34895" name="Rectangle 78"/>
                <p:cNvSpPr>
                  <a:spLocks noChangeArrowheads="1"/>
                </p:cNvSpPr>
                <p:nvPr/>
              </p:nvSpPr>
              <p:spPr bwMode="auto">
                <a:xfrm>
                  <a:off x="0" y="1680"/>
                  <a:ext cx="240" cy="2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400">
                      <a:latin typeface="Tahoma" panose="020B0604030504040204" pitchFamily="34" charset="0"/>
                    </a:rPr>
                    <a:t>8</a:t>
                  </a:r>
                  <a:endParaRPr lang="zh-CN" alt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4896" name="Rectangle 79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40" cy="2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400">
                      <a:latin typeface="Tahoma" panose="020B0604030504040204" pitchFamily="34" charset="0"/>
                    </a:rPr>
                    <a:t>1</a:t>
                  </a:r>
                  <a:endParaRPr lang="zh-CN" alt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4897" name="Rectangle 80"/>
                <p:cNvSpPr>
                  <a:spLocks noChangeArrowheads="1"/>
                </p:cNvSpPr>
                <p:nvPr/>
              </p:nvSpPr>
              <p:spPr bwMode="auto">
                <a:xfrm>
                  <a:off x="0" y="240"/>
                  <a:ext cx="240" cy="2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400">
                      <a:latin typeface="Tahoma" panose="020B0604030504040204" pitchFamily="34" charset="0"/>
                    </a:rPr>
                    <a:t>2</a:t>
                  </a:r>
                  <a:endParaRPr lang="zh-CN" alt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4898" name="Rectangle 81"/>
                <p:cNvSpPr>
                  <a:spLocks noChangeArrowheads="1"/>
                </p:cNvSpPr>
                <p:nvPr/>
              </p:nvSpPr>
              <p:spPr bwMode="auto">
                <a:xfrm>
                  <a:off x="0" y="480"/>
                  <a:ext cx="240" cy="2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400">
                      <a:latin typeface="Tahoma" panose="020B0604030504040204" pitchFamily="34" charset="0"/>
                    </a:rPr>
                    <a:t>3</a:t>
                  </a:r>
                  <a:endParaRPr lang="zh-CN" alt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4899" name="Rectangle 82"/>
                <p:cNvSpPr>
                  <a:spLocks noChangeArrowheads="1"/>
                </p:cNvSpPr>
                <p:nvPr/>
              </p:nvSpPr>
              <p:spPr bwMode="auto">
                <a:xfrm>
                  <a:off x="0" y="720"/>
                  <a:ext cx="240" cy="2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400">
                      <a:latin typeface="Tahoma" panose="020B0604030504040204" pitchFamily="34" charset="0"/>
                    </a:rPr>
                    <a:t>4</a:t>
                  </a:r>
                  <a:endParaRPr lang="zh-CN" alt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4900" name="Rectangle 83"/>
                <p:cNvSpPr>
                  <a:spLocks noChangeArrowheads="1"/>
                </p:cNvSpPr>
                <p:nvPr/>
              </p:nvSpPr>
              <p:spPr bwMode="auto">
                <a:xfrm>
                  <a:off x="0" y="960"/>
                  <a:ext cx="240" cy="2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400">
                      <a:latin typeface="Tahoma" panose="020B0604030504040204" pitchFamily="34" charset="0"/>
                    </a:rPr>
                    <a:t>5</a:t>
                  </a:r>
                  <a:endParaRPr lang="zh-CN" alt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4901" name="Rectangle 84"/>
                <p:cNvSpPr>
                  <a:spLocks noChangeArrowheads="1"/>
                </p:cNvSpPr>
                <p:nvPr/>
              </p:nvSpPr>
              <p:spPr bwMode="auto">
                <a:xfrm>
                  <a:off x="0" y="1200"/>
                  <a:ext cx="240" cy="2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400">
                      <a:latin typeface="Tahoma" panose="020B0604030504040204" pitchFamily="34" charset="0"/>
                    </a:rPr>
                    <a:t>6</a:t>
                  </a:r>
                  <a:endParaRPr lang="zh-CN" alt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4902" name="Rectangle 85"/>
                <p:cNvSpPr>
                  <a:spLocks noChangeArrowheads="1"/>
                </p:cNvSpPr>
                <p:nvPr/>
              </p:nvSpPr>
              <p:spPr bwMode="auto">
                <a:xfrm>
                  <a:off x="0" y="1440"/>
                  <a:ext cx="240" cy="2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400">
                      <a:latin typeface="Tahoma" panose="020B0604030504040204" pitchFamily="34" charset="0"/>
                    </a:rPr>
                    <a:t>7</a:t>
                  </a:r>
                  <a:endParaRPr lang="zh-CN" altLang="en-US" sz="2400">
                    <a:latin typeface="Tahoma" panose="020B0604030504040204" pitchFamily="34" charset="0"/>
                  </a:endParaRPr>
                </a:p>
              </p:txBody>
            </p:sp>
          </p:grpSp>
        </p:grpSp>
        <p:grpSp>
          <p:nvGrpSpPr>
            <p:cNvPr id="34903" name="Group 87"/>
            <p:cNvGrpSpPr/>
            <p:nvPr/>
          </p:nvGrpSpPr>
          <p:grpSpPr bwMode="auto">
            <a:xfrm>
              <a:off x="333375" y="1854200"/>
              <a:ext cx="920750" cy="1193800"/>
              <a:chOff x="188" y="-32"/>
              <a:chExt cx="580" cy="752"/>
            </a:xfrm>
          </p:grpSpPr>
          <p:sp>
            <p:nvSpPr>
              <p:cNvPr id="34904" name="Rectangle 89"/>
              <p:cNvSpPr>
                <a:spLocks noChangeArrowheads="1"/>
              </p:cNvSpPr>
              <p:nvPr/>
            </p:nvSpPr>
            <p:spPr bwMode="auto">
              <a:xfrm>
                <a:off x="188" y="-32"/>
                <a:ext cx="480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400" b="1" dirty="0"/>
                  <a:t>Entrance</a:t>
                </a:r>
                <a:endParaRPr lang="zh-CN" altLang="en-US" sz="2400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4905" name="Line 90"/>
              <p:cNvSpPr>
                <a:spLocks noChangeShapeType="1"/>
              </p:cNvSpPr>
              <p:nvPr/>
            </p:nvSpPr>
            <p:spPr bwMode="auto">
              <a:xfrm>
                <a:off x="432" y="240"/>
                <a:ext cx="336" cy="480"/>
              </a:xfrm>
              <a:prstGeom prst="line">
                <a:avLst/>
              </a:prstGeom>
              <a:noFill/>
              <a:ln w="19050" cmpd="sng">
                <a:solidFill>
                  <a:schemeClr val="tx1"/>
                </a:solidFill>
                <a:rou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34906" name="Group 90"/>
            <p:cNvGrpSpPr/>
            <p:nvPr/>
          </p:nvGrpSpPr>
          <p:grpSpPr bwMode="auto">
            <a:xfrm>
              <a:off x="3995738" y="5791200"/>
              <a:ext cx="949325" cy="919163"/>
              <a:chOff x="0" y="0"/>
              <a:chExt cx="598" cy="579"/>
            </a:xfrm>
          </p:grpSpPr>
          <p:sp>
            <p:nvSpPr>
              <p:cNvPr id="34907" name="Rectangle 92"/>
              <p:cNvSpPr>
                <a:spLocks noChangeArrowheads="1"/>
              </p:cNvSpPr>
              <p:nvPr/>
            </p:nvSpPr>
            <p:spPr bwMode="auto">
              <a:xfrm>
                <a:off x="70" y="339"/>
                <a:ext cx="528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400" b="1" dirty="0">
                    <a:cs typeface="Arial" panose="020B0604020202020204" pitchFamily="34" charset="0"/>
                  </a:rPr>
                  <a:t>Exit</a:t>
                </a:r>
                <a:endParaRPr lang="zh-CN" altLang="en-US" sz="2400" b="1" dirty="0">
                  <a:cs typeface="Arial" panose="020B0604020202020204" pitchFamily="34" charset="0"/>
                </a:endParaRPr>
              </a:p>
            </p:txBody>
          </p:sp>
          <p:sp>
            <p:nvSpPr>
              <p:cNvPr id="34908" name="Line 94"/>
              <p:cNvSpPr>
                <a:spLocks noChangeShapeType="1"/>
              </p:cNvSpPr>
              <p:nvPr/>
            </p:nvSpPr>
            <p:spPr bwMode="auto">
              <a:xfrm>
                <a:off x="0" y="0"/>
                <a:ext cx="240" cy="336"/>
              </a:xfrm>
              <a:prstGeom prst="line">
                <a:avLst/>
              </a:prstGeom>
              <a:noFill/>
              <a:ln w="19050" cmpd="sng">
                <a:solidFill>
                  <a:schemeClr val="tx1"/>
                </a:solidFill>
                <a:rou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34909" name="Rectangle 95"/>
          <p:cNvSpPr>
            <a:spLocks noChangeArrowheads="1"/>
          </p:cNvSpPr>
          <p:nvPr/>
        </p:nvSpPr>
        <p:spPr bwMode="auto">
          <a:xfrm>
            <a:off x="4437170" y="1675853"/>
            <a:ext cx="4863887" cy="80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2400" b="1" dirty="0">
                <a:cs typeface="Arial" panose="020B0604020202020204" pitchFamily="34" charset="0"/>
              </a:rPr>
              <a:t>Directions</a:t>
            </a:r>
            <a:r>
              <a:rPr lang="zh-CN" altLang="en-US" sz="2400" b="1" dirty="0">
                <a:cs typeface="Arial" panose="020B0604020202020204" pitchFamily="34" charset="0"/>
              </a:rPr>
              <a:t>：</a:t>
            </a:r>
            <a:endParaRPr lang="zh-CN" altLang="en-US" sz="2400" b="1" dirty="0">
              <a:cs typeface="Arial" panose="020B0604020202020204" pitchFamily="34" charset="0"/>
            </a:endParaRPr>
          </a:p>
          <a:p>
            <a:pPr algn="l" eaLnBrk="1" hangingPunct="1"/>
            <a:r>
              <a:rPr lang="zh-CN" altLang="en-US" sz="2200" dirty="0">
                <a:ea typeface="楷体_GB2312" pitchFamily="1" charset="-122"/>
                <a:cs typeface="Arial" panose="020B0604020202020204" pitchFamily="34" charset="0"/>
              </a:rPr>
              <a:t>  </a:t>
            </a:r>
            <a:r>
              <a:rPr lang="en-US" altLang="zh-CN" sz="2200" dirty="0">
                <a:ea typeface="楷体_GB2312" pitchFamily="1" charset="-122"/>
                <a:cs typeface="Arial" panose="020B0604020202020204" pitchFamily="34" charset="0"/>
              </a:rPr>
              <a:t>Up</a:t>
            </a:r>
            <a:r>
              <a:rPr lang="zh-CN" altLang="en-US" sz="2200" dirty="0">
                <a:ea typeface="楷体_GB2312" pitchFamily="1" charset="-122"/>
                <a:cs typeface="Arial" panose="020B0604020202020204" pitchFamily="34" charset="0"/>
              </a:rPr>
              <a:t>(</a:t>
            </a:r>
            <a:r>
              <a:rPr lang="en-US" altLang="zh-CN" sz="2200" dirty="0">
                <a:ea typeface="楷体_GB2312" pitchFamily="1" charset="-122"/>
                <a:cs typeface="Arial" panose="020B0604020202020204" pitchFamily="34" charset="0"/>
              </a:rPr>
              <a:t>N</a:t>
            </a:r>
            <a:r>
              <a:rPr lang="zh-CN" altLang="en-US" sz="2200" dirty="0">
                <a:ea typeface="楷体_GB2312" pitchFamily="1" charset="-122"/>
                <a:cs typeface="Arial" panose="020B0604020202020204" pitchFamily="34" charset="0"/>
              </a:rPr>
              <a:t>)</a:t>
            </a:r>
            <a:r>
              <a:rPr lang="en-US" altLang="zh-CN" sz="2200" dirty="0">
                <a:ea typeface="楷体_GB2312" pitchFamily="1" charset="-122"/>
                <a:cs typeface="Arial" panose="020B0604020202020204" pitchFamily="34" charset="0"/>
              </a:rPr>
              <a:t>, Down</a:t>
            </a:r>
            <a:r>
              <a:rPr lang="zh-CN" altLang="en-US" sz="2200" dirty="0">
                <a:ea typeface="楷体_GB2312" pitchFamily="1" charset="-122"/>
                <a:cs typeface="Arial" panose="020B0604020202020204" pitchFamily="34" charset="0"/>
              </a:rPr>
              <a:t>(</a:t>
            </a:r>
            <a:r>
              <a:rPr lang="en-US" altLang="zh-CN" sz="2200" dirty="0">
                <a:ea typeface="楷体_GB2312" pitchFamily="1" charset="-122"/>
                <a:cs typeface="Arial" panose="020B0604020202020204" pitchFamily="34" charset="0"/>
              </a:rPr>
              <a:t>S</a:t>
            </a:r>
            <a:r>
              <a:rPr lang="zh-CN" altLang="en-US" sz="2200" dirty="0">
                <a:ea typeface="楷体_GB2312" pitchFamily="1" charset="-122"/>
                <a:cs typeface="Arial" panose="020B0604020202020204" pitchFamily="34" charset="0"/>
              </a:rPr>
              <a:t>)</a:t>
            </a:r>
            <a:r>
              <a:rPr lang="en-US" altLang="zh-CN" sz="2200" dirty="0">
                <a:ea typeface="楷体_GB2312" pitchFamily="1" charset="-122"/>
                <a:cs typeface="Arial" panose="020B0604020202020204" pitchFamily="34" charset="0"/>
              </a:rPr>
              <a:t>, Left</a:t>
            </a:r>
            <a:r>
              <a:rPr lang="zh-CN" altLang="en-US" sz="2200" dirty="0">
                <a:ea typeface="楷体_GB2312" pitchFamily="1" charset="-122"/>
                <a:cs typeface="Arial" panose="020B0604020202020204" pitchFamily="34" charset="0"/>
              </a:rPr>
              <a:t>(</a:t>
            </a:r>
            <a:r>
              <a:rPr lang="en-US" altLang="zh-CN" sz="2200" dirty="0">
                <a:ea typeface="楷体_GB2312" pitchFamily="1" charset="-122"/>
                <a:cs typeface="Arial" panose="020B0604020202020204" pitchFamily="34" charset="0"/>
              </a:rPr>
              <a:t>W</a:t>
            </a:r>
            <a:r>
              <a:rPr lang="zh-CN" altLang="en-US" sz="2200" dirty="0">
                <a:ea typeface="楷体_GB2312" pitchFamily="1" charset="-122"/>
                <a:cs typeface="Arial" panose="020B0604020202020204" pitchFamily="34" charset="0"/>
              </a:rPr>
              <a:t>)</a:t>
            </a:r>
            <a:r>
              <a:rPr lang="en-US" altLang="zh-CN" sz="2200" dirty="0">
                <a:ea typeface="楷体_GB2312" pitchFamily="1" charset="-122"/>
                <a:cs typeface="Arial" panose="020B0604020202020204" pitchFamily="34" charset="0"/>
              </a:rPr>
              <a:t>, Right</a:t>
            </a:r>
            <a:r>
              <a:rPr lang="zh-CN" altLang="en-US" sz="2200" dirty="0">
                <a:ea typeface="楷体_GB2312" pitchFamily="1" charset="-122"/>
                <a:cs typeface="Arial" panose="020B0604020202020204" pitchFamily="34" charset="0"/>
              </a:rPr>
              <a:t>(</a:t>
            </a:r>
            <a:r>
              <a:rPr lang="en-US" altLang="zh-CN" sz="2200" dirty="0">
                <a:ea typeface="楷体_GB2312" pitchFamily="1" charset="-122"/>
                <a:cs typeface="Arial" panose="020B0604020202020204" pitchFamily="34" charset="0"/>
              </a:rPr>
              <a:t>E</a:t>
            </a:r>
            <a:r>
              <a:rPr lang="zh-CN" altLang="en-US" sz="2200" dirty="0">
                <a:ea typeface="楷体_GB2312" pitchFamily="1" charset="-122"/>
                <a:cs typeface="Arial" panose="020B0604020202020204" pitchFamily="34" charset="0"/>
              </a:rPr>
              <a:t>)</a:t>
            </a:r>
            <a:endParaRPr lang="zh-CN" altLang="en-US" sz="2200" dirty="0">
              <a:ea typeface="楷体_GB2312" pitchFamily="1" charset="-122"/>
              <a:cs typeface="Arial" panose="020B0604020202020204" pitchFamily="34" charset="0"/>
            </a:endParaRPr>
          </a:p>
        </p:txBody>
      </p:sp>
      <p:grpSp>
        <p:nvGrpSpPr>
          <p:cNvPr id="34910" name="Group 94"/>
          <p:cNvGrpSpPr/>
          <p:nvPr/>
        </p:nvGrpSpPr>
        <p:grpSpPr bwMode="auto">
          <a:xfrm>
            <a:off x="6450014" y="2447497"/>
            <a:ext cx="2947988" cy="1849438"/>
            <a:chOff x="-111" y="9"/>
            <a:chExt cx="1857" cy="1165"/>
          </a:xfrm>
        </p:grpSpPr>
        <p:sp>
          <p:nvSpPr>
            <p:cNvPr id="34911" name="Text Box 107"/>
            <p:cNvSpPr txBox="1">
              <a:spLocks noChangeArrowheads="1"/>
            </p:cNvSpPr>
            <p:nvPr/>
          </p:nvSpPr>
          <p:spPr bwMode="auto">
            <a:xfrm>
              <a:off x="1008" y="432"/>
              <a:ext cx="73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sz="2400" dirty="0">
                  <a:latin typeface="Tahoma" panose="020B0604030504040204" pitchFamily="34" charset="0"/>
                </a:rPr>
                <a:t>Right</a:t>
              </a:r>
              <a:endParaRPr lang="zh-CN" altLang="en-US" sz="2400" dirty="0">
                <a:latin typeface="Tahoma" panose="020B0604030504040204" pitchFamily="34" charset="0"/>
              </a:endParaRPr>
            </a:p>
          </p:txBody>
        </p:sp>
        <p:sp>
          <p:nvSpPr>
            <p:cNvPr id="34912" name="Text Box 108"/>
            <p:cNvSpPr txBox="1">
              <a:spLocks noChangeArrowheads="1"/>
            </p:cNvSpPr>
            <p:nvPr/>
          </p:nvSpPr>
          <p:spPr bwMode="auto">
            <a:xfrm>
              <a:off x="355" y="883"/>
              <a:ext cx="68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sz="2400" dirty="0">
                  <a:latin typeface="Tahoma" panose="020B0604030504040204" pitchFamily="34" charset="0"/>
                </a:rPr>
                <a:t>Down</a:t>
              </a:r>
              <a:endParaRPr lang="zh-CN" altLang="en-US" sz="2400" dirty="0">
                <a:latin typeface="Tahoma" panose="020B0604030504040204" pitchFamily="34" charset="0"/>
              </a:endParaRPr>
            </a:p>
          </p:txBody>
        </p:sp>
        <p:sp>
          <p:nvSpPr>
            <p:cNvPr id="34913" name="Line 109"/>
            <p:cNvSpPr>
              <a:spLocks noChangeShapeType="1"/>
            </p:cNvSpPr>
            <p:nvPr/>
          </p:nvSpPr>
          <p:spPr bwMode="auto">
            <a:xfrm flipV="1">
              <a:off x="672" y="240"/>
              <a:ext cx="0" cy="192"/>
            </a:xfrm>
            <a:prstGeom prst="line">
              <a:avLst/>
            </a:prstGeom>
            <a:noFill/>
            <a:ln w="9525" cmpd="sng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4914" name="Line 110"/>
            <p:cNvSpPr>
              <a:spLocks noChangeShapeType="1"/>
            </p:cNvSpPr>
            <p:nvPr/>
          </p:nvSpPr>
          <p:spPr bwMode="auto">
            <a:xfrm>
              <a:off x="672" y="672"/>
              <a:ext cx="0" cy="240"/>
            </a:xfrm>
            <a:prstGeom prst="line">
              <a:avLst/>
            </a:prstGeom>
            <a:noFill/>
            <a:ln w="9525" cmpd="sng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4915" name="Line 111"/>
            <p:cNvSpPr>
              <a:spLocks noChangeShapeType="1"/>
            </p:cNvSpPr>
            <p:nvPr/>
          </p:nvSpPr>
          <p:spPr bwMode="auto">
            <a:xfrm flipH="1">
              <a:off x="336" y="576"/>
              <a:ext cx="240" cy="0"/>
            </a:xfrm>
            <a:prstGeom prst="line">
              <a:avLst/>
            </a:prstGeom>
            <a:noFill/>
            <a:ln w="9525" cmpd="sng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4916" name="Line 112"/>
            <p:cNvSpPr>
              <a:spLocks noChangeShapeType="1"/>
            </p:cNvSpPr>
            <p:nvPr/>
          </p:nvSpPr>
          <p:spPr bwMode="auto">
            <a:xfrm>
              <a:off x="816" y="576"/>
              <a:ext cx="192" cy="0"/>
            </a:xfrm>
            <a:prstGeom prst="line">
              <a:avLst/>
            </a:prstGeom>
            <a:noFill/>
            <a:ln w="9525" cmpd="sng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4917" name="Rectangle 113"/>
            <p:cNvSpPr>
              <a:spLocks noChangeArrowheads="1"/>
            </p:cNvSpPr>
            <p:nvPr/>
          </p:nvSpPr>
          <p:spPr bwMode="auto">
            <a:xfrm>
              <a:off x="576" y="432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4918" name="Text Box 114"/>
            <p:cNvSpPr txBox="1">
              <a:spLocks noChangeArrowheads="1"/>
            </p:cNvSpPr>
            <p:nvPr/>
          </p:nvSpPr>
          <p:spPr bwMode="auto">
            <a:xfrm>
              <a:off x="508" y="9"/>
              <a:ext cx="37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sz="2400" dirty="0">
                  <a:latin typeface="Tahoma" panose="020B0604030504040204" pitchFamily="34" charset="0"/>
                </a:rPr>
                <a:t>Up</a:t>
              </a: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34919" name="Text Box 115"/>
            <p:cNvSpPr txBox="1">
              <a:spLocks noChangeArrowheads="1"/>
            </p:cNvSpPr>
            <p:nvPr/>
          </p:nvSpPr>
          <p:spPr bwMode="auto">
            <a:xfrm>
              <a:off x="-111" y="443"/>
              <a:ext cx="52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sz="2400" dirty="0">
                  <a:latin typeface="Tahoma" panose="020B0604030504040204" pitchFamily="34" charset="0"/>
                </a:rPr>
                <a:t>Left</a:t>
              </a:r>
              <a:endParaRPr lang="zh-CN" altLang="en-US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34920" name="Group 104"/>
          <p:cNvGrpSpPr/>
          <p:nvPr/>
        </p:nvGrpSpPr>
        <p:grpSpPr bwMode="auto">
          <a:xfrm>
            <a:off x="4581324" y="2814209"/>
            <a:ext cx="1524000" cy="1143000"/>
            <a:chOff x="0" y="0"/>
            <a:chExt cx="960" cy="720"/>
          </a:xfrm>
        </p:grpSpPr>
        <p:sp>
          <p:nvSpPr>
            <p:cNvPr id="34921" name="Rectangle 96"/>
            <p:cNvSpPr>
              <a:spLocks noChangeArrowheads="1"/>
            </p:cNvSpPr>
            <p:nvPr/>
          </p:nvSpPr>
          <p:spPr bwMode="auto">
            <a:xfrm>
              <a:off x="240" y="0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4922" name="Rectangle 97"/>
            <p:cNvSpPr>
              <a:spLocks noChangeArrowheads="1"/>
            </p:cNvSpPr>
            <p:nvPr/>
          </p:nvSpPr>
          <p:spPr bwMode="auto">
            <a:xfrm>
              <a:off x="480" y="0"/>
              <a:ext cx="240" cy="24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4923" name="Rectangle 98"/>
            <p:cNvSpPr>
              <a:spLocks noChangeArrowheads="1"/>
            </p:cNvSpPr>
            <p:nvPr/>
          </p:nvSpPr>
          <p:spPr bwMode="auto">
            <a:xfrm>
              <a:off x="720" y="0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4924" name="Rectangle 99"/>
            <p:cNvSpPr>
              <a:spLocks noChangeArrowheads="1"/>
            </p:cNvSpPr>
            <p:nvPr/>
          </p:nvSpPr>
          <p:spPr bwMode="auto">
            <a:xfrm>
              <a:off x="240" y="240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4925" name="Rectangle 100"/>
            <p:cNvSpPr>
              <a:spLocks noChangeArrowheads="1"/>
            </p:cNvSpPr>
            <p:nvPr/>
          </p:nvSpPr>
          <p:spPr bwMode="auto">
            <a:xfrm>
              <a:off x="480" y="240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4926" name="Rectangle 101"/>
            <p:cNvSpPr>
              <a:spLocks noChangeArrowheads="1"/>
            </p:cNvSpPr>
            <p:nvPr/>
          </p:nvSpPr>
          <p:spPr bwMode="auto">
            <a:xfrm>
              <a:off x="720" y="240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4927" name="Rectangle 102"/>
            <p:cNvSpPr>
              <a:spLocks noChangeArrowheads="1"/>
            </p:cNvSpPr>
            <p:nvPr/>
          </p:nvSpPr>
          <p:spPr bwMode="auto">
            <a:xfrm>
              <a:off x="240" y="480"/>
              <a:ext cx="240" cy="24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4928" name="Rectangle 103"/>
            <p:cNvSpPr>
              <a:spLocks noChangeArrowheads="1"/>
            </p:cNvSpPr>
            <p:nvPr/>
          </p:nvSpPr>
          <p:spPr bwMode="auto">
            <a:xfrm>
              <a:off x="480" y="480"/>
              <a:ext cx="240" cy="240"/>
            </a:xfrm>
            <a:prstGeom prst="rect">
              <a:avLst/>
            </a:prstGeom>
            <a:solidFill>
              <a:srgbClr val="FFFFFF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4929" name="Rectangle 104"/>
            <p:cNvSpPr>
              <a:spLocks noChangeArrowheads="1"/>
            </p:cNvSpPr>
            <p:nvPr/>
          </p:nvSpPr>
          <p:spPr bwMode="auto">
            <a:xfrm>
              <a:off x="720" y="480"/>
              <a:ext cx="240" cy="24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pic>
          <p:nvPicPr>
            <p:cNvPr id="34930" name="Picture 117" descr="zoulu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19"/>
              <a:ext cx="720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4931" name="Rectangle 118"/>
          <p:cNvSpPr>
            <a:spLocks noChangeArrowheads="1"/>
          </p:cNvSpPr>
          <p:nvPr/>
        </p:nvSpPr>
        <p:spPr bwMode="auto">
          <a:xfrm>
            <a:off x="5079990" y="4550934"/>
            <a:ext cx="4038600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2400" b="1" dirty="0">
                <a:latin typeface="Tahoma" panose="020B0604030504040204" pitchFamily="34" charset="0"/>
              </a:rPr>
              <a:t> </a:t>
            </a:r>
            <a:r>
              <a:rPr lang="en-US" altLang="zh-CN" sz="2400" b="1" dirty="0">
                <a:cs typeface="Arial" panose="020B0604020202020204" pitchFamily="34" charset="0"/>
              </a:rPr>
              <a:t>Rules</a:t>
            </a:r>
            <a:r>
              <a:rPr lang="zh-CN" altLang="en-US" sz="2400" b="1" dirty="0">
                <a:cs typeface="Arial" panose="020B0604020202020204" pitchFamily="34" charset="0"/>
              </a:rPr>
              <a:t>：</a:t>
            </a:r>
            <a:endParaRPr lang="zh-CN" altLang="en-US" sz="2400" b="1" dirty="0">
              <a:cs typeface="Arial" panose="020B0604020202020204" pitchFamily="34" charset="0"/>
            </a:endParaRPr>
          </a:p>
          <a:p>
            <a:pPr algn="just" eaLnBrk="1" hangingPunct="1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000" dirty="0">
                <a:ea typeface="楷体_GB2312" pitchFamily="1" charset="-122"/>
                <a:cs typeface="Arial" panose="020B0604020202020204" pitchFamily="34" charset="0"/>
              </a:rPr>
              <a:t>Go down first</a:t>
            </a:r>
            <a:r>
              <a:rPr lang="en-US" altLang="zh-CN" sz="2000" b="1" dirty="0">
                <a:ea typeface="楷体_GB2312" pitchFamily="1" charset="-122"/>
                <a:cs typeface="Arial" panose="020B0604020202020204" pitchFamily="34" charset="0"/>
              </a:rPr>
              <a:t>. </a:t>
            </a:r>
            <a:r>
              <a:rPr lang="en-US" altLang="zh-CN" sz="2000" dirty="0">
                <a:ea typeface="楷体_GB2312" pitchFamily="1" charset="-122"/>
                <a:cs typeface="Arial" panose="020B0604020202020204" pitchFamily="34" charset="0"/>
              </a:rPr>
              <a:t>If possible, the man can further explore. Otherwise, the man </a:t>
            </a:r>
            <a:r>
              <a:rPr lang="en-US" altLang="zh-CN" sz="2000" dirty="0"/>
              <a:t>explores the possible next steps in a counterclockwise direction. </a:t>
            </a:r>
            <a:endParaRPr lang="zh-CN" altLang="en-US" sz="2000" dirty="0">
              <a:ea typeface="楷体_GB2312" pitchFamily="1" charset="-122"/>
              <a:cs typeface="Arial" panose="020B0604020202020204" pitchFamily="34" charset="0"/>
            </a:endParaRPr>
          </a:p>
        </p:txBody>
      </p:sp>
      <p:cxnSp>
        <p:nvCxnSpPr>
          <p:cNvPr id="34932" name="AutoShape 119"/>
          <p:cNvCxnSpPr>
            <a:cxnSpLocks noChangeShapeType="1"/>
          </p:cNvCxnSpPr>
          <p:nvPr/>
        </p:nvCxnSpPr>
        <p:spPr bwMode="auto">
          <a:xfrm flipV="1">
            <a:off x="8188327" y="2804319"/>
            <a:ext cx="685800" cy="1371600"/>
          </a:xfrm>
          <a:prstGeom prst="curvedConnector3">
            <a:avLst>
              <a:gd name="adj1" fmla="val 134949"/>
            </a:avLst>
          </a:prstGeom>
          <a:noFill/>
          <a:ln w="25400" cmpd="sng">
            <a:solidFill>
              <a:srgbClr val="3366FF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7" name="Rectangle 3"/>
          <p:cNvSpPr txBox="1"/>
          <p:nvPr/>
        </p:nvSpPr>
        <p:spPr bwMode="auto">
          <a:xfrm>
            <a:off x="363891" y="99075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Maze Routing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Rectangle 95"/>
          <p:cNvSpPr>
            <a:spLocks noChangeArrowheads="1"/>
          </p:cNvSpPr>
          <p:nvPr/>
        </p:nvSpPr>
        <p:spPr bwMode="auto">
          <a:xfrm>
            <a:off x="13524" y="867366"/>
            <a:ext cx="5482694" cy="80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2400" b="1" dirty="0">
                <a:cs typeface="Arial" panose="020B0604020202020204" pitchFamily="34" charset="0"/>
              </a:rPr>
              <a:t>Objective</a:t>
            </a:r>
            <a:r>
              <a:rPr lang="zh-CN" altLang="en-US" sz="2400" b="1" dirty="0">
                <a:cs typeface="Arial" panose="020B0604020202020204" pitchFamily="34" charset="0"/>
              </a:rPr>
              <a:t>：</a:t>
            </a:r>
            <a:endParaRPr lang="zh-CN" altLang="en-US" sz="2400" b="1" dirty="0">
              <a:cs typeface="Arial" panose="020B0604020202020204" pitchFamily="34" charset="0"/>
            </a:endParaRPr>
          </a:p>
          <a:p>
            <a:pPr algn="l" eaLnBrk="1" hangingPunct="1"/>
            <a:r>
              <a:rPr lang="zh-CN" altLang="en-US" sz="2200" dirty="0">
                <a:ea typeface="楷体_GB2312" pitchFamily="1" charset="-122"/>
                <a:cs typeface="Arial" panose="020B0604020202020204" pitchFamily="34" charset="0"/>
              </a:rPr>
              <a:t>  </a:t>
            </a:r>
            <a:r>
              <a:rPr lang="en-US" altLang="zh-CN" sz="2200" dirty="0">
                <a:ea typeface="楷体_GB2312" pitchFamily="1" charset="-122"/>
                <a:cs typeface="Arial" panose="020B0604020202020204" pitchFamily="34" charset="0"/>
              </a:rPr>
              <a:t>    One path from the entrance to the exit</a:t>
            </a:r>
            <a:endParaRPr lang="zh-CN" altLang="en-US" sz="2200" dirty="0">
              <a:ea typeface="楷体_GB2312" pitchFamily="1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42" name="Group 2"/>
          <p:cNvGrpSpPr/>
          <p:nvPr/>
        </p:nvGrpSpPr>
        <p:grpSpPr bwMode="auto">
          <a:xfrm>
            <a:off x="1041400" y="1509713"/>
            <a:ext cx="1987550" cy="5260974"/>
            <a:chOff x="342" y="0"/>
            <a:chExt cx="1252" cy="3314"/>
          </a:xfrm>
        </p:grpSpPr>
        <p:grpSp>
          <p:nvGrpSpPr>
            <p:cNvPr id="35843" name="Group 3"/>
            <p:cNvGrpSpPr/>
            <p:nvPr/>
          </p:nvGrpSpPr>
          <p:grpSpPr bwMode="auto">
            <a:xfrm>
              <a:off x="342" y="0"/>
              <a:ext cx="928" cy="3033"/>
              <a:chOff x="0" y="0"/>
              <a:chExt cx="1056" cy="1392"/>
            </a:xfrm>
          </p:grpSpPr>
          <p:sp>
            <p:nvSpPr>
              <p:cNvPr id="35844" name="Line 89"/>
              <p:cNvSpPr>
                <a:spLocks noChangeShapeType="1"/>
              </p:cNvSpPr>
              <p:nvPr/>
            </p:nvSpPr>
            <p:spPr bwMode="auto">
              <a:xfrm>
                <a:off x="0" y="0"/>
                <a:ext cx="0" cy="1392"/>
              </a:xfrm>
              <a:prstGeom prst="line">
                <a:avLst/>
              </a:prstGeom>
              <a:noFill/>
              <a:ln w="28575" cmpd="sng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5845" name="Line 90"/>
              <p:cNvSpPr>
                <a:spLocks noChangeShapeType="1"/>
              </p:cNvSpPr>
              <p:nvPr/>
            </p:nvSpPr>
            <p:spPr bwMode="auto">
              <a:xfrm>
                <a:off x="1056" y="0"/>
                <a:ext cx="0" cy="1392"/>
              </a:xfrm>
              <a:prstGeom prst="line">
                <a:avLst/>
              </a:prstGeom>
              <a:noFill/>
              <a:ln w="28575" cmpd="sng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5846" name="Line 91"/>
              <p:cNvSpPr>
                <a:spLocks noChangeShapeType="1"/>
              </p:cNvSpPr>
              <p:nvPr/>
            </p:nvSpPr>
            <p:spPr bwMode="auto">
              <a:xfrm>
                <a:off x="0" y="1392"/>
                <a:ext cx="1056" cy="0"/>
              </a:xfrm>
              <a:prstGeom prst="line">
                <a:avLst/>
              </a:prstGeom>
              <a:noFill/>
              <a:ln w="28575" cmpd="sng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35847" name="Text Box 92"/>
            <p:cNvSpPr txBox="1">
              <a:spLocks noChangeArrowheads="1"/>
            </p:cNvSpPr>
            <p:nvPr/>
          </p:nvSpPr>
          <p:spPr bwMode="auto">
            <a:xfrm>
              <a:off x="525" y="3062"/>
              <a:ext cx="106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sz="2000" b="1" dirty="0">
                  <a:ea typeface="楷体_GB2312" pitchFamily="1" charset="-122"/>
                  <a:cs typeface="Arial" panose="020B0604020202020204" pitchFamily="34" charset="0"/>
                </a:rPr>
                <a:t>Stack</a:t>
              </a:r>
              <a:endParaRPr lang="zh-CN" altLang="en-US" sz="2000" b="1" dirty="0">
                <a:ea typeface="楷体_GB2312" pitchFamily="1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35850" name="Group 10"/>
          <p:cNvGrpSpPr/>
          <p:nvPr/>
        </p:nvGrpSpPr>
        <p:grpSpPr bwMode="auto">
          <a:xfrm>
            <a:off x="3795713" y="2347913"/>
            <a:ext cx="3505200" cy="3505200"/>
            <a:chOff x="0" y="0"/>
            <a:chExt cx="2208" cy="2208"/>
          </a:xfrm>
        </p:grpSpPr>
        <p:sp>
          <p:nvSpPr>
            <p:cNvPr id="35851" name="Rectangle 5"/>
            <p:cNvSpPr>
              <a:spLocks noChangeArrowheads="1"/>
            </p:cNvSpPr>
            <p:nvPr/>
          </p:nvSpPr>
          <p:spPr bwMode="auto">
            <a:xfrm>
              <a:off x="288" y="28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52" name="Rectangle 6"/>
            <p:cNvSpPr>
              <a:spLocks noChangeArrowheads="1"/>
            </p:cNvSpPr>
            <p:nvPr/>
          </p:nvSpPr>
          <p:spPr bwMode="auto">
            <a:xfrm>
              <a:off x="528" y="28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53" name="Rectangle 7"/>
            <p:cNvSpPr>
              <a:spLocks noChangeArrowheads="1"/>
            </p:cNvSpPr>
            <p:nvPr/>
          </p:nvSpPr>
          <p:spPr bwMode="auto">
            <a:xfrm>
              <a:off x="768" y="288"/>
              <a:ext cx="240" cy="24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54" name="Rectangle 8"/>
            <p:cNvSpPr>
              <a:spLocks noChangeArrowheads="1"/>
            </p:cNvSpPr>
            <p:nvPr/>
          </p:nvSpPr>
          <p:spPr bwMode="auto">
            <a:xfrm>
              <a:off x="1008" y="28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55" name="Rectangle 9"/>
            <p:cNvSpPr>
              <a:spLocks noChangeArrowheads="1"/>
            </p:cNvSpPr>
            <p:nvPr/>
          </p:nvSpPr>
          <p:spPr bwMode="auto">
            <a:xfrm>
              <a:off x="1248" y="28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56" name="Rectangle 10"/>
            <p:cNvSpPr>
              <a:spLocks noChangeArrowheads="1"/>
            </p:cNvSpPr>
            <p:nvPr/>
          </p:nvSpPr>
          <p:spPr bwMode="auto">
            <a:xfrm>
              <a:off x="1488" y="28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57" name="Rectangle 11"/>
            <p:cNvSpPr>
              <a:spLocks noChangeArrowheads="1"/>
            </p:cNvSpPr>
            <p:nvPr/>
          </p:nvSpPr>
          <p:spPr bwMode="auto">
            <a:xfrm>
              <a:off x="1728" y="288"/>
              <a:ext cx="240" cy="24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58" name="Rectangle 12"/>
            <p:cNvSpPr>
              <a:spLocks noChangeArrowheads="1"/>
            </p:cNvSpPr>
            <p:nvPr/>
          </p:nvSpPr>
          <p:spPr bwMode="auto">
            <a:xfrm>
              <a:off x="1968" y="28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59" name="Rectangle 13"/>
            <p:cNvSpPr>
              <a:spLocks noChangeArrowheads="1"/>
            </p:cNvSpPr>
            <p:nvPr/>
          </p:nvSpPr>
          <p:spPr bwMode="auto">
            <a:xfrm>
              <a:off x="288" y="52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60" name="Rectangle 14"/>
            <p:cNvSpPr>
              <a:spLocks noChangeArrowheads="1"/>
            </p:cNvSpPr>
            <p:nvPr/>
          </p:nvSpPr>
          <p:spPr bwMode="auto">
            <a:xfrm>
              <a:off x="528" y="52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61" name="Rectangle 15"/>
            <p:cNvSpPr>
              <a:spLocks noChangeArrowheads="1"/>
            </p:cNvSpPr>
            <p:nvPr/>
          </p:nvSpPr>
          <p:spPr bwMode="auto">
            <a:xfrm>
              <a:off x="768" y="528"/>
              <a:ext cx="240" cy="24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62" name="Rectangle 16"/>
            <p:cNvSpPr>
              <a:spLocks noChangeArrowheads="1"/>
            </p:cNvSpPr>
            <p:nvPr/>
          </p:nvSpPr>
          <p:spPr bwMode="auto">
            <a:xfrm>
              <a:off x="1008" y="52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63" name="Rectangle 17"/>
            <p:cNvSpPr>
              <a:spLocks noChangeArrowheads="1"/>
            </p:cNvSpPr>
            <p:nvPr/>
          </p:nvSpPr>
          <p:spPr bwMode="auto">
            <a:xfrm>
              <a:off x="1248" y="52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64" name="Rectangle 18"/>
            <p:cNvSpPr>
              <a:spLocks noChangeArrowheads="1"/>
            </p:cNvSpPr>
            <p:nvPr/>
          </p:nvSpPr>
          <p:spPr bwMode="auto">
            <a:xfrm>
              <a:off x="1488" y="52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65" name="Rectangle 19"/>
            <p:cNvSpPr>
              <a:spLocks noChangeArrowheads="1"/>
            </p:cNvSpPr>
            <p:nvPr/>
          </p:nvSpPr>
          <p:spPr bwMode="auto">
            <a:xfrm>
              <a:off x="1728" y="528"/>
              <a:ext cx="240" cy="24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66" name="Rectangle 20"/>
            <p:cNvSpPr>
              <a:spLocks noChangeArrowheads="1"/>
            </p:cNvSpPr>
            <p:nvPr/>
          </p:nvSpPr>
          <p:spPr bwMode="auto">
            <a:xfrm>
              <a:off x="1968" y="52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67" name="Rectangle 21"/>
            <p:cNvSpPr>
              <a:spLocks noChangeArrowheads="1"/>
            </p:cNvSpPr>
            <p:nvPr/>
          </p:nvSpPr>
          <p:spPr bwMode="auto">
            <a:xfrm>
              <a:off x="288" y="76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68" name="Rectangle 22"/>
            <p:cNvSpPr>
              <a:spLocks noChangeArrowheads="1"/>
            </p:cNvSpPr>
            <p:nvPr/>
          </p:nvSpPr>
          <p:spPr bwMode="auto">
            <a:xfrm>
              <a:off x="528" y="76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69" name="Rectangle 23"/>
            <p:cNvSpPr>
              <a:spLocks noChangeArrowheads="1"/>
            </p:cNvSpPr>
            <p:nvPr/>
          </p:nvSpPr>
          <p:spPr bwMode="auto">
            <a:xfrm>
              <a:off x="768" y="76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70" name="Rectangle 24"/>
            <p:cNvSpPr>
              <a:spLocks noChangeArrowheads="1"/>
            </p:cNvSpPr>
            <p:nvPr/>
          </p:nvSpPr>
          <p:spPr bwMode="auto">
            <a:xfrm>
              <a:off x="1008" y="76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71" name="Rectangle 25"/>
            <p:cNvSpPr>
              <a:spLocks noChangeArrowheads="1"/>
            </p:cNvSpPr>
            <p:nvPr/>
          </p:nvSpPr>
          <p:spPr bwMode="auto">
            <a:xfrm>
              <a:off x="1248" y="768"/>
              <a:ext cx="240" cy="24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72" name="Rectangle 26"/>
            <p:cNvSpPr>
              <a:spLocks noChangeArrowheads="1"/>
            </p:cNvSpPr>
            <p:nvPr/>
          </p:nvSpPr>
          <p:spPr bwMode="auto">
            <a:xfrm>
              <a:off x="1488" y="768"/>
              <a:ext cx="240" cy="24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73" name="Rectangle 27"/>
            <p:cNvSpPr>
              <a:spLocks noChangeArrowheads="1"/>
            </p:cNvSpPr>
            <p:nvPr/>
          </p:nvSpPr>
          <p:spPr bwMode="auto">
            <a:xfrm>
              <a:off x="1728" y="76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74" name="Rectangle 28"/>
            <p:cNvSpPr>
              <a:spLocks noChangeArrowheads="1"/>
            </p:cNvSpPr>
            <p:nvPr/>
          </p:nvSpPr>
          <p:spPr bwMode="auto">
            <a:xfrm>
              <a:off x="1968" y="76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75" name="Rectangle 29"/>
            <p:cNvSpPr>
              <a:spLocks noChangeArrowheads="1"/>
            </p:cNvSpPr>
            <p:nvPr/>
          </p:nvSpPr>
          <p:spPr bwMode="auto">
            <a:xfrm>
              <a:off x="288" y="100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76" name="Rectangle 30"/>
            <p:cNvSpPr>
              <a:spLocks noChangeArrowheads="1"/>
            </p:cNvSpPr>
            <p:nvPr/>
          </p:nvSpPr>
          <p:spPr bwMode="auto">
            <a:xfrm>
              <a:off x="528" y="1008"/>
              <a:ext cx="240" cy="24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77" name="Rectangle 31"/>
            <p:cNvSpPr>
              <a:spLocks noChangeArrowheads="1"/>
            </p:cNvSpPr>
            <p:nvPr/>
          </p:nvSpPr>
          <p:spPr bwMode="auto">
            <a:xfrm>
              <a:off x="768" y="1008"/>
              <a:ext cx="240" cy="24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78" name="Rectangle 32"/>
            <p:cNvSpPr>
              <a:spLocks noChangeArrowheads="1"/>
            </p:cNvSpPr>
            <p:nvPr/>
          </p:nvSpPr>
          <p:spPr bwMode="auto">
            <a:xfrm>
              <a:off x="1008" y="1008"/>
              <a:ext cx="240" cy="24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79" name="Rectangle 33"/>
            <p:cNvSpPr>
              <a:spLocks noChangeArrowheads="1"/>
            </p:cNvSpPr>
            <p:nvPr/>
          </p:nvSpPr>
          <p:spPr bwMode="auto">
            <a:xfrm>
              <a:off x="1248" y="100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80" name="Rectangle 34"/>
            <p:cNvSpPr>
              <a:spLocks noChangeArrowheads="1"/>
            </p:cNvSpPr>
            <p:nvPr/>
          </p:nvSpPr>
          <p:spPr bwMode="auto">
            <a:xfrm>
              <a:off x="1488" y="100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81" name="Rectangle 35"/>
            <p:cNvSpPr>
              <a:spLocks noChangeArrowheads="1"/>
            </p:cNvSpPr>
            <p:nvPr/>
          </p:nvSpPr>
          <p:spPr bwMode="auto">
            <a:xfrm>
              <a:off x="1728" y="100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82" name="Rectangle 36"/>
            <p:cNvSpPr>
              <a:spLocks noChangeArrowheads="1"/>
            </p:cNvSpPr>
            <p:nvPr/>
          </p:nvSpPr>
          <p:spPr bwMode="auto">
            <a:xfrm>
              <a:off x="1968" y="100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83" name="Rectangle 37"/>
            <p:cNvSpPr>
              <a:spLocks noChangeArrowheads="1"/>
            </p:cNvSpPr>
            <p:nvPr/>
          </p:nvSpPr>
          <p:spPr bwMode="auto">
            <a:xfrm>
              <a:off x="288" y="124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84" name="Rectangle 38"/>
            <p:cNvSpPr>
              <a:spLocks noChangeArrowheads="1"/>
            </p:cNvSpPr>
            <p:nvPr/>
          </p:nvSpPr>
          <p:spPr bwMode="auto">
            <a:xfrm>
              <a:off x="528" y="124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85" name="Rectangle 39"/>
            <p:cNvSpPr>
              <a:spLocks noChangeArrowheads="1"/>
            </p:cNvSpPr>
            <p:nvPr/>
          </p:nvSpPr>
          <p:spPr bwMode="auto">
            <a:xfrm>
              <a:off x="768" y="124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86" name="Rectangle 40"/>
            <p:cNvSpPr>
              <a:spLocks noChangeArrowheads="1"/>
            </p:cNvSpPr>
            <p:nvPr/>
          </p:nvSpPr>
          <p:spPr bwMode="auto">
            <a:xfrm>
              <a:off x="1008" y="1248"/>
              <a:ext cx="240" cy="24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87" name="Rectangle 41"/>
            <p:cNvSpPr>
              <a:spLocks noChangeArrowheads="1"/>
            </p:cNvSpPr>
            <p:nvPr/>
          </p:nvSpPr>
          <p:spPr bwMode="auto">
            <a:xfrm>
              <a:off x="1248" y="124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88" name="Rectangle 42"/>
            <p:cNvSpPr>
              <a:spLocks noChangeArrowheads="1"/>
            </p:cNvSpPr>
            <p:nvPr/>
          </p:nvSpPr>
          <p:spPr bwMode="auto">
            <a:xfrm>
              <a:off x="1488" y="124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89" name="Rectangle 43"/>
            <p:cNvSpPr>
              <a:spLocks noChangeArrowheads="1"/>
            </p:cNvSpPr>
            <p:nvPr/>
          </p:nvSpPr>
          <p:spPr bwMode="auto">
            <a:xfrm>
              <a:off x="1728" y="124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90" name="Rectangle 44"/>
            <p:cNvSpPr>
              <a:spLocks noChangeArrowheads="1"/>
            </p:cNvSpPr>
            <p:nvPr/>
          </p:nvSpPr>
          <p:spPr bwMode="auto">
            <a:xfrm>
              <a:off x="1968" y="124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91" name="Rectangle 45"/>
            <p:cNvSpPr>
              <a:spLocks noChangeArrowheads="1"/>
            </p:cNvSpPr>
            <p:nvPr/>
          </p:nvSpPr>
          <p:spPr bwMode="auto">
            <a:xfrm>
              <a:off x="288" y="148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92" name="Rectangle 46"/>
            <p:cNvSpPr>
              <a:spLocks noChangeArrowheads="1"/>
            </p:cNvSpPr>
            <p:nvPr/>
          </p:nvSpPr>
          <p:spPr bwMode="auto">
            <a:xfrm>
              <a:off x="528" y="1488"/>
              <a:ext cx="240" cy="24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93" name="Rectangle 47"/>
            <p:cNvSpPr>
              <a:spLocks noChangeArrowheads="1"/>
            </p:cNvSpPr>
            <p:nvPr/>
          </p:nvSpPr>
          <p:spPr bwMode="auto">
            <a:xfrm>
              <a:off x="768" y="148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94" name="Rectangle 48"/>
            <p:cNvSpPr>
              <a:spLocks noChangeArrowheads="1"/>
            </p:cNvSpPr>
            <p:nvPr/>
          </p:nvSpPr>
          <p:spPr bwMode="auto">
            <a:xfrm>
              <a:off x="1008" y="148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95" name="Rectangle 49"/>
            <p:cNvSpPr>
              <a:spLocks noChangeArrowheads="1"/>
            </p:cNvSpPr>
            <p:nvPr/>
          </p:nvSpPr>
          <p:spPr bwMode="auto">
            <a:xfrm>
              <a:off x="1248" y="148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96" name="Rectangle 50"/>
            <p:cNvSpPr>
              <a:spLocks noChangeArrowheads="1"/>
            </p:cNvSpPr>
            <p:nvPr/>
          </p:nvSpPr>
          <p:spPr bwMode="auto">
            <a:xfrm>
              <a:off x="1488" y="1488"/>
              <a:ext cx="240" cy="24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97" name="Rectangle 51"/>
            <p:cNvSpPr>
              <a:spLocks noChangeArrowheads="1"/>
            </p:cNvSpPr>
            <p:nvPr/>
          </p:nvSpPr>
          <p:spPr bwMode="auto">
            <a:xfrm>
              <a:off x="1728" y="148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98" name="Rectangle 52"/>
            <p:cNvSpPr>
              <a:spLocks noChangeArrowheads="1"/>
            </p:cNvSpPr>
            <p:nvPr/>
          </p:nvSpPr>
          <p:spPr bwMode="auto">
            <a:xfrm>
              <a:off x="1968" y="148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99" name="Rectangle 53"/>
            <p:cNvSpPr>
              <a:spLocks noChangeArrowheads="1"/>
            </p:cNvSpPr>
            <p:nvPr/>
          </p:nvSpPr>
          <p:spPr bwMode="auto">
            <a:xfrm>
              <a:off x="288" y="172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900" name="Rectangle 54"/>
            <p:cNvSpPr>
              <a:spLocks noChangeArrowheads="1"/>
            </p:cNvSpPr>
            <p:nvPr/>
          </p:nvSpPr>
          <p:spPr bwMode="auto">
            <a:xfrm>
              <a:off x="528" y="1728"/>
              <a:ext cx="240" cy="24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901" name="Rectangle 55"/>
            <p:cNvSpPr>
              <a:spLocks noChangeArrowheads="1"/>
            </p:cNvSpPr>
            <p:nvPr/>
          </p:nvSpPr>
          <p:spPr bwMode="auto">
            <a:xfrm>
              <a:off x="768" y="1728"/>
              <a:ext cx="240" cy="24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902" name="Rectangle 56"/>
            <p:cNvSpPr>
              <a:spLocks noChangeArrowheads="1"/>
            </p:cNvSpPr>
            <p:nvPr/>
          </p:nvSpPr>
          <p:spPr bwMode="auto">
            <a:xfrm>
              <a:off x="1008" y="1728"/>
              <a:ext cx="240" cy="24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903" name="Rectangle 57"/>
            <p:cNvSpPr>
              <a:spLocks noChangeArrowheads="1"/>
            </p:cNvSpPr>
            <p:nvPr/>
          </p:nvSpPr>
          <p:spPr bwMode="auto">
            <a:xfrm>
              <a:off x="1248" y="172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904" name="Rectangle 58"/>
            <p:cNvSpPr>
              <a:spLocks noChangeArrowheads="1"/>
            </p:cNvSpPr>
            <p:nvPr/>
          </p:nvSpPr>
          <p:spPr bwMode="auto">
            <a:xfrm>
              <a:off x="1488" y="1728"/>
              <a:ext cx="240" cy="24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905" name="Rectangle 59"/>
            <p:cNvSpPr>
              <a:spLocks noChangeArrowheads="1"/>
            </p:cNvSpPr>
            <p:nvPr/>
          </p:nvSpPr>
          <p:spPr bwMode="auto">
            <a:xfrm>
              <a:off x="1728" y="1728"/>
              <a:ext cx="240" cy="24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906" name="Rectangle 60"/>
            <p:cNvSpPr>
              <a:spLocks noChangeArrowheads="1"/>
            </p:cNvSpPr>
            <p:nvPr/>
          </p:nvSpPr>
          <p:spPr bwMode="auto">
            <a:xfrm>
              <a:off x="1968" y="172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907" name="Rectangle 61"/>
            <p:cNvSpPr>
              <a:spLocks noChangeArrowheads="1"/>
            </p:cNvSpPr>
            <p:nvPr/>
          </p:nvSpPr>
          <p:spPr bwMode="auto">
            <a:xfrm>
              <a:off x="288" y="1968"/>
              <a:ext cx="240" cy="24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908" name="Rectangle 62"/>
            <p:cNvSpPr>
              <a:spLocks noChangeArrowheads="1"/>
            </p:cNvSpPr>
            <p:nvPr/>
          </p:nvSpPr>
          <p:spPr bwMode="auto">
            <a:xfrm>
              <a:off x="528" y="1968"/>
              <a:ext cx="240" cy="24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909" name="Rectangle 63"/>
            <p:cNvSpPr>
              <a:spLocks noChangeArrowheads="1"/>
            </p:cNvSpPr>
            <p:nvPr/>
          </p:nvSpPr>
          <p:spPr bwMode="auto">
            <a:xfrm>
              <a:off x="768" y="196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910" name="Rectangle 64"/>
            <p:cNvSpPr>
              <a:spLocks noChangeArrowheads="1"/>
            </p:cNvSpPr>
            <p:nvPr/>
          </p:nvSpPr>
          <p:spPr bwMode="auto">
            <a:xfrm>
              <a:off x="1008" y="196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911" name="Rectangle 65"/>
            <p:cNvSpPr>
              <a:spLocks noChangeArrowheads="1"/>
            </p:cNvSpPr>
            <p:nvPr/>
          </p:nvSpPr>
          <p:spPr bwMode="auto">
            <a:xfrm>
              <a:off x="1248" y="196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912" name="Rectangle 66"/>
            <p:cNvSpPr>
              <a:spLocks noChangeArrowheads="1"/>
            </p:cNvSpPr>
            <p:nvPr/>
          </p:nvSpPr>
          <p:spPr bwMode="auto">
            <a:xfrm>
              <a:off x="1488" y="196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913" name="Rectangle 67"/>
            <p:cNvSpPr>
              <a:spLocks noChangeArrowheads="1"/>
            </p:cNvSpPr>
            <p:nvPr/>
          </p:nvSpPr>
          <p:spPr bwMode="auto">
            <a:xfrm>
              <a:off x="1728" y="196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914" name="Rectangle 68"/>
            <p:cNvSpPr>
              <a:spLocks noChangeArrowheads="1"/>
            </p:cNvSpPr>
            <p:nvPr/>
          </p:nvSpPr>
          <p:spPr bwMode="auto">
            <a:xfrm>
              <a:off x="1968" y="196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35915" name="Group 75"/>
            <p:cNvGrpSpPr/>
            <p:nvPr/>
          </p:nvGrpSpPr>
          <p:grpSpPr bwMode="auto">
            <a:xfrm>
              <a:off x="288" y="0"/>
              <a:ext cx="1920" cy="240"/>
              <a:chOff x="0" y="0"/>
              <a:chExt cx="1920" cy="240"/>
            </a:xfrm>
          </p:grpSpPr>
          <p:sp>
            <p:nvSpPr>
              <p:cNvPr id="35916" name="Rectangle 70"/>
              <p:cNvSpPr>
                <a:spLocks noChangeArrowheads="1"/>
              </p:cNvSpPr>
              <p:nvPr/>
            </p:nvSpPr>
            <p:spPr bwMode="auto">
              <a:xfrm>
                <a:off x="1680" y="0"/>
                <a:ext cx="240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400">
                    <a:latin typeface="Tahoma" panose="020B0604030504040204" pitchFamily="34" charset="0"/>
                  </a:rPr>
                  <a:t>8</a:t>
                </a: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5917" name="Rectangle 71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40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400">
                    <a:latin typeface="Tahoma" panose="020B0604030504040204" pitchFamily="34" charset="0"/>
                  </a:rPr>
                  <a:t>1</a:t>
                </a: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5918" name="Rectangle 72"/>
              <p:cNvSpPr>
                <a:spLocks noChangeArrowheads="1"/>
              </p:cNvSpPr>
              <p:nvPr/>
            </p:nvSpPr>
            <p:spPr bwMode="auto">
              <a:xfrm>
                <a:off x="240" y="0"/>
                <a:ext cx="240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400">
                    <a:latin typeface="Tahoma" panose="020B0604030504040204" pitchFamily="34" charset="0"/>
                  </a:rPr>
                  <a:t>2</a:t>
                </a: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5919" name="Rectangle 73"/>
              <p:cNvSpPr>
                <a:spLocks noChangeArrowheads="1"/>
              </p:cNvSpPr>
              <p:nvPr/>
            </p:nvSpPr>
            <p:spPr bwMode="auto">
              <a:xfrm>
                <a:off x="480" y="0"/>
                <a:ext cx="240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400">
                    <a:latin typeface="Tahoma" panose="020B0604030504040204" pitchFamily="34" charset="0"/>
                  </a:rPr>
                  <a:t>3</a:t>
                </a: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5920" name="Rectangle 74"/>
              <p:cNvSpPr>
                <a:spLocks noChangeArrowheads="1"/>
              </p:cNvSpPr>
              <p:nvPr/>
            </p:nvSpPr>
            <p:spPr bwMode="auto">
              <a:xfrm>
                <a:off x="720" y="0"/>
                <a:ext cx="240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400">
                    <a:latin typeface="Tahoma" panose="020B0604030504040204" pitchFamily="34" charset="0"/>
                  </a:rPr>
                  <a:t>4</a:t>
                </a: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5921" name="Rectangle 75"/>
              <p:cNvSpPr>
                <a:spLocks noChangeArrowheads="1"/>
              </p:cNvSpPr>
              <p:nvPr/>
            </p:nvSpPr>
            <p:spPr bwMode="auto">
              <a:xfrm>
                <a:off x="960" y="0"/>
                <a:ext cx="240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400">
                    <a:latin typeface="Tahoma" panose="020B0604030504040204" pitchFamily="34" charset="0"/>
                  </a:rPr>
                  <a:t>5</a:t>
                </a: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5922" name="Rectangle 76"/>
              <p:cNvSpPr>
                <a:spLocks noChangeArrowheads="1"/>
              </p:cNvSpPr>
              <p:nvPr/>
            </p:nvSpPr>
            <p:spPr bwMode="auto">
              <a:xfrm>
                <a:off x="1200" y="0"/>
                <a:ext cx="240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400">
                    <a:latin typeface="Tahoma" panose="020B0604030504040204" pitchFamily="34" charset="0"/>
                  </a:rPr>
                  <a:t>6</a:t>
                </a: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5923" name="Rectangle 77"/>
              <p:cNvSpPr>
                <a:spLocks noChangeArrowheads="1"/>
              </p:cNvSpPr>
              <p:nvPr/>
            </p:nvSpPr>
            <p:spPr bwMode="auto">
              <a:xfrm>
                <a:off x="1440" y="0"/>
                <a:ext cx="240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400">
                    <a:latin typeface="Tahoma" panose="020B0604030504040204" pitchFamily="34" charset="0"/>
                  </a:rPr>
                  <a:t>7</a:t>
                </a: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5924" name="Group 84"/>
            <p:cNvGrpSpPr/>
            <p:nvPr/>
          </p:nvGrpSpPr>
          <p:grpSpPr bwMode="auto">
            <a:xfrm>
              <a:off x="0" y="288"/>
              <a:ext cx="240" cy="1920"/>
              <a:chOff x="0" y="0"/>
              <a:chExt cx="240" cy="1920"/>
            </a:xfrm>
          </p:grpSpPr>
          <p:sp>
            <p:nvSpPr>
              <p:cNvPr id="35925" name="Rectangle 79"/>
              <p:cNvSpPr>
                <a:spLocks noChangeArrowheads="1"/>
              </p:cNvSpPr>
              <p:nvPr/>
            </p:nvSpPr>
            <p:spPr bwMode="auto">
              <a:xfrm>
                <a:off x="0" y="1680"/>
                <a:ext cx="240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400">
                    <a:latin typeface="Tahoma" panose="020B0604030504040204" pitchFamily="34" charset="0"/>
                  </a:rPr>
                  <a:t>8</a:t>
                </a: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5926" name="Rectangle 80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40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400">
                    <a:latin typeface="Tahoma" panose="020B0604030504040204" pitchFamily="34" charset="0"/>
                  </a:rPr>
                  <a:t>1</a:t>
                </a: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5927" name="Rectangle 81"/>
              <p:cNvSpPr>
                <a:spLocks noChangeArrowheads="1"/>
              </p:cNvSpPr>
              <p:nvPr/>
            </p:nvSpPr>
            <p:spPr bwMode="auto">
              <a:xfrm>
                <a:off x="0" y="240"/>
                <a:ext cx="240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400">
                    <a:latin typeface="Tahoma" panose="020B0604030504040204" pitchFamily="34" charset="0"/>
                  </a:rPr>
                  <a:t>2</a:t>
                </a: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5928" name="Rectangle 82"/>
              <p:cNvSpPr>
                <a:spLocks noChangeArrowheads="1"/>
              </p:cNvSpPr>
              <p:nvPr/>
            </p:nvSpPr>
            <p:spPr bwMode="auto">
              <a:xfrm>
                <a:off x="0" y="480"/>
                <a:ext cx="240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400">
                    <a:latin typeface="Tahoma" panose="020B0604030504040204" pitchFamily="34" charset="0"/>
                  </a:rPr>
                  <a:t>3</a:t>
                </a: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5929" name="Rectangle 83"/>
              <p:cNvSpPr>
                <a:spLocks noChangeArrowheads="1"/>
              </p:cNvSpPr>
              <p:nvPr/>
            </p:nvSpPr>
            <p:spPr bwMode="auto">
              <a:xfrm>
                <a:off x="0" y="720"/>
                <a:ext cx="240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400">
                    <a:latin typeface="Tahoma" panose="020B0604030504040204" pitchFamily="34" charset="0"/>
                  </a:rPr>
                  <a:t>4</a:t>
                </a: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5930" name="Rectangle 84"/>
              <p:cNvSpPr>
                <a:spLocks noChangeArrowheads="1"/>
              </p:cNvSpPr>
              <p:nvPr/>
            </p:nvSpPr>
            <p:spPr bwMode="auto">
              <a:xfrm>
                <a:off x="0" y="960"/>
                <a:ext cx="240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400">
                    <a:latin typeface="Tahoma" panose="020B0604030504040204" pitchFamily="34" charset="0"/>
                  </a:rPr>
                  <a:t>5</a:t>
                </a: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5931" name="Rectangle 85"/>
              <p:cNvSpPr>
                <a:spLocks noChangeArrowheads="1"/>
              </p:cNvSpPr>
              <p:nvPr/>
            </p:nvSpPr>
            <p:spPr bwMode="auto">
              <a:xfrm>
                <a:off x="0" y="1200"/>
                <a:ext cx="240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400">
                    <a:latin typeface="Tahoma" panose="020B0604030504040204" pitchFamily="34" charset="0"/>
                  </a:rPr>
                  <a:t>6</a:t>
                </a: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5932" name="Rectangle 86"/>
              <p:cNvSpPr>
                <a:spLocks noChangeArrowheads="1"/>
              </p:cNvSpPr>
              <p:nvPr/>
            </p:nvSpPr>
            <p:spPr bwMode="auto">
              <a:xfrm>
                <a:off x="0" y="1440"/>
                <a:ext cx="240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400">
                    <a:latin typeface="Tahoma" panose="020B0604030504040204" pitchFamily="34" charset="0"/>
                  </a:rPr>
                  <a:t>7</a:t>
                </a: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</p:grpSp>
      </p:grpSp>
      <p:grpSp>
        <p:nvGrpSpPr>
          <p:cNvPr id="35933" name="Group 93"/>
          <p:cNvGrpSpPr/>
          <p:nvPr/>
        </p:nvGrpSpPr>
        <p:grpSpPr bwMode="auto">
          <a:xfrm>
            <a:off x="1052513" y="2833688"/>
            <a:ext cx="3524250" cy="3475037"/>
            <a:chOff x="0" y="0"/>
            <a:chExt cx="2220" cy="2189"/>
          </a:xfrm>
        </p:grpSpPr>
        <p:pic>
          <p:nvPicPr>
            <p:cNvPr id="35934" name="Picture 94" descr="zoulu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28" y="0"/>
              <a:ext cx="492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935" name="Rectangle 100"/>
            <p:cNvSpPr>
              <a:spLocks noChangeArrowheads="1"/>
            </p:cNvSpPr>
            <p:nvPr/>
          </p:nvSpPr>
          <p:spPr bwMode="auto">
            <a:xfrm>
              <a:off x="0" y="2007"/>
              <a:ext cx="912" cy="182"/>
            </a:xfrm>
            <a:prstGeom prst="rect">
              <a:avLst/>
            </a:prstGeom>
            <a:solidFill>
              <a:srgbClr val="C0C0C0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>
                  <a:latin typeface="楷体_GB2312" pitchFamily="1" charset="-122"/>
                  <a:ea typeface="楷体_GB2312" pitchFamily="1" charset="-122"/>
                </a:rPr>
                <a:t>(1,1)</a:t>
              </a:r>
              <a:endParaRPr lang="zh-CN" altLang="en-US" sz="2000" b="1">
                <a:latin typeface="楷体_GB2312" pitchFamily="1" charset="-122"/>
                <a:ea typeface="楷体_GB2312" pitchFamily="1" charset="-122"/>
              </a:endParaRPr>
            </a:p>
          </p:txBody>
        </p:sp>
      </p:grpSp>
      <p:grpSp>
        <p:nvGrpSpPr>
          <p:cNvPr id="35936" name="Group 96"/>
          <p:cNvGrpSpPr/>
          <p:nvPr/>
        </p:nvGrpSpPr>
        <p:grpSpPr bwMode="auto">
          <a:xfrm>
            <a:off x="1050925" y="2840832"/>
            <a:ext cx="3544888" cy="3181350"/>
            <a:chOff x="-4" y="0"/>
            <a:chExt cx="2233" cy="2004"/>
          </a:xfrm>
        </p:grpSpPr>
        <p:sp>
          <p:nvSpPr>
            <p:cNvPr id="35937" name="Rectangle 170"/>
            <p:cNvSpPr>
              <a:spLocks noChangeArrowheads="1"/>
            </p:cNvSpPr>
            <p:nvPr/>
          </p:nvSpPr>
          <p:spPr bwMode="auto">
            <a:xfrm>
              <a:off x="2025" y="0"/>
              <a:ext cx="204" cy="22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latin typeface="Tahoma" panose="020B0604030504040204" pitchFamily="34" charset="0"/>
                </a:rPr>
                <a:t>i</a:t>
              </a:r>
              <a:endParaRPr lang="en-US" altLang="zh-CN" sz="2000">
                <a:latin typeface="Tahoma" panose="020B0604030504040204" pitchFamily="34" charset="0"/>
              </a:endParaRPr>
            </a:p>
          </p:txBody>
        </p:sp>
        <p:pic>
          <p:nvPicPr>
            <p:cNvPr id="35938" name="Picture 171" descr="zoulu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0" y="258"/>
              <a:ext cx="546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939" name="Rectangle 174"/>
            <p:cNvSpPr>
              <a:spLocks noChangeArrowheads="1"/>
            </p:cNvSpPr>
            <p:nvPr/>
          </p:nvSpPr>
          <p:spPr bwMode="auto">
            <a:xfrm>
              <a:off x="-4" y="1801"/>
              <a:ext cx="911" cy="203"/>
            </a:xfrm>
            <a:prstGeom prst="rect">
              <a:avLst/>
            </a:prstGeom>
            <a:solidFill>
              <a:srgbClr val="FFCC99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>
                  <a:latin typeface="楷体_GB2312" pitchFamily="1" charset="-122"/>
                  <a:ea typeface="楷体_GB2312" pitchFamily="1" charset="-122"/>
                </a:rPr>
                <a:t>(2,1)</a:t>
              </a:r>
              <a:endParaRPr lang="zh-CN" altLang="en-US" sz="2000" b="1">
                <a:latin typeface="楷体_GB2312" pitchFamily="1" charset="-122"/>
                <a:ea typeface="楷体_GB2312" pitchFamily="1" charset="-122"/>
              </a:endParaRPr>
            </a:p>
          </p:txBody>
        </p:sp>
      </p:grpSp>
      <p:grpSp>
        <p:nvGrpSpPr>
          <p:cNvPr id="35940" name="Group 100"/>
          <p:cNvGrpSpPr/>
          <p:nvPr/>
        </p:nvGrpSpPr>
        <p:grpSpPr bwMode="auto">
          <a:xfrm>
            <a:off x="1052513" y="3205163"/>
            <a:ext cx="3538537" cy="2495550"/>
            <a:chOff x="0" y="0"/>
            <a:chExt cx="2229" cy="1572"/>
          </a:xfrm>
        </p:grpSpPr>
        <p:sp>
          <p:nvSpPr>
            <p:cNvPr id="35941" name="Rectangle 185"/>
            <p:cNvSpPr>
              <a:spLocks noChangeArrowheads="1"/>
            </p:cNvSpPr>
            <p:nvPr/>
          </p:nvSpPr>
          <p:spPr bwMode="auto">
            <a:xfrm>
              <a:off x="2025" y="0"/>
              <a:ext cx="204" cy="22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latin typeface="Tahoma" panose="020B0604030504040204" pitchFamily="34" charset="0"/>
                </a:rPr>
                <a:t>i</a:t>
              </a:r>
              <a:endParaRPr lang="en-US" altLang="zh-CN" sz="2000">
                <a:latin typeface="Tahoma" panose="020B0604030504040204" pitchFamily="34" charset="0"/>
              </a:endParaRPr>
            </a:p>
          </p:txBody>
        </p:sp>
        <p:pic>
          <p:nvPicPr>
            <p:cNvPr id="35942" name="Picture 186" descr="zoulu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8" y="251"/>
              <a:ext cx="546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943" name="Rectangle 188"/>
            <p:cNvSpPr>
              <a:spLocks noChangeArrowheads="1"/>
            </p:cNvSpPr>
            <p:nvPr/>
          </p:nvSpPr>
          <p:spPr bwMode="auto">
            <a:xfrm>
              <a:off x="0" y="1369"/>
              <a:ext cx="911" cy="203"/>
            </a:xfrm>
            <a:prstGeom prst="rect">
              <a:avLst/>
            </a:prstGeom>
            <a:solidFill>
              <a:srgbClr val="FFCC99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>
                  <a:latin typeface="楷体_GB2312" pitchFamily="1" charset="-122"/>
                  <a:ea typeface="楷体_GB2312" pitchFamily="1" charset="-122"/>
                </a:rPr>
                <a:t>(3,1)</a:t>
              </a:r>
              <a:endParaRPr lang="zh-CN" altLang="en-US" sz="2000" b="1">
                <a:latin typeface="楷体_GB2312" pitchFamily="1" charset="-122"/>
                <a:ea typeface="楷体_GB2312" pitchFamily="1" charset="-122"/>
              </a:endParaRPr>
            </a:p>
          </p:txBody>
        </p:sp>
      </p:grpSp>
      <p:grpSp>
        <p:nvGrpSpPr>
          <p:cNvPr id="35944" name="Group 104"/>
          <p:cNvGrpSpPr/>
          <p:nvPr/>
        </p:nvGrpSpPr>
        <p:grpSpPr bwMode="auto">
          <a:xfrm>
            <a:off x="1052513" y="3597275"/>
            <a:ext cx="3538537" cy="1779587"/>
            <a:chOff x="0" y="0"/>
            <a:chExt cx="2229" cy="1121"/>
          </a:xfrm>
        </p:grpSpPr>
        <p:sp>
          <p:nvSpPr>
            <p:cNvPr id="35945" name="Rectangle 193"/>
            <p:cNvSpPr>
              <a:spLocks noChangeArrowheads="1"/>
            </p:cNvSpPr>
            <p:nvPr/>
          </p:nvSpPr>
          <p:spPr bwMode="auto">
            <a:xfrm>
              <a:off x="2025" y="0"/>
              <a:ext cx="204" cy="22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latin typeface="Tahoma" panose="020B0604030504040204" pitchFamily="34" charset="0"/>
                </a:rPr>
                <a:t>i</a:t>
              </a:r>
              <a:endParaRPr lang="en-US" altLang="zh-CN" sz="2000">
                <a:latin typeface="Tahoma" panose="020B0604030504040204" pitchFamily="34" charset="0"/>
              </a:endParaRPr>
            </a:p>
          </p:txBody>
        </p:sp>
        <p:pic>
          <p:nvPicPr>
            <p:cNvPr id="35946" name="Picture 194" descr="zoulu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8" y="251"/>
              <a:ext cx="546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947" name="Rectangle 195"/>
            <p:cNvSpPr>
              <a:spLocks noChangeArrowheads="1"/>
            </p:cNvSpPr>
            <p:nvPr/>
          </p:nvSpPr>
          <p:spPr bwMode="auto">
            <a:xfrm>
              <a:off x="0" y="918"/>
              <a:ext cx="911" cy="203"/>
            </a:xfrm>
            <a:prstGeom prst="rect">
              <a:avLst/>
            </a:prstGeom>
            <a:solidFill>
              <a:srgbClr val="FFCC99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>
                  <a:latin typeface="楷体_GB2312" pitchFamily="1" charset="-122"/>
                  <a:ea typeface="楷体_GB2312" pitchFamily="1" charset="-122"/>
                </a:rPr>
                <a:t>(4,1)</a:t>
              </a:r>
              <a:endParaRPr lang="zh-CN" altLang="en-US" sz="2000" b="1">
                <a:latin typeface="楷体_GB2312" pitchFamily="1" charset="-122"/>
                <a:ea typeface="楷体_GB2312" pitchFamily="1" charset="-122"/>
              </a:endParaRPr>
            </a:p>
          </p:txBody>
        </p:sp>
      </p:grpSp>
      <p:grpSp>
        <p:nvGrpSpPr>
          <p:cNvPr id="35948" name="Group 108"/>
          <p:cNvGrpSpPr/>
          <p:nvPr/>
        </p:nvGrpSpPr>
        <p:grpSpPr bwMode="auto">
          <a:xfrm>
            <a:off x="1052513" y="3967019"/>
            <a:ext cx="3538537" cy="1081088"/>
            <a:chOff x="0" y="0"/>
            <a:chExt cx="2229" cy="681"/>
          </a:xfrm>
        </p:grpSpPr>
        <p:sp>
          <p:nvSpPr>
            <p:cNvPr id="35949" name="Rectangle 198"/>
            <p:cNvSpPr>
              <a:spLocks noChangeArrowheads="1"/>
            </p:cNvSpPr>
            <p:nvPr/>
          </p:nvSpPr>
          <p:spPr bwMode="auto">
            <a:xfrm>
              <a:off x="2025" y="0"/>
              <a:ext cx="204" cy="22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latin typeface="Tahoma" panose="020B0604030504040204" pitchFamily="34" charset="0"/>
                </a:rPr>
                <a:t>i</a:t>
              </a:r>
              <a:endParaRPr lang="en-US" altLang="zh-CN" sz="2000">
                <a:latin typeface="Tahoma" panose="020B0604030504040204" pitchFamily="34" charset="0"/>
              </a:endParaRPr>
            </a:p>
          </p:txBody>
        </p:sp>
        <p:pic>
          <p:nvPicPr>
            <p:cNvPr id="35950" name="Picture 199" descr="zoulu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8" y="251"/>
              <a:ext cx="546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951" name="Rectangle 200"/>
            <p:cNvSpPr>
              <a:spLocks noChangeArrowheads="1"/>
            </p:cNvSpPr>
            <p:nvPr/>
          </p:nvSpPr>
          <p:spPr bwMode="auto">
            <a:xfrm>
              <a:off x="0" y="478"/>
              <a:ext cx="911" cy="203"/>
            </a:xfrm>
            <a:prstGeom prst="rect">
              <a:avLst/>
            </a:prstGeom>
            <a:solidFill>
              <a:srgbClr val="FFCC99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>
                  <a:latin typeface="楷体_GB2312" pitchFamily="1" charset="-122"/>
                  <a:ea typeface="楷体_GB2312" pitchFamily="1" charset="-122"/>
                </a:rPr>
                <a:t>(5,1)</a:t>
              </a:r>
              <a:endParaRPr lang="zh-CN" altLang="en-US" sz="2000" b="1">
                <a:latin typeface="楷体_GB2312" pitchFamily="1" charset="-122"/>
                <a:ea typeface="楷体_GB2312" pitchFamily="1" charset="-122"/>
              </a:endParaRPr>
            </a:p>
          </p:txBody>
        </p:sp>
      </p:grpSp>
      <p:grpSp>
        <p:nvGrpSpPr>
          <p:cNvPr id="35952" name="Group 112"/>
          <p:cNvGrpSpPr/>
          <p:nvPr/>
        </p:nvGrpSpPr>
        <p:grpSpPr bwMode="auto">
          <a:xfrm>
            <a:off x="1052513" y="4343400"/>
            <a:ext cx="3552825" cy="742950"/>
            <a:chOff x="0" y="0"/>
            <a:chExt cx="2238" cy="468"/>
          </a:xfrm>
        </p:grpSpPr>
        <p:sp>
          <p:nvSpPr>
            <p:cNvPr id="35953" name="Rectangle 203"/>
            <p:cNvSpPr>
              <a:spLocks noChangeArrowheads="1"/>
            </p:cNvSpPr>
            <p:nvPr/>
          </p:nvSpPr>
          <p:spPr bwMode="auto">
            <a:xfrm>
              <a:off x="2034" y="0"/>
              <a:ext cx="204" cy="22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latin typeface="Tahoma" panose="020B0604030504040204" pitchFamily="34" charset="0"/>
                </a:rPr>
                <a:t>i</a:t>
              </a:r>
              <a:endParaRPr lang="en-US" altLang="zh-CN" sz="2000">
                <a:latin typeface="Tahoma" panose="020B0604030504040204" pitchFamily="34" charset="0"/>
              </a:endParaRPr>
            </a:p>
          </p:txBody>
        </p:sp>
        <p:pic>
          <p:nvPicPr>
            <p:cNvPr id="35954" name="Picture 204" descr="zoulu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8" y="260"/>
              <a:ext cx="546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955" name="Rectangle 205"/>
            <p:cNvSpPr>
              <a:spLocks noChangeArrowheads="1"/>
            </p:cNvSpPr>
            <p:nvPr/>
          </p:nvSpPr>
          <p:spPr bwMode="auto">
            <a:xfrm>
              <a:off x="0" y="36"/>
              <a:ext cx="911" cy="203"/>
            </a:xfrm>
            <a:prstGeom prst="rect">
              <a:avLst/>
            </a:prstGeom>
            <a:solidFill>
              <a:srgbClr val="FFCC99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>
                  <a:latin typeface="楷体_GB2312" pitchFamily="1" charset="-122"/>
                  <a:ea typeface="楷体_GB2312" pitchFamily="1" charset="-122"/>
                </a:rPr>
                <a:t>(6,1)</a:t>
              </a:r>
              <a:endParaRPr lang="zh-CN" altLang="en-US" sz="2000" b="1">
                <a:latin typeface="楷体_GB2312" pitchFamily="1" charset="-122"/>
                <a:ea typeface="楷体_GB2312" pitchFamily="1" charset="-122"/>
              </a:endParaRPr>
            </a:p>
          </p:txBody>
        </p:sp>
      </p:grpSp>
      <p:grpSp>
        <p:nvGrpSpPr>
          <p:cNvPr id="35956" name="Group 116"/>
          <p:cNvGrpSpPr/>
          <p:nvPr/>
        </p:nvGrpSpPr>
        <p:grpSpPr bwMode="auto">
          <a:xfrm>
            <a:off x="1057275" y="4081463"/>
            <a:ext cx="3562350" cy="1376362"/>
            <a:chOff x="0" y="0"/>
            <a:chExt cx="2244" cy="867"/>
          </a:xfrm>
        </p:grpSpPr>
        <p:pic>
          <p:nvPicPr>
            <p:cNvPr id="35957" name="Picture 208" descr="zoulu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8" y="659"/>
              <a:ext cx="546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958" name="Rectangle 209"/>
            <p:cNvSpPr>
              <a:spLocks noChangeArrowheads="1"/>
            </p:cNvSpPr>
            <p:nvPr/>
          </p:nvSpPr>
          <p:spPr bwMode="auto">
            <a:xfrm>
              <a:off x="0" y="0"/>
              <a:ext cx="911" cy="203"/>
            </a:xfrm>
            <a:prstGeom prst="rect">
              <a:avLst/>
            </a:prstGeom>
            <a:solidFill>
              <a:srgbClr val="FFCC99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>
                  <a:latin typeface="楷体_GB2312" pitchFamily="1" charset="-122"/>
                  <a:ea typeface="楷体_GB2312" pitchFamily="1" charset="-122"/>
                </a:rPr>
                <a:t>(7,1)</a:t>
              </a:r>
              <a:endParaRPr lang="zh-CN" altLang="en-US" sz="2000" b="1">
                <a:latin typeface="楷体_GB2312" pitchFamily="1" charset="-122"/>
                <a:ea typeface="楷体_GB2312" pitchFamily="1" charset="-122"/>
              </a:endParaRPr>
            </a:p>
          </p:txBody>
        </p:sp>
        <p:sp>
          <p:nvSpPr>
            <p:cNvPr id="35959" name="Rectangle 210"/>
            <p:cNvSpPr>
              <a:spLocks noChangeArrowheads="1"/>
            </p:cNvSpPr>
            <p:nvPr/>
          </p:nvSpPr>
          <p:spPr bwMode="auto">
            <a:xfrm>
              <a:off x="2040" y="405"/>
              <a:ext cx="204" cy="22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latin typeface="Tahoma" panose="020B0604030504040204" pitchFamily="34" charset="0"/>
                </a:rPr>
                <a:t>i</a:t>
              </a:r>
              <a:endParaRPr lang="en-US" altLang="zh-CN" sz="2000">
                <a:latin typeface="Tahoma" panose="020B0604030504040204" pitchFamily="34" charset="0"/>
              </a:endParaRPr>
            </a:p>
          </p:txBody>
        </p:sp>
      </p:grpSp>
      <p:sp>
        <p:nvSpPr>
          <p:cNvPr id="121" name="Rectangle 3"/>
          <p:cNvSpPr txBox="1"/>
          <p:nvPr/>
        </p:nvSpPr>
        <p:spPr bwMode="auto">
          <a:xfrm>
            <a:off x="276023" y="255021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Maze Routing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5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5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5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5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5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35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5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67" name="Group 3"/>
          <p:cNvGrpSpPr/>
          <p:nvPr/>
        </p:nvGrpSpPr>
        <p:grpSpPr bwMode="auto">
          <a:xfrm>
            <a:off x="1043110" y="1495425"/>
            <a:ext cx="1477840" cy="4814888"/>
            <a:chOff x="0" y="0"/>
            <a:chExt cx="1056" cy="1392"/>
          </a:xfrm>
        </p:grpSpPr>
        <p:sp>
          <p:nvSpPr>
            <p:cNvPr id="36868" name="Line 4"/>
            <p:cNvSpPr>
              <a:spLocks noChangeShapeType="1"/>
            </p:cNvSpPr>
            <p:nvPr/>
          </p:nvSpPr>
          <p:spPr bwMode="auto">
            <a:xfrm>
              <a:off x="0" y="0"/>
              <a:ext cx="0" cy="1392"/>
            </a:xfrm>
            <a:prstGeom prst="line">
              <a:avLst/>
            </a:prstGeom>
            <a:noFill/>
            <a:ln w="28575" cmpd="sng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869" name="Line 5"/>
            <p:cNvSpPr>
              <a:spLocks noChangeShapeType="1"/>
            </p:cNvSpPr>
            <p:nvPr/>
          </p:nvSpPr>
          <p:spPr bwMode="auto">
            <a:xfrm>
              <a:off x="1056" y="0"/>
              <a:ext cx="0" cy="1392"/>
            </a:xfrm>
            <a:prstGeom prst="line">
              <a:avLst/>
            </a:prstGeom>
            <a:noFill/>
            <a:ln w="28575" cmpd="sng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870" name="Line 6"/>
            <p:cNvSpPr>
              <a:spLocks noChangeShapeType="1"/>
            </p:cNvSpPr>
            <p:nvPr/>
          </p:nvSpPr>
          <p:spPr bwMode="auto">
            <a:xfrm>
              <a:off x="0" y="1392"/>
              <a:ext cx="1056" cy="0"/>
            </a:xfrm>
            <a:prstGeom prst="line">
              <a:avLst/>
            </a:prstGeom>
            <a:noFill/>
            <a:ln w="28575" cmpd="sng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6874" name="Group 10"/>
          <p:cNvGrpSpPr/>
          <p:nvPr/>
        </p:nvGrpSpPr>
        <p:grpSpPr bwMode="auto">
          <a:xfrm>
            <a:off x="3795713" y="2347913"/>
            <a:ext cx="3505200" cy="3505200"/>
            <a:chOff x="0" y="0"/>
            <a:chExt cx="2208" cy="2208"/>
          </a:xfrm>
        </p:grpSpPr>
        <p:sp>
          <p:nvSpPr>
            <p:cNvPr id="36875" name="Rectangle 11"/>
            <p:cNvSpPr>
              <a:spLocks noChangeArrowheads="1"/>
            </p:cNvSpPr>
            <p:nvPr/>
          </p:nvSpPr>
          <p:spPr bwMode="auto">
            <a:xfrm>
              <a:off x="288" y="28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876" name="Rectangle 12"/>
            <p:cNvSpPr>
              <a:spLocks noChangeArrowheads="1"/>
            </p:cNvSpPr>
            <p:nvPr/>
          </p:nvSpPr>
          <p:spPr bwMode="auto">
            <a:xfrm>
              <a:off x="528" y="28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877" name="Rectangle 13"/>
            <p:cNvSpPr>
              <a:spLocks noChangeArrowheads="1"/>
            </p:cNvSpPr>
            <p:nvPr/>
          </p:nvSpPr>
          <p:spPr bwMode="auto">
            <a:xfrm>
              <a:off x="768" y="288"/>
              <a:ext cx="240" cy="24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878" name="Rectangle 14"/>
            <p:cNvSpPr>
              <a:spLocks noChangeArrowheads="1"/>
            </p:cNvSpPr>
            <p:nvPr/>
          </p:nvSpPr>
          <p:spPr bwMode="auto">
            <a:xfrm>
              <a:off x="1008" y="28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879" name="Rectangle 15"/>
            <p:cNvSpPr>
              <a:spLocks noChangeArrowheads="1"/>
            </p:cNvSpPr>
            <p:nvPr/>
          </p:nvSpPr>
          <p:spPr bwMode="auto">
            <a:xfrm>
              <a:off x="1248" y="28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880" name="Rectangle 16"/>
            <p:cNvSpPr>
              <a:spLocks noChangeArrowheads="1"/>
            </p:cNvSpPr>
            <p:nvPr/>
          </p:nvSpPr>
          <p:spPr bwMode="auto">
            <a:xfrm>
              <a:off x="1488" y="28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881" name="Rectangle 17"/>
            <p:cNvSpPr>
              <a:spLocks noChangeArrowheads="1"/>
            </p:cNvSpPr>
            <p:nvPr/>
          </p:nvSpPr>
          <p:spPr bwMode="auto">
            <a:xfrm>
              <a:off x="1728" y="288"/>
              <a:ext cx="240" cy="24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882" name="Rectangle 18"/>
            <p:cNvSpPr>
              <a:spLocks noChangeArrowheads="1"/>
            </p:cNvSpPr>
            <p:nvPr/>
          </p:nvSpPr>
          <p:spPr bwMode="auto">
            <a:xfrm>
              <a:off x="1968" y="28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883" name="Rectangle 19"/>
            <p:cNvSpPr>
              <a:spLocks noChangeArrowheads="1"/>
            </p:cNvSpPr>
            <p:nvPr/>
          </p:nvSpPr>
          <p:spPr bwMode="auto">
            <a:xfrm>
              <a:off x="288" y="52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884" name="Rectangle 20"/>
            <p:cNvSpPr>
              <a:spLocks noChangeArrowheads="1"/>
            </p:cNvSpPr>
            <p:nvPr/>
          </p:nvSpPr>
          <p:spPr bwMode="auto">
            <a:xfrm>
              <a:off x="528" y="52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885" name="Rectangle 21"/>
            <p:cNvSpPr>
              <a:spLocks noChangeArrowheads="1"/>
            </p:cNvSpPr>
            <p:nvPr/>
          </p:nvSpPr>
          <p:spPr bwMode="auto">
            <a:xfrm>
              <a:off x="768" y="528"/>
              <a:ext cx="240" cy="24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886" name="Rectangle 22"/>
            <p:cNvSpPr>
              <a:spLocks noChangeArrowheads="1"/>
            </p:cNvSpPr>
            <p:nvPr/>
          </p:nvSpPr>
          <p:spPr bwMode="auto">
            <a:xfrm>
              <a:off x="1008" y="52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887" name="Rectangle 23"/>
            <p:cNvSpPr>
              <a:spLocks noChangeArrowheads="1"/>
            </p:cNvSpPr>
            <p:nvPr/>
          </p:nvSpPr>
          <p:spPr bwMode="auto">
            <a:xfrm>
              <a:off x="1248" y="52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888" name="Rectangle 24"/>
            <p:cNvSpPr>
              <a:spLocks noChangeArrowheads="1"/>
            </p:cNvSpPr>
            <p:nvPr/>
          </p:nvSpPr>
          <p:spPr bwMode="auto">
            <a:xfrm>
              <a:off x="1488" y="52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889" name="Rectangle 25"/>
            <p:cNvSpPr>
              <a:spLocks noChangeArrowheads="1"/>
            </p:cNvSpPr>
            <p:nvPr/>
          </p:nvSpPr>
          <p:spPr bwMode="auto">
            <a:xfrm>
              <a:off x="1728" y="528"/>
              <a:ext cx="240" cy="24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890" name="Rectangle 26"/>
            <p:cNvSpPr>
              <a:spLocks noChangeArrowheads="1"/>
            </p:cNvSpPr>
            <p:nvPr/>
          </p:nvSpPr>
          <p:spPr bwMode="auto">
            <a:xfrm>
              <a:off x="1968" y="52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891" name="Rectangle 27"/>
            <p:cNvSpPr>
              <a:spLocks noChangeArrowheads="1"/>
            </p:cNvSpPr>
            <p:nvPr/>
          </p:nvSpPr>
          <p:spPr bwMode="auto">
            <a:xfrm>
              <a:off x="288" y="76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892" name="Rectangle 28"/>
            <p:cNvSpPr>
              <a:spLocks noChangeArrowheads="1"/>
            </p:cNvSpPr>
            <p:nvPr/>
          </p:nvSpPr>
          <p:spPr bwMode="auto">
            <a:xfrm>
              <a:off x="528" y="76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893" name="Rectangle 29"/>
            <p:cNvSpPr>
              <a:spLocks noChangeArrowheads="1"/>
            </p:cNvSpPr>
            <p:nvPr/>
          </p:nvSpPr>
          <p:spPr bwMode="auto">
            <a:xfrm>
              <a:off x="768" y="76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894" name="Rectangle 30"/>
            <p:cNvSpPr>
              <a:spLocks noChangeArrowheads="1"/>
            </p:cNvSpPr>
            <p:nvPr/>
          </p:nvSpPr>
          <p:spPr bwMode="auto">
            <a:xfrm>
              <a:off x="1008" y="76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895" name="Rectangle 31"/>
            <p:cNvSpPr>
              <a:spLocks noChangeArrowheads="1"/>
            </p:cNvSpPr>
            <p:nvPr/>
          </p:nvSpPr>
          <p:spPr bwMode="auto">
            <a:xfrm>
              <a:off x="1248" y="768"/>
              <a:ext cx="240" cy="24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896" name="Rectangle 32"/>
            <p:cNvSpPr>
              <a:spLocks noChangeArrowheads="1"/>
            </p:cNvSpPr>
            <p:nvPr/>
          </p:nvSpPr>
          <p:spPr bwMode="auto">
            <a:xfrm>
              <a:off x="1488" y="768"/>
              <a:ext cx="240" cy="24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897" name="Rectangle 33"/>
            <p:cNvSpPr>
              <a:spLocks noChangeArrowheads="1"/>
            </p:cNvSpPr>
            <p:nvPr/>
          </p:nvSpPr>
          <p:spPr bwMode="auto">
            <a:xfrm>
              <a:off x="1728" y="76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898" name="Rectangle 34"/>
            <p:cNvSpPr>
              <a:spLocks noChangeArrowheads="1"/>
            </p:cNvSpPr>
            <p:nvPr/>
          </p:nvSpPr>
          <p:spPr bwMode="auto">
            <a:xfrm>
              <a:off x="1968" y="76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899" name="Rectangle 35"/>
            <p:cNvSpPr>
              <a:spLocks noChangeArrowheads="1"/>
            </p:cNvSpPr>
            <p:nvPr/>
          </p:nvSpPr>
          <p:spPr bwMode="auto">
            <a:xfrm>
              <a:off x="288" y="100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900" name="Rectangle 36"/>
            <p:cNvSpPr>
              <a:spLocks noChangeArrowheads="1"/>
            </p:cNvSpPr>
            <p:nvPr/>
          </p:nvSpPr>
          <p:spPr bwMode="auto">
            <a:xfrm>
              <a:off x="528" y="1008"/>
              <a:ext cx="240" cy="24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901" name="Rectangle 37"/>
            <p:cNvSpPr>
              <a:spLocks noChangeArrowheads="1"/>
            </p:cNvSpPr>
            <p:nvPr/>
          </p:nvSpPr>
          <p:spPr bwMode="auto">
            <a:xfrm>
              <a:off x="768" y="1008"/>
              <a:ext cx="240" cy="24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902" name="Rectangle 38"/>
            <p:cNvSpPr>
              <a:spLocks noChangeArrowheads="1"/>
            </p:cNvSpPr>
            <p:nvPr/>
          </p:nvSpPr>
          <p:spPr bwMode="auto">
            <a:xfrm>
              <a:off x="1008" y="1008"/>
              <a:ext cx="240" cy="24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903" name="Rectangle 39"/>
            <p:cNvSpPr>
              <a:spLocks noChangeArrowheads="1"/>
            </p:cNvSpPr>
            <p:nvPr/>
          </p:nvSpPr>
          <p:spPr bwMode="auto">
            <a:xfrm>
              <a:off x="1248" y="100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904" name="Rectangle 40"/>
            <p:cNvSpPr>
              <a:spLocks noChangeArrowheads="1"/>
            </p:cNvSpPr>
            <p:nvPr/>
          </p:nvSpPr>
          <p:spPr bwMode="auto">
            <a:xfrm>
              <a:off x="1488" y="100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905" name="Rectangle 41"/>
            <p:cNvSpPr>
              <a:spLocks noChangeArrowheads="1"/>
            </p:cNvSpPr>
            <p:nvPr/>
          </p:nvSpPr>
          <p:spPr bwMode="auto">
            <a:xfrm>
              <a:off x="1728" y="100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906" name="Rectangle 42"/>
            <p:cNvSpPr>
              <a:spLocks noChangeArrowheads="1"/>
            </p:cNvSpPr>
            <p:nvPr/>
          </p:nvSpPr>
          <p:spPr bwMode="auto">
            <a:xfrm>
              <a:off x="1968" y="100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907" name="Rectangle 43"/>
            <p:cNvSpPr>
              <a:spLocks noChangeArrowheads="1"/>
            </p:cNvSpPr>
            <p:nvPr/>
          </p:nvSpPr>
          <p:spPr bwMode="auto">
            <a:xfrm>
              <a:off x="288" y="124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908" name="Rectangle 44"/>
            <p:cNvSpPr>
              <a:spLocks noChangeArrowheads="1"/>
            </p:cNvSpPr>
            <p:nvPr/>
          </p:nvSpPr>
          <p:spPr bwMode="auto">
            <a:xfrm>
              <a:off x="528" y="124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909" name="Rectangle 45"/>
            <p:cNvSpPr>
              <a:spLocks noChangeArrowheads="1"/>
            </p:cNvSpPr>
            <p:nvPr/>
          </p:nvSpPr>
          <p:spPr bwMode="auto">
            <a:xfrm>
              <a:off x="768" y="124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910" name="Rectangle 46"/>
            <p:cNvSpPr>
              <a:spLocks noChangeArrowheads="1"/>
            </p:cNvSpPr>
            <p:nvPr/>
          </p:nvSpPr>
          <p:spPr bwMode="auto">
            <a:xfrm>
              <a:off x="1008" y="1248"/>
              <a:ext cx="240" cy="24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911" name="Rectangle 47"/>
            <p:cNvSpPr>
              <a:spLocks noChangeArrowheads="1"/>
            </p:cNvSpPr>
            <p:nvPr/>
          </p:nvSpPr>
          <p:spPr bwMode="auto">
            <a:xfrm>
              <a:off x="1248" y="124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912" name="Rectangle 48"/>
            <p:cNvSpPr>
              <a:spLocks noChangeArrowheads="1"/>
            </p:cNvSpPr>
            <p:nvPr/>
          </p:nvSpPr>
          <p:spPr bwMode="auto">
            <a:xfrm>
              <a:off x="1488" y="124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913" name="Rectangle 49"/>
            <p:cNvSpPr>
              <a:spLocks noChangeArrowheads="1"/>
            </p:cNvSpPr>
            <p:nvPr/>
          </p:nvSpPr>
          <p:spPr bwMode="auto">
            <a:xfrm>
              <a:off x="1728" y="124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914" name="Rectangle 50"/>
            <p:cNvSpPr>
              <a:spLocks noChangeArrowheads="1"/>
            </p:cNvSpPr>
            <p:nvPr/>
          </p:nvSpPr>
          <p:spPr bwMode="auto">
            <a:xfrm>
              <a:off x="1968" y="124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915" name="Rectangle 51"/>
            <p:cNvSpPr>
              <a:spLocks noChangeArrowheads="1"/>
            </p:cNvSpPr>
            <p:nvPr/>
          </p:nvSpPr>
          <p:spPr bwMode="auto">
            <a:xfrm>
              <a:off x="288" y="148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916" name="Rectangle 52"/>
            <p:cNvSpPr>
              <a:spLocks noChangeArrowheads="1"/>
            </p:cNvSpPr>
            <p:nvPr/>
          </p:nvSpPr>
          <p:spPr bwMode="auto">
            <a:xfrm>
              <a:off x="528" y="1488"/>
              <a:ext cx="240" cy="24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917" name="Rectangle 53"/>
            <p:cNvSpPr>
              <a:spLocks noChangeArrowheads="1"/>
            </p:cNvSpPr>
            <p:nvPr/>
          </p:nvSpPr>
          <p:spPr bwMode="auto">
            <a:xfrm>
              <a:off x="768" y="148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918" name="Rectangle 54"/>
            <p:cNvSpPr>
              <a:spLocks noChangeArrowheads="1"/>
            </p:cNvSpPr>
            <p:nvPr/>
          </p:nvSpPr>
          <p:spPr bwMode="auto">
            <a:xfrm>
              <a:off x="1008" y="148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919" name="Rectangle 55"/>
            <p:cNvSpPr>
              <a:spLocks noChangeArrowheads="1"/>
            </p:cNvSpPr>
            <p:nvPr/>
          </p:nvSpPr>
          <p:spPr bwMode="auto">
            <a:xfrm>
              <a:off x="1248" y="148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920" name="Rectangle 56"/>
            <p:cNvSpPr>
              <a:spLocks noChangeArrowheads="1"/>
            </p:cNvSpPr>
            <p:nvPr/>
          </p:nvSpPr>
          <p:spPr bwMode="auto">
            <a:xfrm>
              <a:off x="1488" y="1488"/>
              <a:ext cx="240" cy="24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921" name="Rectangle 57"/>
            <p:cNvSpPr>
              <a:spLocks noChangeArrowheads="1"/>
            </p:cNvSpPr>
            <p:nvPr/>
          </p:nvSpPr>
          <p:spPr bwMode="auto">
            <a:xfrm>
              <a:off x="1728" y="148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922" name="Rectangle 58"/>
            <p:cNvSpPr>
              <a:spLocks noChangeArrowheads="1"/>
            </p:cNvSpPr>
            <p:nvPr/>
          </p:nvSpPr>
          <p:spPr bwMode="auto">
            <a:xfrm>
              <a:off x="1968" y="148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923" name="Rectangle 59"/>
            <p:cNvSpPr>
              <a:spLocks noChangeArrowheads="1"/>
            </p:cNvSpPr>
            <p:nvPr/>
          </p:nvSpPr>
          <p:spPr bwMode="auto">
            <a:xfrm>
              <a:off x="288" y="172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924" name="Rectangle 60"/>
            <p:cNvSpPr>
              <a:spLocks noChangeArrowheads="1"/>
            </p:cNvSpPr>
            <p:nvPr/>
          </p:nvSpPr>
          <p:spPr bwMode="auto">
            <a:xfrm>
              <a:off x="528" y="1728"/>
              <a:ext cx="240" cy="24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925" name="Rectangle 61"/>
            <p:cNvSpPr>
              <a:spLocks noChangeArrowheads="1"/>
            </p:cNvSpPr>
            <p:nvPr/>
          </p:nvSpPr>
          <p:spPr bwMode="auto">
            <a:xfrm>
              <a:off x="768" y="1728"/>
              <a:ext cx="240" cy="24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926" name="Rectangle 62"/>
            <p:cNvSpPr>
              <a:spLocks noChangeArrowheads="1"/>
            </p:cNvSpPr>
            <p:nvPr/>
          </p:nvSpPr>
          <p:spPr bwMode="auto">
            <a:xfrm>
              <a:off x="1008" y="1728"/>
              <a:ext cx="240" cy="24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927" name="Rectangle 63"/>
            <p:cNvSpPr>
              <a:spLocks noChangeArrowheads="1"/>
            </p:cNvSpPr>
            <p:nvPr/>
          </p:nvSpPr>
          <p:spPr bwMode="auto">
            <a:xfrm>
              <a:off x="1248" y="172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928" name="Rectangle 64"/>
            <p:cNvSpPr>
              <a:spLocks noChangeArrowheads="1"/>
            </p:cNvSpPr>
            <p:nvPr/>
          </p:nvSpPr>
          <p:spPr bwMode="auto">
            <a:xfrm>
              <a:off x="1488" y="1728"/>
              <a:ext cx="240" cy="24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929" name="Rectangle 65"/>
            <p:cNvSpPr>
              <a:spLocks noChangeArrowheads="1"/>
            </p:cNvSpPr>
            <p:nvPr/>
          </p:nvSpPr>
          <p:spPr bwMode="auto">
            <a:xfrm>
              <a:off x="1728" y="1728"/>
              <a:ext cx="240" cy="24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930" name="Rectangle 66"/>
            <p:cNvSpPr>
              <a:spLocks noChangeArrowheads="1"/>
            </p:cNvSpPr>
            <p:nvPr/>
          </p:nvSpPr>
          <p:spPr bwMode="auto">
            <a:xfrm>
              <a:off x="1968" y="172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931" name="Rectangle 67"/>
            <p:cNvSpPr>
              <a:spLocks noChangeArrowheads="1"/>
            </p:cNvSpPr>
            <p:nvPr/>
          </p:nvSpPr>
          <p:spPr bwMode="auto">
            <a:xfrm>
              <a:off x="288" y="1968"/>
              <a:ext cx="240" cy="24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932" name="Rectangle 68"/>
            <p:cNvSpPr>
              <a:spLocks noChangeArrowheads="1"/>
            </p:cNvSpPr>
            <p:nvPr/>
          </p:nvSpPr>
          <p:spPr bwMode="auto">
            <a:xfrm>
              <a:off x="528" y="1968"/>
              <a:ext cx="240" cy="24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933" name="Rectangle 69"/>
            <p:cNvSpPr>
              <a:spLocks noChangeArrowheads="1"/>
            </p:cNvSpPr>
            <p:nvPr/>
          </p:nvSpPr>
          <p:spPr bwMode="auto">
            <a:xfrm>
              <a:off x="768" y="196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934" name="Rectangle 70"/>
            <p:cNvSpPr>
              <a:spLocks noChangeArrowheads="1"/>
            </p:cNvSpPr>
            <p:nvPr/>
          </p:nvSpPr>
          <p:spPr bwMode="auto">
            <a:xfrm>
              <a:off x="1008" y="196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935" name="Rectangle 71"/>
            <p:cNvSpPr>
              <a:spLocks noChangeArrowheads="1"/>
            </p:cNvSpPr>
            <p:nvPr/>
          </p:nvSpPr>
          <p:spPr bwMode="auto">
            <a:xfrm>
              <a:off x="1248" y="196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936" name="Rectangle 72"/>
            <p:cNvSpPr>
              <a:spLocks noChangeArrowheads="1"/>
            </p:cNvSpPr>
            <p:nvPr/>
          </p:nvSpPr>
          <p:spPr bwMode="auto">
            <a:xfrm>
              <a:off x="1488" y="196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937" name="Rectangle 73"/>
            <p:cNvSpPr>
              <a:spLocks noChangeArrowheads="1"/>
            </p:cNvSpPr>
            <p:nvPr/>
          </p:nvSpPr>
          <p:spPr bwMode="auto">
            <a:xfrm>
              <a:off x="1728" y="196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938" name="Rectangle 74"/>
            <p:cNvSpPr>
              <a:spLocks noChangeArrowheads="1"/>
            </p:cNvSpPr>
            <p:nvPr/>
          </p:nvSpPr>
          <p:spPr bwMode="auto">
            <a:xfrm>
              <a:off x="1968" y="1968"/>
              <a:ext cx="240" cy="24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36939" name="Group 75"/>
            <p:cNvGrpSpPr/>
            <p:nvPr/>
          </p:nvGrpSpPr>
          <p:grpSpPr bwMode="auto">
            <a:xfrm>
              <a:off x="288" y="0"/>
              <a:ext cx="1920" cy="240"/>
              <a:chOff x="0" y="0"/>
              <a:chExt cx="1920" cy="240"/>
            </a:xfrm>
          </p:grpSpPr>
          <p:sp>
            <p:nvSpPr>
              <p:cNvPr id="36940" name="Rectangle 76"/>
              <p:cNvSpPr>
                <a:spLocks noChangeArrowheads="1"/>
              </p:cNvSpPr>
              <p:nvPr/>
            </p:nvSpPr>
            <p:spPr bwMode="auto">
              <a:xfrm>
                <a:off x="1680" y="0"/>
                <a:ext cx="240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400">
                    <a:latin typeface="Tahoma" panose="020B0604030504040204" pitchFamily="34" charset="0"/>
                  </a:rPr>
                  <a:t>8</a:t>
                </a: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6941" name="Rectangle 7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40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400">
                    <a:latin typeface="Tahoma" panose="020B0604030504040204" pitchFamily="34" charset="0"/>
                  </a:rPr>
                  <a:t>1</a:t>
                </a: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6942" name="Rectangle 78"/>
              <p:cNvSpPr>
                <a:spLocks noChangeArrowheads="1"/>
              </p:cNvSpPr>
              <p:nvPr/>
            </p:nvSpPr>
            <p:spPr bwMode="auto">
              <a:xfrm>
                <a:off x="240" y="0"/>
                <a:ext cx="240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400">
                    <a:latin typeface="Tahoma" panose="020B0604030504040204" pitchFamily="34" charset="0"/>
                  </a:rPr>
                  <a:t>2</a:t>
                </a: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6943" name="Rectangle 79"/>
              <p:cNvSpPr>
                <a:spLocks noChangeArrowheads="1"/>
              </p:cNvSpPr>
              <p:nvPr/>
            </p:nvSpPr>
            <p:spPr bwMode="auto">
              <a:xfrm>
                <a:off x="480" y="0"/>
                <a:ext cx="240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400">
                    <a:latin typeface="Tahoma" panose="020B0604030504040204" pitchFamily="34" charset="0"/>
                  </a:rPr>
                  <a:t>3</a:t>
                </a: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6944" name="Rectangle 80"/>
              <p:cNvSpPr>
                <a:spLocks noChangeArrowheads="1"/>
              </p:cNvSpPr>
              <p:nvPr/>
            </p:nvSpPr>
            <p:spPr bwMode="auto">
              <a:xfrm>
                <a:off x="720" y="0"/>
                <a:ext cx="240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400">
                    <a:latin typeface="Tahoma" panose="020B0604030504040204" pitchFamily="34" charset="0"/>
                  </a:rPr>
                  <a:t>4</a:t>
                </a: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6945" name="Rectangle 81"/>
              <p:cNvSpPr>
                <a:spLocks noChangeArrowheads="1"/>
              </p:cNvSpPr>
              <p:nvPr/>
            </p:nvSpPr>
            <p:spPr bwMode="auto">
              <a:xfrm>
                <a:off x="960" y="0"/>
                <a:ext cx="240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400">
                    <a:latin typeface="Tahoma" panose="020B0604030504040204" pitchFamily="34" charset="0"/>
                  </a:rPr>
                  <a:t>5</a:t>
                </a: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6946" name="Rectangle 82"/>
              <p:cNvSpPr>
                <a:spLocks noChangeArrowheads="1"/>
              </p:cNvSpPr>
              <p:nvPr/>
            </p:nvSpPr>
            <p:spPr bwMode="auto">
              <a:xfrm>
                <a:off x="1200" y="0"/>
                <a:ext cx="240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400">
                    <a:latin typeface="Tahoma" panose="020B0604030504040204" pitchFamily="34" charset="0"/>
                  </a:rPr>
                  <a:t>6</a:t>
                </a: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6947" name="Rectangle 83"/>
              <p:cNvSpPr>
                <a:spLocks noChangeArrowheads="1"/>
              </p:cNvSpPr>
              <p:nvPr/>
            </p:nvSpPr>
            <p:spPr bwMode="auto">
              <a:xfrm>
                <a:off x="1440" y="0"/>
                <a:ext cx="240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400">
                    <a:latin typeface="Tahoma" panose="020B0604030504040204" pitchFamily="34" charset="0"/>
                  </a:rPr>
                  <a:t>7</a:t>
                </a: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6948" name="Group 84"/>
            <p:cNvGrpSpPr/>
            <p:nvPr/>
          </p:nvGrpSpPr>
          <p:grpSpPr bwMode="auto">
            <a:xfrm>
              <a:off x="0" y="288"/>
              <a:ext cx="240" cy="1920"/>
              <a:chOff x="0" y="0"/>
              <a:chExt cx="240" cy="1920"/>
            </a:xfrm>
          </p:grpSpPr>
          <p:sp>
            <p:nvSpPr>
              <p:cNvPr id="36949" name="Rectangle 85"/>
              <p:cNvSpPr>
                <a:spLocks noChangeArrowheads="1"/>
              </p:cNvSpPr>
              <p:nvPr/>
            </p:nvSpPr>
            <p:spPr bwMode="auto">
              <a:xfrm>
                <a:off x="0" y="1680"/>
                <a:ext cx="240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400">
                    <a:latin typeface="Tahoma" panose="020B0604030504040204" pitchFamily="34" charset="0"/>
                  </a:rPr>
                  <a:t>8</a:t>
                </a: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6950" name="Rectangle 8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40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400">
                    <a:latin typeface="Tahoma" panose="020B0604030504040204" pitchFamily="34" charset="0"/>
                  </a:rPr>
                  <a:t>1</a:t>
                </a: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6951" name="Rectangle 87"/>
              <p:cNvSpPr>
                <a:spLocks noChangeArrowheads="1"/>
              </p:cNvSpPr>
              <p:nvPr/>
            </p:nvSpPr>
            <p:spPr bwMode="auto">
              <a:xfrm>
                <a:off x="0" y="240"/>
                <a:ext cx="240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400">
                    <a:latin typeface="Tahoma" panose="020B0604030504040204" pitchFamily="34" charset="0"/>
                  </a:rPr>
                  <a:t>2</a:t>
                </a: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6952" name="Rectangle 88"/>
              <p:cNvSpPr>
                <a:spLocks noChangeArrowheads="1"/>
              </p:cNvSpPr>
              <p:nvPr/>
            </p:nvSpPr>
            <p:spPr bwMode="auto">
              <a:xfrm>
                <a:off x="0" y="480"/>
                <a:ext cx="240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400">
                    <a:latin typeface="Tahoma" panose="020B0604030504040204" pitchFamily="34" charset="0"/>
                  </a:rPr>
                  <a:t>3</a:t>
                </a: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6953" name="Rectangle 89"/>
              <p:cNvSpPr>
                <a:spLocks noChangeArrowheads="1"/>
              </p:cNvSpPr>
              <p:nvPr/>
            </p:nvSpPr>
            <p:spPr bwMode="auto">
              <a:xfrm>
                <a:off x="0" y="720"/>
                <a:ext cx="240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400">
                    <a:latin typeface="Tahoma" panose="020B0604030504040204" pitchFamily="34" charset="0"/>
                  </a:rPr>
                  <a:t>4</a:t>
                </a: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6954" name="Rectangle 90"/>
              <p:cNvSpPr>
                <a:spLocks noChangeArrowheads="1"/>
              </p:cNvSpPr>
              <p:nvPr/>
            </p:nvSpPr>
            <p:spPr bwMode="auto">
              <a:xfrm>
                <a:off x="0" y="960"/>
                <a:ext cx="240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400">
                    <a:latin typeface="Tahoma" panose="020B0604030504040204" pitchFamily="34" charset="0"/>
                  </a:rPr>
                  <a:t>5</a:t>
                </a: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6955" name="Rectangle 91"/>
              <p:cNvSpPr>
                <a:spLocks noChangeArrowheads="1"/>
              </p:cNvSpPr>
              <p:nvPr/>
            </p:nvSpPr>
            <p:spPr bwMode="auto">
              <a:xfrm>
                <a:off x="0" y="1200"/>
                <a:ext cx="240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400">
                    <a:latin typeface="Tahoma" panose="020B0604030504040204" pitchFamily="34" charset="0"/>
                  </a:rPr>
                  <a:t>6</a:t>
                </a: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6956" name="Rectangle 92"/>
              <p:cNvSpPr>
                <a:spLocks noChangeArrowheads="1"/>
              </p:cNvSpPr>
              <p:nvPr/>
            </p:nvSpPr>
            <p:spPr bwMode="auto">
              <a:xfrm>
                <a:off x="0" y="1440"/>
                <a:ext cx="240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400">
                    <a:latin typeface="Tahoma" panose="020B0604030504040204" pitchFamily="34" charset="0"/>
                  </a:rPr>
                  <a:t>7</a:t>
                </a: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</p:grpSp>
      </p:grpSp>
      <p:grpSp>
        <p:nvGrpSpPr>
          <p:cNvPr id="36957" name="Group 93"/>
          <p:cNvGrpSpPr/>
          <p:nvPr/>
        </p:nvGrpSpPr>
        <p:grpSpPr bwMode="auto">
          <a:xfrm>
            <a:off x="1052513" y="2822575"/>
            <a:ext cx="3567112" cy="3473450"/>
            <a:chOff x="0" y="0"/>
            <a:chExt cx="2247" cy="2188"/>
          </a:xfrm>
        </p:grpSpPr>
        <p:sp>
          <p:nvSpPr>
            <p:cNvPr id="36958" name="Rectangle 95"/>
            <p:cNvSpPr>
              <a:spLocks noChangeArrowheads="1"/>
            </p:cNvSpPr>
            <p:nvPr/>
          </p:nvSpPr>
          <p:spPr bwMode="auto">
            <a:xfrm>
              <a:off x="0" y="2006"/>
              <a:ext cx="912" cy="182"/>
            </a:xfrm>
            <a:prstGeom prst="rect">
              <a:avLst/>
            </a:prstGeom>
            <a:solidFill>
              <a:srgbClr val="C0C0C0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>
                  <a:latin typeface="楷体_GB2312" pitchFamily="1" charset="-122"/>
                  <a:ea typeface="楷体_GB2312" pitchFamily="1" charset="-122"/>
                </a:rPr>
                <a:t>(1,1)</a:t>
              </a:r>
              <a:endParaRPr lang="zh-CN" altLang="en-US" sz="2000" b="1">
                <a:latin typeface="楷体_GB2312" pitchFamily="1" charset="-122"/>
                <a:ea typeface="楷体_GB2312" pitchFamily="1" charset="-122"/>
              </a:endParaRPr>
            </a:p>
          </p:txBody>
        </p:sp>
        <p:sp>
          <p:nvSpPr>
            <p:cNvPr id="36959" name="Rectangle 97"/>
            <p:cNvSpPr>
              <a:spLocks noChangeArrowheads="1"/>
            </p:cNvSpPr>
            <p:nvPr/>
          </p:nvSpPr>
          <p:spPr bwMode="auto">
            <a:xfrm>
              <a:off x="2028" y="0"/>
              <a:ext cx="204" cy="22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latin typeface="Tahoma" panose="020B0604030504040204" pitchFamily="34" charset="0"/>
                </a:rPr>
                <a:t>i</a:t>
              </a:r>
              <a:endParaRPr lang="en-US" altLang="zh-CN" sz="2000">
                <a:latin typeface="Tahoma" panose="020B0604030504040204" pitchFamily="34" charset="0"/>
              </a:endParaRPr>
            </a:p>
          </p:txBody>
        </p:sp>
        <p:sp>
          <p:nvSpPr>
            <p:cNvPr id="36960" name="Rectangle 99"/>
            <p:cNvSpPr>
              <a:spLocks noChangeArrowheads="1"/>
            </p:cNvSpPr>
            <p:nvPr/>
          </p:nvSpPr>
          <p:spPr bwMode="auto">
            <a:xfrm>
              <a:off x="3" y="1803"/>
              <a:ext cx="911" cy="203"/>
            </a:xfrm>
            <a:prstGeom prst="rect">
              <a:avLst/>
            </a:prstGeom>
            <a:solidFill>
              <a:srgbClr val="FFCC99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>
                  <a:latin typeface="楷体_GB2312" pitchFamily="1" charset="-122"/>
                  <a:ea typeface="楷体_GB2312" pitchFamily="1" charset="-122"/>
                </a:rPr>
                <a:t>(2,1)</a:t>
              </a:r>
              <a:endParaRPr lang="zh-CN" altLang="en-US" sz="2000" b="1">
                <a:latin typeface="楷体_GB2312" pitchFamily="1" charset="-122"/>
                <a:ea typeface="楷体_GB2312" pitchFamily="1" charset="-122"/>
              </a:endParaRPr>
            </a:p>
          </p:txBody>
        </p:sp>
        <p:sp>
          <p:nvSpPr>
            <p:cNvPr id="36961" name="Rectangle 101"/>
            <p:cNvSpPr>
              <a:spLocks noChangeArrowheads="1"/>
            </p:cNvSpPr>
            <p:nvPr/>
          </p:nvSpPr>
          <p:spPr bwMode="auto">
            <a:xfrm>
              <a:off x="2025" y="242"/>
              <a:ext cx="204" cy="22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latin typeface="Tahoma" panose="020B0604030504040204" pitchFamily="34" charset="0"/>
                </a:rPr>
                <a:t>i</a:t>
              </a:r>
              <a:endParaRPr lang="en-US" altLang="zh-CN" sz="2000">
                <a:latin typeface="Tahoma" panose="020B0604030504040204" pitchFamily="34" charset="0"/>
              </a:endParaRPr>
            </a:p>
          </p:txBody>
        </p:sp>
        <p:sp>
          <p:nvSpPr>
            <p:cNvPr id="36962" name="Rectangle 103"/>
            <p:cNvSpPr>
              <a:spLocks noChangeArrowheads="1"/>
            </p:cNvSpPr>
            <p:nvPr/>
          </p:nvSpPr>
          <p:spPr bwMode="auto">
            <a:xfrm>
              <a:off x="0" y="1602"/>
              <a:ext cx="911" cy="203"/>
            </a:xfrm>
            <a:prstGeom prst="rect">
              <a:avLst/>
            </a:prstGeom>
            <a:solidFill>
              <a:srgbClr val="FFCC99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>
                  <a:latin typeface="楷体_GB2312" pitchFamily="1" charset="-122"/>
                  <a:ea typeface="楷体_GB2312" pitchFamily="1" charset="-122"/>
                </a:rPr>
                <a:t>(3,1)</a:t>
              </a:r>
              <a:endParaRPr lang="zh-CN" altLang="en-US" sz="2000" b="1">
                <a:latin typeface="楷体_GB2312" pitchFamily="1" charset="-122"/>
                <a:ea typeface="楷体_GB2312" pitchFamily="1" charset="-122"/>
              </a:endParaRPr>
            </a:p>
          </p:txBody>
        </p:sp>
        <p:sp>
          <p:nvSpPr>
            <p:cNvPr id="36963" name="Rectangle 105"/>
            <p:cNvSpPr>
              <a:spLocks noChangeArrowheads="1"/>
            </p:cNvSpPr>
            <p:nvPr/>
          </p:nvSpPr>
          <p:spPr bwMode="auto">
            <a:xfrm>
              <a:off x="2025" y="482"/>
              <a:ext cx="204" cy="22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latin typeface="Tahoma" panose="020B0604030504040204" pitchFamily="34" charset="0"/>
                </a:rPr>
                <a:t>i</a:t>
              </a:r>
              <a:endParaRPr lang="en-US" altLang="zh-CN" sz="2000">
                <a:latin typeface="Tahoma" panose="020B0604030504040204" pitchFamily="34" charset="0"/>
              </a:endParaRPr>
            </a:p>
          </p:txBody>
        </p:sp>
        <p:sp>
          <p:nvSpPr>
            <p:cNvPr id="36964" name="Rectangle 107"/>
            <p:cNvSpPr>
              <a:spLocks noChangeArrowheads="1"/>
            </p:cNvSpPr>
            <p:nvPr/>
          </p:nvSpPr>
          <p:spPr bwMode="auto">
            <a:xfrm>
              <a:off x="0" y="1400"/>
              <a:ext cx="911" cy="203"/>
            </a:xfrm>
            <a:prstGeom prst="rect">
              <a:avLst/>
            </a:prstGeom>
            <a:solidFill>
              <a:srgbClr val="FFCC99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>
                  <a:latin typeface="楷体_GB2312" pitchFamily="1" charset="-122"/>
                  <a:ea typeface="楷体_GB2312" pitchFamily="1" charset="-122"/>
                </a:rPr>
                <a:t>(4,1)</a:t>
              </a:r>
              <a:endParaRPr lang="zh-CN" altLang="en-US" sz="2000" b="1">
                <a:latin typeface="楷体_GB2312" pitchFamily="1" charset="-122"/>
                <a:ea typeface="楷体_GB2312" pitchFamily="1" charset="-122"/>
              </a:endParaRPr>
            </a:p>
          </p:txBody>
        </p:sp>
        <p:sp>
          <p:nvSpPr>
            <p:cNvPr id="36965" name="Rectangle 109"/>
            <p:cNvSpPr>
              <a:spLocks noChangeArrowheads="1"/>
            </p:cNvSpPr>
            <p:nvPr/>
          </p:nvSpPr>
          <p:spPr bwMode="auto">
            <a:xfrm>
              <a:off x="2025" y="719"/>
              <a:ext cx="204" cy="22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latin typeface="Tahoma" panose="020B0604030504040204" pitchFamily="34" charset="0"/>
                </a:rPr>
                <a:t>i</a:t>
              </a:r>
              <a:endParaRPr lang="en-US" altLang="zh-CN" sz="2000">
                <a:latin typeface="Tahoma" panose="020B0604030504040204" pitchFamily="34" charset="0"/>
              </a:endParaRPr>
            </a:p>
          </p:txBody>
        </p:sp>
        <p:sp>
          <p:nvSpPr>
            <p:cNvPr id="36966" name="Rectangle 111"/>
            <p:cNvSpPr>
              <a:spLocks noChangeArrowheads="1"/>
            </p:cNvSpPr>
            <p:nvPr/>
          </p:nvSpPr>
          <p:spPr bwMode="auto">
            <a:xfrm>
              <a:off x="0" y="1197"/>
              <a:ext cx="911" cy="203"/>
            </a:xfrm>
            <a:prstGeom prst="rect">
              <a:avLst/>
            </a:prstGeom>
            <a:solidFill>
              <a:srgbClr val="FFCC99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>
                  <a:latin typeface="楷体_GB2312" pitchFamily="1" charset="-122"/>
                  <a:ea typeface="楷体_GB2312" pitchFamily="1" charset="-122"/>
                </a:rPr>
                <a:t>(5,1)</a:t>
              </a:r>
              <a:endParaRPr lang="zh-CN" altLang="en-US" sz="2000" b="1">
                <a:latin typeface="楷体_GB2312" pitchFamily="1" charset="-122"/>
                <a:ea typeface="楷体_GB2312" pitchFamily="1" charset="-122"/>
              </a:endParaRPr>
            </a:p>
          </p:txBody>
        </p:sp>
        <p:sp>
          <p:nvSpPr>
            <p:cNvPr id="36967" name="Rectangle 113"/>
            <p:cNvSpPr>
              <a:spLocks noChangeArrowheads="1"/>
            </p:cNvSpPr>
            <p:nvPr/>
          </p:nvSpPr>
          <p:spPr bwMode="auto">
            <a:xfrm>
              <a:off x="2034" y="959"/>
              <a:ext cx="204" cy="22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latin typeface="Tahoma" panose="020B0604030504040204" pitchFamily="34" charset="0"/>
                </a:rPr>
                <a:t>i</a:t>
              </a:r>
              <a:endParaRPr lang="en-US" altLang="zh-CN" sz="2000">
                <a:latin typeface="Tahoma" panose="020B0604030504040204" pitchFamily="34" charset="0"/>
              </a:endParaRPr>
            </a:p>
          </p:txBody>
        </p:sp>
        <p:sp>
          <p:nvSpPr>
            <p:cNvPr id="36968" name="Rectangle 115"/>
            <p:cNvSpPr>
              <a:spLocks noChangeArrowheads="1"/>
            </p:cNvSpPr>
            <p:nvPr/>
          </p:nvSpPr>
          <p:spPr bwMode="auto">
            <a:xfrm>
              <a:off x="0" y="995"/>
              <a:ext cx="911" cy="203"/>
            </a:xfrm>
            <a:prstGeom prst="rect">
              <a:avLst/>
            </a:prstGeom>
            <a:solidFill>
              <a:srgbClr val="FFCC99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>
                  <a:latin typeface="楷体_GB2312" pitchFamily="1" charset="-122"/>
                  <a:ea typeface="楷体_GB2312" pitchFamily="1" charset="-122"/>
                </a:rPr>
                <a:t>(6,1)</a:t>
              </a:r>
              <a:endParaRPr lang="zh-CN" altLang="en-US" sz="2000" b="1">
                <a:latin typeface="楷体_GB2312" pitchFamily="1" charset="-122"/>
                <a:ea typeface="楷体_GB2312" pitchFamily="1" charset="-122"/>
              </a:endParaRPr>
            </a:p>
          </p:txBody>
        </p:sp>
        <p:sp>
          <p:nvSpPr>
            <p:cNvPr id="36969" name="Rectangle 118"/>
            <p:cNvSpPr>
              <a:spLocks noChangeArrowheads="1"/>
            </p:cNvSpPr>
            <p:nvPr/>
          </p:nvSpPr>
          <p:spPr bwMode="auto">
            <a:xfrm>
              <a:off x="3" y="794"/>
              <a:ext cx="911" cy="203"/>
            </a:xfrm>
            <a:prstGeom prst="rect">
              <a:avLst/>
            </a:prstGeom>
            <a:solidFill>
              <a:srgbClr val="FFCC99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>
                  <a:latin typeface="楷体_GB2312" pitchFamily="1" charset="-122"/>
                  <a:ea typeface="楷体_GB2312" pitchFamily="1" charset="-122"/>
                </a:rPr>
                <a:t>(7,1)</a:t>
              </a:r>
              <a:endParaRPr lang="zh-CN" altLang="en-US" sz="2000" b="1">
                <a:latin typeface="楷体_GB2312" pitchFamily="1" charset="-122"/>
                <a:ea typeface="楷体_GB2312" pitchFamily="1" charset="-122"/>
              </a:endParaRPr>
            </a:p>
          </p:txBody>
        </p:sp>
        <p:sp>
          <p:nvSpPr>
            <p:cNvPr id="36970" name="Rectangle 119"/>
            <p:cNvSpPr>
              <a:spLocks noChangeArrowheads="1"/>
            </p:cNvSpPr>
            <p:nvPr/>
          </p:nvSpPr>
          <p:spPr bwMode="auto">
            <a:xfrm>
              <a:off x="2043" y="1199"/>
              <a:ext cx="204" cy="22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latin typeface="Tahoma" panose="020B0604030504040204" pitchFamily="34" charset="0"/>
                </a:rPr>
                <a:t>i</a:t>
              </a:r>
              <a:endParaRPr lang="en-US" altLang="zh-CN" sz="2000">
                <a:latin typeface="Tahoma" panose="020B0604030504040204" pitchFamily="34" charset="0"/>
              </a:endParaRPr>
            </a:p>
          </p:txBody>
        </p:sp>
      </p:grpSp>
      <p:grpSp>
        <p:nvGrpSpPr>
          <p:cNvPr id="36971" name="Group 107"/>
          <p:cNvGrpSpPr/>
          <p:nvPr/>
        </p:nvGrpSpPr>
        <p:grpSpPr bwMode="auto">
          <a:xfrm>
            <a:off x="1054100" y="4067175"/>
            <a:ext cx="3573463" cy="1398588"/>
            <a:chOff x="0" y="0"/>
            <a:chExt cx="2251" cy="881"/>
          </a:xfrm>
        </p:grpSpPr>
        <p:sp>
          <p:nvSpPr>
            <p:cNvPr id="36972" name="Rectangle 120"/>
            <p:cNvSpPr>
              <a:spLocks noChangeArrowheads="1"/>
            </p:cNvSpPr>
            <p:nvPr/>
          </p:nvSpPr>
          <p:spPr bwMode="auto">
            <a:xfrm>
              <a:off x="2024" y="654"/>
              <a:ext cx="227" cy="22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>
                  <a:latin typeface="Tahoma" panose="020B0604030504040204" pitchFamily="34" charset="0"/>
                </a:rPr>
                <a:t>#</a:t>
              </a:r>
              <a:endParaRPr lang="en-US" altLang="zh-CN" sz="2000">
                <a:latin typeface="Tahoma" panose="020B0604030504040204" pitchFamily="34" charset="0"/>
              </a:endParaRPr>
            </a:p>
          </p:txBody>
        </p:sp>
        <p:sp>
          <p:nvSpPr>
            <p:cNvPr id="36973" name="Rectangle 125"/>
            <p:cNvSpPr>
              <a:spLocks noChangeArrowheads="1"/>
            </p:cNvSpPr>
            <p:nvPr/>
          </p:nvSpPr>
          <p:spPr bwMode="auto">
            <a:xfrm>
              <a:off x="0" y="0"/>
              <a:ext cx="911" cy="20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>
                  <a:latin typeface="楷体_GB2312" pitchFamily="1" charset="-122"/>
                  <a:ea typeface="楷体_GB2312" pitchFamily="1" charset="-122"/>
                </a:rPr>
                <a:t> </a:t>
              </a:r>
              <a:endParaRPr lang="zh-CN" altLang="en-US" sz="2000" b="1">
                <a:latin typeface="楷体_GB2312" pitchFamily="1" charset="-122"/>
                <a:ea typeface="楷体_GB2312" pitchFamily="1" charset="-122"/>
              </a:endParaRPr>
            </a:p>
          </p:txBody>
        </p:sp>
        <p:pic>
          <p:nvPicPr>
            <p:cNvPr id="36974" name="Picture 117" descr="zoulu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0" y="423"/>
              <a:ext cx="546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6975" name="Group 111"/>
          <p:cNvGrpSpPr/>
          <p:nvPr/>
        </p:nvGrpSpPr>
        <p:grpSpPr bwMode="auto">
          <a:xfrm>
            <a:off x="1052513" y="4356100"/>
            <a:ext cx="3573462" cy="735013"/>
            <a:chOff x="0" y="0"/>
            <a:chExt cx="2251" cy="463"/>
          </a:xfrm>
        </p:grpSpPr>
        <p:sp>
          <p:nvSpPr>
            <p:cNvPr id="36976" name="Rectangle 130"/>
            <p:cNvSpPr>
              <a:spLocks noChangeArrowheads="1"/>
            </p:cNvSpPr>
            <p:nvPr/>
          </p:nvSpPr>
          <p:spPr bwMode="auto">
            <a:xfrm>
              <a:off x="2024" y="234"/>
              <a:ext cx="227" cy="2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>
                  <a:latin typeface="Tahoma" panose="020B0604030504040204" pitchFamily="34" charset="0"/>
                </a:rPr>
                <a:t>#</a:t>
              </a:r>
              <a:endParaRPr lang="en-US" altLang="zh-CN" sz="2000">
                <a:latin typeface="Tahoma" panose="020B0604030504040204" pitchFamily="34" charset="0"/>
              </a:endParaRPr>
            </a:p>
          </p:txBody>
        </p:sp>
        <p:sp>
          <p:nvSpPr>
            <p:cNvPr id="36977" name="Rectangle 131"/>
            <p:cNvSpPr>
              <a:spLocks noChangeArrowheads="1"/>
            </p:cNvSpPr>
            <p:nvPr/>
          </p:nvSpPr>
          <p:spPr bwMode="auto">
            <a:xfrm>
              <a:off x="0" y="21"/>
              <a:ext cx="911" cy="2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>
                  <a:latin typeface="楷体_GB2312" pitchFamily="1" charset="-122"/>
                  <a:ea typeface="楷体_GB2312" pitchFamily="1" charset="-122"/>
                </a:rPr>
                <a:t> </a:t>
              </a:r>
              <a:endParaRPr lang="zh-CN" altLang="en-US" sz="2000" b="1">
                <a:latin typeface="楷体_GB2312" pitchFamily="1" charset="-122"/>
                <a:ea typeface="楷体_GB2312" pitchFamily="1" charset="-122"/>
              </a:endParaRPr>
            </a:p>
          </p:txBody>
        </p:sp>
        <p:pic>
          <p:nvPicPr>
            <p:cNvPr id="36978" name="Picture 132" descr="zoulu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0" y="0"/>
              <a:ext cx="546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6979" name="Group 115"/>
          <p:cNvGrpSpPr/>
          <p:nvPr/>
        </p:nvGrpSpPr>
        <p:grpSpPr bwMode="auto">
          <a:xfrm>
            <a:off x="1052513" y="4343400"/>
            <a:ext cx="3921125" cy="392113"/>
            <a:chOff x="0" y="0"/>
            <a:chExt cx="2470" cy="247"/>
          </a:xfrm>
        </p:grpSpPr>
        <p:sp>
          <p:nvSpPr>
            <p:cNvPr id="36980" name="Rectangle 137"/>
            <p:cNvSpPr>
              <a:spLocks noChangeArrowheads="1"/>
            </p:cNvSpPr>
            <p:nvPr/>
          </p:nvSpPr>
          <p:spPr bwMode="auto">
            <a:xfrm>
              <a:off x="0" y="36"/>
              <a:ext cx="911" cy="211"/>
            </a:xfrm>
            <a:prstGeom prst="rect">
              <a:avLst/>
            </a:prstGeom>
            <a:solidFill>
              <a:srgbClr val="FFCC99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>
                  <a:latin typeface="楷体_GB2312" pitchFamily="1" charset="-122"/>
                  <a:ea typeface="楷体_GB2312" pitchFamily="1" charset="-122"/>
                </a:rPr>
                <a:t>(5,2)</a:t>
              </a:r>
              <a:endParaRPr lang="zh-CN" altLang="en-US" sz="2000" b="1">
                <a:latin typeface="楷体_GB2312" pitchFamily="1" charset="-122"/>
                <a:ea typeface="楷体_GB2312" pitchFamily="1" charset="-122"/>
              </a:endParaRPr>
            </a:p>
          </p:txBody>
        </p:sp>
        <p:pic>
          <p:nvPicPr>
            <p:cNvPr id="36981" name="Picture 138" descr="zoulu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4" y="9"/>
              <a:ext cx="546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982" name="Rectangle 136"/>
            <p:cNvSpPr>
              <a:spLocks noChangeArrowheads="1"/>
            </p:cNvSpPr>
            <p:nvPr/>
          </p:nvSpPr>
          <p:spPr bwMode="auto">
            <a:xfrm>
              <a:off x="2025" y="0"/>
              <a:ext cx="227" cy="2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latin typeface="Tahoma" panose="020B0604030504040204" pitchFamily="34" charset="0"/>
                </a:rPr>
                <a:t>i</a:t>
              </a:r>
              <a:endParaRPr lang="en-US" altLang="zh-CN" sz="2000">
                <a:latin typeface="Tahoma" panose="020B0604030504040204" pitchFamily="34" charset="0"/>
              </a:endParaRPr>
            </a:p>
          </p:txBody>
        </p:sp>
      </p:grpSp>
      <p:grpSp>
        <p:nvGrpSpPr>
          <p:cNvPr id="36983" name="Group 119"/>
          <p:cNvGrpSpPr/>
          <p:nvPr/>
        </p:nvGrpSpPr>
        <p:grpSpPr bwMode="auto">
          <a:xfrm>
            <a:off x="1052513" y="4067175"/>
            <a:ext cx="4314825" cy="639763"/>
            <a:chOff x="0" y="0"/>
            <a:chExt cx="2718" cy="403"/>
          </a:xfrm>
        </p:grpSpPr>
        <p:sp>
          <p:nvSpPr>
            <p:cNvPr id="36984" name="Rectangle 175"/>
            <p:cNvSpPr>
              <a:spLocks noChangeArrowheads="1"/>
            </p:cNvSpPr>
            <p:nvPr/>
          </p:nvSpPr>
          <p:spPr bwMode="auto">
            <a:xfrm>
              <a:off x="0" y="0"/>
              <a:ext cx="911" cy="211"/>
            </a:xfrm>
            <a:prstGeom prst="rect">
              <a:avLst/>
            </a:prstGeom>
            <a:solidFill>
              <a:srgbClr val="FFCC99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>
                  <a:latin typeface="楷体_GB2312" pitchFamily="1" charset="-122"/>
                  <a:ea typeface="楷体_GB2312" pitchFamily="1" charset="-122"/>
                </a:rPr>
                <a:t>(5,3)</a:t>
              </a:r>
              <a:endParaRPr lang="zh-CN" altLang="en-US" sz="2000" b="1">
                <a:latin typeface="楷体_GB2312" pitchFamily="1" charset="-122"/>
                <a:ea typeface="楷体_GB2312" pitchFamily="1" charset="-122"/>
              </a:endParaRPr>
            </a:p>
          </p:txBody>
        </p:sp>
        <p:pic>
          <p:nvPicPr>
            <p:cNvPr id="36985" name="Picture 176" descr="zoulu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72" y="183"/>
              <a:ext cx="546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986" name="Rectangle 177"/>
            <p:cNvSpPr>
              <a:spLocks noChangeArrowheads="1"/>
            </p:cNvSpPr>
            <p:nvPr/>
          </p:nvSpPr>
          <p:spPr bwMode="auto">
            <a:xfrm>
              <a:off x="2273" y="174"/>
              <a:ext cx="227" cy="2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latin typeface="Tahoma" panose="020B0604030504040204" pitchFamily="34" charset="0"/>
                </a:rPr>
                <a:t>i</a:t>
              </a:r>
              <a:endParaRPr lang="en-US" altLang="zh-CN" sz="2000">
                <a:latin typeface="Tahoma" panose="020B0604030504040204" pitchFamily="34" charset="0"/>
              </a:endParaRPr>
            </a:p>
          </p:txBody>
        </p:sp>
      </p:grpSp>
      <p:grpSp>
        <p:nvGrpSpPr>
          <p:cNvPr id="36987" name="Group 123"/>
          <p:cNvGrpSpPr/>
          <p:nvPr/>
        </p:nvGrpSpPr>
        <p:grpSpPr bwMode="auto">
          <a:xfrm>
            <a:off x="1054100" y="3733800"/>
            <a:ext cx="4335463" cy="1355725"/>
            <a:chOff x="0" y="0"/>
            <a:chExt cx="2731" cy="854"/>
          </a:xfrm>
        </p:grpSpPr>
        <p:sp>
          <p:nvSpPr>
            <p:cNvPr id="36988" name="Rectangle 180"/>
            <p:cNvSpPr>
              <a:spLocks noChangeArrowheads="1"/>
            </p:cNvSpPr>
            <p:nvPr/>
          </p:nvSpPr>
          <p:spPr bwMode="auto">
            <a:xfrm>
              <a:off x="0" y="0"/>
              <a:ext cx="911" cy="211"/>
            </a:xfrm>
            <a:prstGeom prst="rect">
              <a:avLst/>
            </a:prstGeom>
            <a:solidFill>
              <a:srgbClr val="FFCC99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>
                  <a:latin typeface="楷体_GB2312" pitchFamily="1" charset="-122"/>
                  <a:ea typeface="楷体_GB2312" pitchFamily="1" charset="-122"/>
                </a:rPr>
                <a:t>(6,3)</a:t>
              </a:r>
              <a:endParaRPr lang="zh-CN" altLang="en-US" sz="2000" b="1">
                <a:latin typeface="楷体_GB2312" pitchFamily="1" charset="-122"/>
                <a:ea typeface="楷体_GB2312" pitchFamily="1" charset="-122"/>
              </a:endParaRPr>
            </a:p>
          </p:txBody>
        </p:sp>
        <p:pic>
          <p:nvPicPr>
            <p:cNvPr id="36989" name="Picture 181" descr="zoulu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59" y="644"/>
              <a:ext cx="546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990" name="Rectangle 182"/>
            <p:cNvSpPr>
              <a:spLocks noChangeArrowheads="1"/>
            </p:cNvSpPr>
            <p:nvPr/>
          </p:nvSpPr>
          <p:spPr bwMode="auto">
            <a:xfrm>
              <a:off x="2504" y="393"/>
              <a:ext cx="227" cy="2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latin typeface="Tahoma" panose="020B0604030504040204" pitchFamily="34" charset="0"/>
                </a:rPr>
                <a:t>i</a:t>
              </a:r>
              <a:endParaRPr lang="en-US" altLang="zh-CN" sz="2000">
                <a:latin typeface="Tahoma" panose="020B0604030504040204" pitchFamily="34" charset="0"/>
              </a:endParaRPr>
            </a:p>
          </p:txBody>
        </p:sp>
      </p:grpSp>
      <p:grpSp>
        <p:nvGrpSpPr>
          <p:cNvPr id="36991" name="Group 127"/>
          <p:cNvGrpSpPr/>
          <p:nvPr/>
        </p:nvGrpSpPr>
        <p:grpSpPr bwMode="auto">
          <a:xfrm>
            <a:off x="1052513" y="3400425"/>
            <a:ext cx="4695825" cy="1690688"/>
            <a:chOff x="0" y="0"/>
            <a:chExt cx="2958" cy="1065"/>
          </a:xfrm>
        </p:grpSpPr>
        <p:sp>
          <p:nvSpPr>
            <p:cNvPr id="36992" name="Rectangle 185"/>
            <p:cNvSpPr>
              <a:spLocks noChangeArrowheads="1"/>
            </p:cNvSpPr>
            <p:nvPr/>
          </p:nvSpPr>
          <p:spPr bwMode="auto">
            <a:xfrm>
              <a:off x="0" y="0"/>
              <a:ext cx="911" cy="211"/>
            </a:xfrm>
            <a:prstGeom prst="rect">
              <a:avLst/>
            </a:prstGeom>
            <a:solidFill>
              <a:srgbClr val="FFCC99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>
                  <a:latin typeface="楷体_GB2312" pitchFamily="1" charset="-122"/>
                  <a:ea typeface="楷体_GB2312" pitchFamily="1" charset="-122"/>
                </a:rPr>
                <a:t>(6,4)</a:t>
              </a:r>
              <a:endParaRPr lang="zh-CN" altLang="en-US" sz="2000" b="1">
                <a:latin typeface="楷体_GB2312" pitchFamily="1" charset="-122"/>
                <a:ea typeface="楷体_GB2312" pitchFamily="1" charset="-122"/>
              </a:endParaRPr>
            </a:p>
          </p:txBody>
        </p:sp>
        <p:pic>
          <p:nvPicPr>
            <p:cNvPr id="36993" name="Picture 186" descr="zoulu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12" y="845"/>
              <a:ext cx="546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994" name="Rectangle 187"/>
            <p:cNvSpPr>
              <a:spLocks noChangeArrowheads="1"/>
            </p:cNvSpPr>
            <p:nvPr/>
          </p:nvSpPr>
          <p:spPr bwMode="auto">
            <a:xfrm>
              <a:off x="2513" y="836"/>
              <a:ext cx="227" cy="2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latin typeface="Tahoma" panose="020B0604030504040204" pitchFamily="34" charset="0"/>
                </a:rPr>
                <a:t>i</a:t>
              </a:r>
              <a:endParaRPr lang="en-US" altLang="zh-CN" sz="2000">
                <a:latin typeface="Tahoma" panose="020B0604030504040204" pitchFamily="34" charset="0"/>
              </a:endParaRPr>
            </a:p>
          </p:txBody>
        </p:sp>
      </p:grpSp>
      <p:grpSp>
        <p:nvGrpSpPr>
          <p:cNvPr id="36995" name="Group 131"/>
          <p:cNvGrpSpPr/>
          <p:nvPr/>
        </p:nvGrpSpPr>
        <p:grpSpPr bwMode="auto">
          <a:xfrm>
            <a:off x="1052513" y="1795463"/>
            <a:ext cx="1454150" cy="1600200"/>
            <a:chOff x="0" y="0"/>
            <a:chExt cx="916" cy="1008"/>
          </a:xfrm>
        </p:grpSpPr>
        <p:sp>
          <p:nvSpPr>
            <p:cNvPr id="36996" name="Rectangle 159"/>
            <p:cNvSpPr>
              <a:spLocks noChangeArrowheads="1"/>
            </p:cNvSpPr>
            <p:nvPr/>
          </p:nvSpPr>
          <p:spPr bwMode="auto">
            <a:xfrm>
              <a:off x="7" y="213"/>
              <a:ext cx="909" cy="795"/>
            </a:xfrm>
            <a:prstGeom prst="rect">
              <a:avLst/>
            </a:prstGeom>
            <a:solidFill>
              <a:srgbClr val="FFFFFF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vert="eaVert"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>
                  <a:latin typeface="Times New Roman" panose="02020603050405020304" pitchFamily="18" charset="0"/>
                  <a:ea typeface="楷体_GB2312" pitchFamily="1" charset="-122"/>
                </a:rPr>
                <a:t>…</a:t>
              </a:r>
              <a:endParaRPr lang="zh-CN" altLang="en-US" sz="2000" b="1">
                <a:latin typeface="楷体_GB2312" pitchFamily="1" charset="-122"/>
                <a:ea typeface="楷体_GB2312" pitchFamily="1" charset="-122"/>
              </a:endParaRPr>
            </a:p>
          </p:txBody>
        </p:sp>
        <p:sp>
          <p:nvSpPr>
            <p:cNvPr id="36997" name="Rectangle 190"/>
            <p:cNvSpPr>
              <a:spLocks noChangeArrowheads="1"/>
            </p:cNvSpPr>
            <p:nvPr/>
          </p:nvSpPr>
          <p:spPr bwMode="auto">
            <a:xfrm>
              <a:off x="0" y="0"/>
              <a:ext cx="911" cy="211"/>
            </a:xfrm>
            <a:prstGeom prst="rect">
              <a:avLst/>
            </a:prstGeom>
            <a:solidFill>
              <a:srgbClr val="FFCC99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>
                  <a:latin typeface="楷体_GB2312" pitchFamily="1" charset="-122"/>
                  <a:ea typeface="楷体_GB2312" pitchFamily="1" charset="-122"/>
                </a:rPr>
                <a:t>(8,8)</a:t>
              </a:r>
              <a:endParaRPr lang="zh-CN" altLang="en-US" sz="2000" b="1">
                <a:latin typeface="楷体_GB2312" pitchFamily="1" charset="-122"/>
                <a:ea typeface="楷体_GB2312" pitchFamily="1" charset="-122"/>
              </a:endParaRPr>
            </a:p>
          </p:txBody>
        </p:sp>
      </p:grpSp>
      <p:grpSp>
        <p:nvGrpSpPr>
          <p:cNvPr id="36998" name="Group 134"/>
          <p:cNvGrpSpPr/>
          <p:nvPr/>
        </p:nvGrpSpPr>
        <p:grpSpPr bwMode="auto">
          <a:xfrm>
            <a:off x="5410200" y="4724400"/>
            <a:ext cx="1857375" cy="1128713"/>
            <a:chOff x="0" y="0"/>
            <a:chExt cx="1170" cy="711"/>
          </a:xfrm>
        </p:grpSpPr>
        <p:pic>
          <p:nvPicPr>
            <p:cNvPr id="36999" name="Picture 191" descr="zoulu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" y="491"/>
              <a:ext cx="546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000" name="Rectangle 192"/>
            <p:cNvSpPr>
              <a:spLocks noChangeArrowheads="1"/>
            </p:cNvSpPr>
            <p:nvPr/>
          </p:nvSpPr>
          <p:spPr bwMode="auto">
            <a:xfrm>
              <a:off x="725" y="482"/>
              <a:ext cx="227" cy="2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latin typeface="Tahoma" panose="020B0604030504040204" pitchFamily="34" charset="0"/>
                </a:rPr>
                <a:t>i</a:t>
              </a:r>
              <a:endParaRPr lang="en-US" altLang="zh-CN" sz="2000">
                <a:latin typeface="Tahoma" panose="020B0604030504040204" pitchFamily="34" charset="0"/>
              </a:endParaRPr>
            </a:p>
          </p:txBody>
        </p:sp>
        <p:sp>
          <p:nvSpPr>
            <p:cNvPr id="37001" name="Rectangle 193"/>
            <p:cNvSpPr>
              <a:spLocks noChangeArrowheads="1"/>
            </p:cNvSpPr>
            <p:nvPr/>
          </p:nvSpPr>
          <p:spPr bwMode="auto">
            <a:xfrm>
              <a:off x="0" y="0"/>
              <a:ext cx="227" cy="2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latin typeface="Tahoma" panose="020B0604030504040204" pitchFamily="34" charset="0"/>
                </a:rPr>
                <a:t>i</a:t>
              </a:r>
              <a:endParaRPr lang="en-US" altLang="zh-CN" sz="2000">
                <a:latin typeface="Tahoma" panose="020B0604030504040204" pitchFamily="34" charset="0"/>
              </a:endParaRPr>
            </a:p>
          </p:txBody>
        </p:sp>
        <p:sp>
          <p:nvSpPr>
            <p:cNvPr id="37002" name="Rectangle 194"/>
            <p:cNvSpPr>
              <a:spLocks noChangeArrowheads="1"/>
            </p:cNvSpPr>
            <p:nvPr/>
          </p:nvSpPr>
          <p:spPr bwMode="auto">
            <a:xfrm>
              <a:off x="244" y="0"/>
              <a:ext cx="227" cy="2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latin typeface="Tahoma" panose="020B0604030504040204" pitchFamily="34" charset="0"/>
                </a:rPr>
                <a:t>i</a:t>
              </a:r>
              <a:endParaRPr lang="en-US" altLang="zh-CN" sz="2000">
                <a:latin typeface="Tahoma" panose="020B0604030504040204" pitchFamily="34" charset="0"/>
              </a:endParaRPr>
            </a:p>
          </p:txBody>
        </p:sp>
        <p:sp>
          <p:nvSpPr>
            <p:cNvPr id="37003" name="Rectangle 195"/>
            <p:cNvSpPr>
              <a:spLocks noChangeArrowheads="1"/>
            </p:cNvSpPr>
            <p:nvPr/>
          </p:nvSpPr>
          <p:spPr bwMode="auto">
            <a:xfrm>
              <a:off x="240" y="233"/>
              <a:ext cx="227" cy="2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latin typeface="Tahoma" panose="020B0604030504040204" pitchFamily="34" charset="0"/>
                </a:rPr>
                <a:t>i</a:t>
              </a:r>
              <a:endParaRPr lang="en-US" altLang="zh-CN" sz="2000">
                <a:latin typeface="Tahoma" panose="020B0604030504040204" pitchFamily="34" charset="0"/>
              </a:endParaRPr>
            </a:p>
          </p:txBody>
        </p:sp>
        <p:sp>
          <p:nvSpPr>
            <p:cNvPr id="37004" name="Rectangle 196"/>
            <p:cNvSpPr>
              <a:spLocks noChangeArrowheads="1"/>
            </p:cNvSpPr>
            <p:nvPr/>
          </p:nvSpPr>
          <p:spPr bwMode="auto">
            <a:xfrm>
              <a:off x="240" y="482"/>
              <a:ext cx="227" cy="2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latin typeface="Tahoma" panose="020B0604030504040204" pitchFamily="34" charset="0"/>
                </a:rPr>
                <a:t>i</a:t>
              </a:r>
              <a:endParaRPr lang="en-US" altLang="zh-CN" sz="2000">
                <a:latin typeface="Tahoma" panose="020B0604030504040204" pitchFamily="34" charset="0"/>
              </a:endParaRPr>
            </a:p>
          </p:txBody>
        </p:sp>
        <p:sp>
          <p:nvSpPr>
            <p:cNvPr id="37005" name="Rectangle 197"/>
            <p:cNvSpPr>
              <a:spLocks noChangeArrowheads="1"/>
            </p:cNvSpPr>
            <p:nvPr/>
          </p:nvSpPr>
          <p:spPr bwMode="auto">
            <a:xfrm>
              <a:off x="484" y="480"/>
              <a:ext cx="227" cy="2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latin typeface="Tahoma" panose="020B0604030504040204" pitchFamily="34" charset="0"/>
                </a:rPr>
                <a:t>i</a:t>
              </a:r>
              <a:endParaRPr lang="en-US" altLang="zh-CN" sz="2000">
                <a:latin typeface="Tahoma" panose="020B0604030504040204" pitchFamily="34" charset="0"/>
              </a:endParaRPr>
            </a:p>
          </p:txBody>
        </p:sp>
      </p:grpSp>
      <p:grpSp>
        <p:nvGrpSpPr>
          <p:cNvPr id="37006" name="Group 142"/>
          <p:cNvGrpSpPr/>
          <p:nvPr/>
        </p:nvGrpSpPr>
        <p:grpSpPr bwMode="auto">
          <a:xfrm>
            <a:off x="4343400" y="2971800"/>
            <a:ext cx="2743200" cy="2667000"/>
            <a:chOff x="0" y="0"/>
            <a:chExt cx="1728" cy="1680"/>
          </a:xfrm>
        </p:grpSpPr>
        <p:sp>
          <p:nvSpPr>
            <p:cNvPr id="37007" name="Line 200"/>
            <p:cNvSpPr>
              <a:spLocks noChangeShapeType="1"/>
            </p:cNvSpPr>
            <p:nvPr/>
          </p:nvSpPr>
          <p:spPr bwMode="auto">
            <a:xfrm>
              <a:off x="0" y="0"/>
              <a:ext cx="96" cy="0"/>
            </a:xfrm>
            <a:prstGeom prst="line">
              <a:avLst/>
            </a:prstGeom>
            <a:noFill/>
            <a:ln w="38100" cmpd="sng">
              <a:solidFill>
                <a:schemeClr val="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7008" name="Line 201"/>
            <p:cNvSpPr>
              <a:spLocks noChangeShapeType="1"/>
            </p:cNvSpPr>
            <p:nvPr/>
          </p:nvSpPr>
          <p:spPr bwMode="auto">
            <a:xfrm>
              <a:off x="96" y="0"/>
              <a:ext cx="0" cy="960"/>
            </a:xfrm>
            <a:prstGeom prst="line">
              <a:avLst/>
            </a:prstGeom>
            <a:noFill/>
            <a:ln w="38100" cmpd="sng">
              <a:solidFill>
                <a:schemeClr val="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7009" name="Line 202"/>
            <p:cNvSpPr>
              <a:spLocks noChangeShapeType="1"/>
            </p:cNvSpPr>
            <p:nvPr/>
          </p:nvSpPr>
          <p:spPr bwMode="auto">
            <a:xfrm>
              <a:off x="96" y="960"/>
              <a:ext cx="480" cy="0"/>
            </a:xfrm>
            <a:prstGeom prst="line">
              <a:avLst/>
            </a:prstGeom>
            <a:noFill/>
            <a:ln w="38100" cmpd="sng">
              <a:solidFill>
                <a:schemeClr val="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7010" name="Line 203"/>
            <p:cNvSpPr>
              <a:spLocks noChangeShapeType="1"/>
            </p:cNvSpPr>
            <p:nvPr/>
          </p:nvSpPr>
          <p:spPr bwMode="auto">
            <a:xfrm>
              <a:off x="576" y="960"/>
              <a:ext cx="0" cy="240"/>
            </a:xfrm>
            <a:prstGeom prst="line">
              <a:avLst/>
            </a:prstGeom>
            <a:noFill/>
            <a:ln w="38100" cmpd="sng">
              <a:solidFill>
                <a:schemeClr val="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7011" name="Line 204"/>
            <p:cNvSpPr>
              <a:spLocks noChangeShapeType="1"/>
            </p:cNvSpPr>
            <p:nvPr/>
          </p:nvSpPr>
          <p:spPr bwMode="auto">
            <a:xfrm>
              <a:off x="576" y="1200"/>
              <a:ext cx="480" cy="0"/>
            </a:xfrm>
            <a:prstGeom prst="line">
              <a:avLst/>
            </a:prstGeom>
            <a:noFill/>
            <a:ln w="38100" cmpd="sng">
              <a:solidFill>
                <a:schemeClr val="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7012" name="Line 205"/>
            <p:cNvSpPr>
              <a:spLocks noChangeShapeType="1"/>
            </p:cNvSpPr>
            <p:nvPr/>
          </p:nvSpPr>
          <p:spPr bwMode="auto">
            <a:xfrm>
              <a:off x="1056" y="1200"/>
              <a:ext cx="0" cy="480"/>
            </a:xfrm>
            <a:prstGeom prst="line">
              <a:avLst/>
            </a:prstGeom>
            <a:noFill/>
            <a:ln w="38100" cmpd="sng">
              <a:solidFill>
                <a:schemeClr val="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7013" name="Line 206"/>
            <p:cNvSpPr>
              <a:spLocks noChangeShapeType="1"/>
            </p:cNvSpPr>
            <p:nvPr/>
          </p:nvSpPr>
          <p:spPr bwMode="auto">
            <a:xfrm>
              <a:off x="1056" y="1680"/>
              <a:ext cx="672" cy="0"/>
            </a:xfrm>
            <a:prstGeom prst="line">
              <a:avLst/>
            </a:prstGeom>
            <a:noFill/>
            <a:ln w="38100" cmpd="sng">
              <a:solidFill>
                <a:schemeClr val="hlink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51" name="Rectangle 3"/>
          <p:cNvSpPr txBox="1"/>
          <p:nvPr/>
        </p:nvSpPr>
        <p:spPr bwMode="auto">
          <a:xfrm>
            <a:off x="276023" y="255021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Maze Routing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2" name="Text Box 92"/>
          <p:cNvSpPr txBox="1">
            <a:spLocks noChangeArrowheads="1"/>
          </p:cNvSpPr>
          <p:nvPr/>
        </p:nvSpPr>
        <p:spPr bwMode="auto">
          <a:xfrm>
            <a:off x="1331913" y="6370637"/>
            <a:ext cx="16970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000" b="1" dirty="0">
                <a:ea typeface="楷体_GB2312" pitchFamily="1" charset="-122"/>
                <a:cs typeface="Arial" panose="020B0604020202020204" pitchFamily="34" charset="0"/>
              </a:rPr>
              <a:t>Stack</a:t>
            </a:r>
            <a:endParaRPr lang="zh-CN" altLang="en-US" sz="2000" b="1" dirty="0">
              <a:ea typeface="楷体_GB2312" pitchFamily="1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6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6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6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6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6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6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6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6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7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Application: Parsing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Most parsing uses stacks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Examples includes: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Matching tags in XHTML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C++, matching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parentheses	 </a:t>
            </a: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( ... )</a:t>
            </a:r>
            <a:endParaRPr lang="en-US" b="1" dirty="0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brackets, and	 </a:t>
            </a: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[ ... ]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braces	 </a:t>
            </a: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{ ... }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Tx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Parsing XHTML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A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markup language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a means of annotating a document to given context to the text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annotations give information about the structure or presentation of the text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The best known example is HTML, or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HyperText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Markup Language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will look at XHTML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Parsing XHTML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XHTML is made of nested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opening tags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e.g., </a:t>
            </a:r>
            <a:r>
              <a:rPr lang="en-US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some_identifier</a:t>
            </a:r>
            <a:r>
              <a:rPr lang="en-US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and</a:t>
            </a:r>
            <a:endParaRPr lang="en-US" sz="2400" b="1" dirty="0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matching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closing tags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e.g.,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some_identifier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endParaRPr 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>
              <a:buFontTx/>
              <a:buNone/>
            </a:pPr>
            <a:r>
              <a:rPr lang="en-US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&lt;html&gt;</a:t>
            </a:r>
            <a:endParaRPr lang="en-US" dirty="0">
              <a:solidFill>
                <a:srgbClr val="00B0F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>
              <a:buFontTx/>
              <a:buNone/>
            </a:pPr>
            <a:r>
              <a:rPr lang="en-US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&lt;head&gt;&lt;title&gt;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Hello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&lt;/title&gt;&lt;/head&gt;</a:t>
            </a:r>
            <a:endParaRPr 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&lt;body&gt;&lt;p&gt;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This appears in the </a:t>
            </a:r>
            <a:r>
              <a:rPr lang="en-US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browser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&lt;/p&gt;&lt;/body&gt;</a:t>
            </a:r>
            <a:endParaRPr 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>
              <a:buFontTx/>
              <a:buNone/>
            </a:pP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&lt;/html&gt;</a:t>
            </a:r>
            <a:endParaRPr 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>
              <a:buFontTx/>
              <a:buNone/>
            </a:pPr>
            <a:endParaRPr 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>
              <a:buFontTx/>
              <a:buNone/>
            </a:pPr>
            <a:endParaRPr 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>
              <a:buNone/>
            </a:pPr>
            <a:r>
              <a:rPr lang="en-US" altLang="zh-CN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Nesting</a:t>
            </a:r>
            <a:r>
              <a:rPr lang="en-US" altLang="zh-CN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indicates that any closing tag must match the most </a:t>
            </a:r>
            <a:r>
              <a:rPr lang="en-US" altLang="zh-CN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recent</a:t>
            </a:r>
            <a:r>
              <a:rPr lang="en-US" altLang="zh-CN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opening tag</a:t>
            </a:r>
            <a:endParaRPr lang="en-US" altLang="zh-CN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FontTx/>
              <a:buNone/>
            </a:pPr>
            <a:endParaRPr 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Parsing XHTML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Strategy for parsing XHTML: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read though the XHTML linearly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place the opening tags in a stack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a closing tag is encountered, check that it matches what is on top of the stack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Parsing XHTML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b="1" dirty="0">
                <a:solidFill>
                  <a:srgbClr val="FF99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&lt;html&gt;</a:t>
            </a:r>
            <a:endParaRPr lang="en-US" b="1" dirty="0">
              <a:solidFill>
                <a:srgbClr val="FF99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	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&lt;head&gt;&lt;title&gt;</a:t>
            </a: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Hello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&lt;/title&gt;&lt;/head&gt;</a:t>
            </a:r>
            <a:endParaRPr lang="en-US" b="1" dirty="0">
              <a:solidFill>
                <a:srgbClr val="FF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	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&lt;body&gt;&lt;p&gt;</a:t>
            </a: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This appears in the 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</a:t>
            </a:r>
            <a:r>
              <a:rPr lang="en-US" b="1" dirty="0" err="1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i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&gt;</a:t>
            </a: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browser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&lt;/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i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&gt;</a:t>
            </a: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.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&lt;/p&gt;&lt;/body&gt;</a:t>
            </a:r>
            <a:endParaRPr lang="en-US" b="1" dirty="0">
              <a:solidFill>
                <a:srgbClr val="FF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&lt;/html&gt;</a:t>
            </a:r>
            <a:endParaRPr lang="en-US" b="1" dirty="0">
              <a:solidFill>
                <a:srgbClr val="FF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5087" name="Group 31"/>
          <p:cNvGraphicFramePr>
            <a:graphicFrameLocks noGrp="1"/>
          </p:cNvGraphicFramePr>
          <p:nvPr/>
        </p:nvGraphicFramePr>
        <p:xfrm>
          <a:off x="539750" y="4581525"/>
          <a:ext cx="7704138" cy="518160"/>
        </p:xfrm>
        <a:graphic>
          <a:graphicData uri="http://schemas.openxmlformats.org/drawingml/2006/table">
            <a:tbl>
              <a:tblPr/>
              <a:tblGrid>
                <a:gridCol w="1927225"/>
                <a:gridCol w="1925638"/>
                <a:gridCol w="1927225"/>
                <a:gridCol w="1924050"/>
              </a:tblGrid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&lt;html&gt;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Parsing XHTML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&lt;html&gt;</a:t>
            </a:r>
            <a:endParaRPr lang="en-US" b="1" dirty="0">
              <a:solidFill>
                <a:srgbClr val="00B0F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	</a:t>
            </a:r>
            <a:r>
              <a:rPr lang="en-US" b="1" dirty="0">
                <a:solidFill>
                  <a:srgbClr val="FF99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&lt;head&gt;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&lt;title&gt;</a:t>
            </a: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Hello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&lt;/title&gt;&lt;/head&gt;</a:t>
            </a:r>
            <a:endParaRPr lang="en-US" b="1" dirty="0">
              <a:solidFill>
                <a:srgbClr val="FF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	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&lt;body&gt;&lt;p&gt;</a:t>
            </a: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This appears in the 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</a:t>
            </a:r>
            <a:r>
              <a:rPr lang="en-US" b="1" dirty="0" err="1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i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&gt;</a:t>
            </a: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browser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&lt;/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i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&gt;</a:t>
            </a: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.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&lt;/p&gt;&lt;/body&gt;</a:t>
            </a:r>
            <a:endParaRPr lang="en-US" b="1" dirty="0">
              <a:solidFill>
                <a:srgbClr val="FF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&lt;/html&gt;</a:t>
            </a:r>
            <a:endParaRPr lang="en-US" b="1" dirty="0">
              <a:solidFill>
                <a:srgbClr val="FF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6108" name="Group 28"/>
          <p:cNvGraphicFramePr>
            <a:graphicFrameLocks noGrp="1"/>
          </p:cNvGraphicFramePr>
          <p:nvPr/>
        </p:nvGraphicFramePr>
        <p:xfrm>
          <a:off x="539750" y="4581525"/>
          <a:ext cx="7704138" cy="518160"/>
        </p:xfrm>
        <a:graphic>
          <a:graphicData uri="http://schemas.openxmlformats.org/drawingml/2006/table">
            <a:tbl>
              <a:tblPr/>
              <a:tblGrid>
                <a:gridCol w="1927225"/>
                <a:gridCol w="1925638"/>
                <a:gridCol w="1927225"/>
                <a:gridCol w="1924050"/>
              </a:tblGrid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&lt;html&gt;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&lt;head&gt;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Parsing XHTML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&lt;html&gt;</a:t>
            </a:r>
            <a:endParaRPr lang="en-US" b="1" dirty="0">
              <a:solidFill>
                <a:srgbClr val="00B0F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	&lt;head&gt;</a:t>
            </a:r>
            <a:r>
              <a:rPr lang="en-US" b="1" dirty="0">
                <a:solidFill>
                  <a:srgbClr val="FF99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&lt;title&gt;</a:t>
            </a: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Hello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&lt;/title&gt;&lt;/head&gt;</a:t>
            </a:r>
            <a:endParaRPr lang="en-US" b="1" dirty="0">
              <a:solidFill>
                <a:srgbClr val="FF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	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&lt;body&gt;&lt;p&gt;</a:t>
            </a: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This appears in the 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</a:t>
            </a:r>
            <a:r>
              <a:rPr lang="en-US" b="1" dirty="0" err="1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i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&gt;</a:t>
            </a: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browser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&lt;/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i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&gt;</a:t>
            </a: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.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&lt;/p&gt;&lt;/body&gt;</a:t>
            </a:r>
            <a:endParaRPr lang="en-US" b="1" dirty="0">
              <a:solidFill>
                <a:srgbClr val="FF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&lt;/html&gt;</a:t>
            </a:r>
            <a:endParaRPr lang="en-US" b="1" dirty="0">
              <a:solidFill>
                <a:srgbClr val="FF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7132" name="Group 28"/>
          <p:cNvGraphicFramePr>
            <a:graphicFrameLocks noGrp="1"/>
          </p:cNvGraphicFramePr>
          <p:nvPr/>
        </p:nvGraphicFramePr>
        <p:xfrm>
          <a:off x="539750" y="4581525"/>
          <a:ext cx="7704138" cy="518160"/>
        </p:xfrm>
        <a:graphic>
          <a:graphicData uri="http://schemas.openxmlformats.org/drawingml/2006/table">
            <a:tbl>
              <a:tblPr/>
              <a:tblGrid>
                <a:gridCol w="1927225"/>
                <a:gridCol w="1925638"/>
                <a:gridCol w="1927225"/>
                <a:gridCol w="1924050"/>
              </a:tblGrid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&lt;html&gt;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&lt;head&gt;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&lt;title&gt;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Parsing XHTML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&lt;html&gt;</a:t>
            </a:r>
            <a:endParaRPr lang="en-US" b="1" dirty="0">
              <a:solidFill>
                <a:srgbClr val="00B0F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	&lt;head&gt;&lt;title&gt;</a:t>
            </a: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Hello</a:t>
            </a:r>
            <a:r>
              <a:rPr lang="en-US" b="1" dirty="0">
                <a:solidFill>
                  <a:srgbClr val="FF99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&lt;/title&gt;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&lt;/head&gt;</a:t>
            </a:r>
            <a:endParaRPr lang="en-US" b="1" dirty="0">
              <a:solidFill>
                <a:srgbClr val="FF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	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&lt;body&gt;&lt;p&gt;</a:t>
            </a: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This appears in the 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</a:t>
            </a:r>
            <a:r>
              <a:rPr lang="en-US" b="1" dirty="0" err="1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i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&gt;</a:t>
            </a: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browser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&lt;/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i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&gt;</a:t>
            </a: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.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&lt;/p&gt;&lt;/body&gt;</a:t>
            </a:r>
            <a:endParaRPr lang="en-US" b="1" dirty="0">
              <a:solidFill>
                <a:srgbClr val="FF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&lt;/html&gt;</a:t>
            </a:r>
            <a:endParaRPr lang="en-US" b="1" dirty="0">
              <a:solidFill>
                <a:srgbClr val="FF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8156" name="Group 28"/>
          <p:cNvGraphicFramePr>
            <a:graphicFrameLocks noGrp="1"/>
          </p:cNvGraphicFramePr>
          <p:nvPr/>
        </p:nvGraphicFramePr>
        <p:xfrm>
          <a:off x="539750" y="4581525"/>
          <a:ext cx="7704138" cy="518160"/>
        </p:xfrm>
        <a:graphic>
          <a:graphicData uri="http://schemas.openxmlformats.org/drawingml/2006/table">
            <a:tbl>
              <a:tblPr/>
              <a:tblGrid>
                <a:gridCol w="1927225"/>
                <a:gridCol w="1925638"/>
                <a:gridCol w="1927225"/>
                <a:gridCol w="1924050"/>
              </a:tblGrid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&lt;html&gt;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&lt;head&gt;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Courier New" panose="02070309020205020404" pitchFamily="49" charset="0"/>
                        </a:rPr>
                        <a:t>&lt;title&gt;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Parsing XHTML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&lt;html&gt;</a:t>
            </a:r>
            <a:endParaRPr lang="en-US" b="1" dirty="0">
              <a:solidFill>
                <a:srgbClr val="00B0F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	&lt;head&gt;&lt;title&gt;</a:t>
            </a: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Hello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&lt;/title&gt;</a:t>
            </a:r>
            <a:r>
              <a:rPr lang="en-US" b="1" dirty="0">
                <a:solidFill>
                  <a:srgbClr val="FF99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&lt;/head&gt;</a:t>
            </a:r>
            <a:endParaRPr lang="en-US" b="1" dirty="0">
              <a:solidFill>
                <a:srgbClr val="FF99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	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&lt;body&gt;&lt;p&gt;</a:t>
            </a: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This appears in the 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</a:t>
            </a:r>
            <a:r>
              <a:rPr lang="en-US" b="1" dirty="0" err="1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i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&gt;</a:t>
            </a: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browser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&lt;/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i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&gt;</a:t>
            </a: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.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&lt;/p&gt;&lt;/body&gt;</a:t>
            </a:r>
            <a:endParaRPr lang="en-US" b="1" dirty="0">
              <a:solidFill>
                <a:srgbClr val="FF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&lt;/html&gt;</a:t>
            </a:r>
            <a:endParaRPr lang="en-US" b="1" dirty="0">
              <a:solidFill>
                <a:srgbClr val="FF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9181" name="Group 29"/>
          <p:cNvGraphicFramePr>
            <a:graphicFrameLocks noGrp="1"/>
          </p:cNvGraphicFramePr>
          <p:nvPr/>
        </p:nvGraphicFramePr>
        <p:xfrm>
          <a:off x="539750" y="4581525"/>
          <a:ext cx="7704138" cy="518160"/>
        </p:xfrm>
        <a:graphic>
          <a:graphicData uri="http://schemas.openxmlformats.org/drawingml/2006/table">
            <a:tbl>
              <a:tblPr/>
              <a:tblGrid>
                <a:gridCol w="1927225"/>
                <a:gridCol w="1925638"/>
                <a:gridCol w="1927225"/>
                <a:gridCol w="1924050"/>
              </a:tblGrid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&lt;html&gt;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Courier New" panose="02070309020205020404" pitchFamily="49" charset="0"/>
                        </a:rPr>
                        <a:t>&lt;head&gt;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Parsing XHTML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&lt;html&gt;</a:t>
            </a:r>
            <a:endParaRPr lang="en-US" b="1" dirty="0">
              <a:solidFill>
                <a:srgbClr val="00B0F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	&lt;head&gt;&lt;title&gt;</a:t>
            </a: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Hello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&lt;/title&gt;&lt;/head&gt;</a:t>
            </a:r>
            <a:endParaRPr lang="en-US" b="1" dirty="0">
              <a:solidFill>
                <a:srgbClr val="FF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	</a:t>
            </a:r>
            <a:r>
              <a:rPr lang="en-US" b="1" dirty="0">
                <a:solidFill>
                  <a:srgbClr val="FF99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&lt;body&gt;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&lt;p&gt;</a:t>
            </a: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This appears in the 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</a:t>
            </a:r>
            <a:r>
              <a:rPr lang="en-US" b="1" dirty="0" err="1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i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&gt;</a:t>
            </a: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browser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&lt;/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i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&gt;</a:t>
            </a: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.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&lt;/p&gt;&lt;/body&gt;</a:t>
            </a:r>
            <a:endParaRPr lang="en-US" b="1" dirty="0">
              <a:solidFill>
                <a:srgbClr val="FF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&lt;/html&gt;</a:t>
            </a:r>
            <a:endParaRPr lang="en-US" b="1" dirty="0">
              <a:solidFill>
                <a:srgbClr val="FF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0204" name="Group 28"/>
          <p:cNvGraphicFramePr>
            <a:graphicFrameLocks noGrp="1"/>
          </p:cNvGraphicFramePr>
          <p:nvPr/>
        </p:nvGraphicFramePr>
        <p:xfrm>
          <a:off x="539750" y="4581525"/>
          <a:ext cx="7704138" cy="518160"/>
        </p:xfrm>
        <a:graphic>
          <a:graphicData uri="http://schemas.openxmlformats.org/drawingml/2006/table">
            <a:tbl>
              <a:tblPr/>
              <a:tblGrid>
                <a:gridCol w="1927225"/>
                <a:gridCol w="1925638"/>
                <a:gridCol w="1927225"/>
                <a:gridCol w="1924050"/>
              </a:tblGrid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&lt;html&gt;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&lt;body&gt;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Parsing XHTML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&lt;html&gt;</a:t>
            </a:r>
            <a:endParaRPr lang="en-US" b="1" dirty="0">
              <a:solidFill>
                <a:srgbClr val="00B0F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	&lt;head&gt;&lt;title&gt;</a:t>
            </a: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Hello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&lt;/title&gt;&lt;/head&gt;</a:t>
            </a:r>
            <a:endParaRPr lang="en-US" b="1" dirty="0">
              <a:solidFill>
                <a:srgbClr val="FF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	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&lt;body&gt;</a:t>
            </a:r>
            <a:r>
              <a:rPr lang="en-US" b="1" dirty="0">
                <a:solidFill>
                  <a:srgbClr val="FF99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&lt;p&gt;</a:t>
            </a: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This appears in the 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</a:t>
            </a:r>
            <a:r>
              <a:rPr lang="en-US" b="1" dirty="0" err="1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i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&gt;</a:t>
            </a: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browser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&lt;/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i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&gt;</a:t>
            </a: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.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&lt;/p&gt;&lt;/body&gt;</a:t>
            </a:r>
            <a:endParaRPr lang="en-US" b="1" dirty="0">
              <a:solidFill>
                <a:srgbClr val="FF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&lt;/html&gt;</a:t>
            </a:r>
            <a:endParaRPr lang="en-US" b="1" dirty="0">
              <a:solidFill>
                <a:srgbClr val="FF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1252" name="Group 52"/>
          <p:cNvGraphicFramePr>
            <a:graphicFrameLocks noGrp="1"/>
          </p:cNvGraphicFramePr>
          <p:nvPr/>
        </p:nvGraphicFramePr>
        <p:xfrm>
          <a:off x="539750" y="4581525"/>
          <a:ext cx="7704138" cy="518160"/>
        </p:xfrm>
        <a:graphic>
          <a:graphicData uri="http://schemas.openxmlformats.org/drawingml/2006/table">
            <a:tbl>
              <a:tblPr/>
              <a:tblGrid>
                <a:gridCol w="1927225"/>
                <a:gridCol w="1925638"/>
                <a:gridCol w="1927225"/>
                <a:gridCol w="1924050"/>
              </a:tblGrid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&lt;html&gt;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&lt;body&gt;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&lt;p&gt;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Parsing XHTML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&lt;html&gt;</a:t>
            </a:r>
            <a:endParaRPr lang="en-US" b="1" dirty="0">
              <a:solidFill>
                <a:srgbClr val="00B0F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	&lt;head&gt;&lt;title&gt;</a:t>
            </a: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Hello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&lt;/title&gt;&lt;/head&gt;</a:t>
            </a:r>
            <a:endParaRPr lang="en-US" b="1" dirty="0">
              <a:solidFill>
                <a:srgbClr val="FF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	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&lt;body&gt;&lt;p&gt;</a:t>
            </a: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This appears in the </a:t>
            </a:r>
            <a:r>
              <a:rPr lang="en-US" b="1" dirty="0">
                <a:solidFill>
                  <a:srgbClr val="FF99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</a:t>
            </a:r>
            <a:r>
              <a:rPr lang="en-US" b="1" dirty="0" err="1">
                <a:solidFill>
                  <a:srgbClr val="FF99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i</a:t>
            </a:r>
            <a:r>
              <a:rPr lang="en-US" b="1" dirty="0">
                <a:solidFill>
                  <a:srgbClr val="FF99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&gt;</a:t>
            </a: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browser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&lt;/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i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&gt;</a:t>
            </a: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.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&lt;/p&gt;&lt;/body&gt;</a:t>
            </a:r>
            <a:endParaRPr lang="en-US" b="1" dirty="0">
              <a:solidFill>
                <a:srgbClr val="FF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&lt;/html&gt;</a:t>
            </a:r>
            <a:endParaRPr lang="en-US" b="1" dirty="0">
              <a:solidFill>
                <a:srgbClr val="FF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2240" name="Group 16"/>
          <p:cNvGraphicFramePr>
            <a:graphicFrameLocks noGrp="1"/>
          </p:cNvGraphicFramePr>
          <p:nvPr/>
        </p:nvGraphicFramePr>
        <p:xfrm>
          <a:off x="539750" y="4581525"/>
          <a:ext cx="7704138" cy="503238"/>
        </p:xfrm>
        <a:graphic>
          <a:graphicData uri="http://schemas.openxmlformats.org/drawingml/2006/table">
            <a:tbl>
              <a:tblPr/>
              <a:tblGrid>
                <a:gridCol w="1927225"/>
                <a:gridCol w="1925638"/>
                <a:gridCol w="1927225"/>
                <a:gridCol w="1924050"/>
              </a:tblGrid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&lt;html&gt;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&lt;body&gt;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&lt;p&gt;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&lt;</a:t>
                      </a: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i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&gt;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Parsing XHTML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&lt;html&gt;</a:t>
            </a:r>
            <a:endParaRPr lang="en-US" b="1" dirty="0">
              <a:solidFill>
                <a:srgbClr val="00B0F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	&lt;head&gt;&lt;title&gt;</a:t>
            </a: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Hello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&lt;/title&gt;&lt;/head&gt;</a:t>
            </a:r>
            <a:endParaRPr lang="en-US" b="1" dirty="0">
              <a:solidFill>
                <a:srgbClr val="FF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	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&lt;body&gt;&lt;p&gt;</a:t>
            </a: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This appears in the 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</a:t>
            </a:r>
            <a:r>
              <a:rPr lang="en-US" b="1" dirty="0" err="1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i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&gt;</a:t>
            </a: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browser</a:t>
            </a:r>
            <a:r>
              <a:rPr lang="en-US" b="1" dirty="0">
                <a:solidFill>
                  <a:srgbClr val="FF99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&lt;/</a:t>
            </a:r>
            <a:r>
              <a:rPr lang="en-US" b="1" dirty="0" err="1">
                <a:solidFill>
                  <a:srgbClr val="FF99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i</a:t>
            </a:r>
            <a:r>
              <a:rPr lang="en-US" b="1" dirty="0">
                <a:solidFill>
                  <a:srgbClr val="FF99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&gt;</a:t>
            </a: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.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&lt;/p&gt;&lt;/body&gt;</a:t>
            </a:r>
            <a:endParaRPr lang="en-US" b="1" dirty="0">
              <a:solidFill>
                <a:srgbClr val="FF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&lt;/html&gt;</a:t>
            </a:r>
            <a:endParaRPr lang="en-US" b="1" dirty="0">
              <a:solidFill>
                <a:srgbClr val="FF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3264" name="Group 16"/>
          <p:cNvGraphicFramePr>
            <a:graphicFrameLocks noGrp="1"/>
          </p:cNvGraphicFramePr>
          <p:nvPr/>
        </p:nvGraphicFramePr>
        <p:xfrm>
          <a:off x="539750" y="4581525"/>
          <a:ext cx="7704138" cy="503238"/>
        </p:xfrm>
        <a:graphic>
          <a:graphicData uri="http://schemas.openxmlformats.org/drawingml/2006/table">
            <a:tbl>
              <a:tblPr/>
              <a:tblGrid>
                <a:gridCol w="1927225"/>
                <a:gridCol w="1925638"/>
                <a:gridCol w="1927225"/>
                <a:gridCol w="1924050"/>
              </a:tblGrid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&lt;html&gt;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&lt;body&gt;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&lt;p&gt;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Courier New" panose="02070309020205020404" pitchFamily="49" charset="0"/>
                        </a:rPr>
                        <a:t>&lt;i&gt;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Parsing XHTML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&lt;html&gt;</a:t>
            </a:r>
            <a:endParaRPr lang="en-US" b="1" dirty="0">
              <a:solidFill>
                <a:srgbClr val="00B0F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	&lt;head&gt;&lt;title&gt;</a:t>
            </a: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Hello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&lt;/title&gt;&lt;/head&gt;</a:t>
            </a:r>
            <a:endParaRPr lang="en-US" b="1" dirty="0">
              <a:solidFill>
                <a:srgbClr val="FF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	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&lt;body&gt;&lt;p&gt;</a:t>
            </a: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This appears in the 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</a:t>
            </a:r>
            <a:r>
              <a:rPr lang="en-US" b="1" dirty="0" err="1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i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&gt;</a:t>
            </a: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browser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&lt;/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i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&gt;</a:t>
            </a: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.</a:t>
            </a:r>
            <a:r>
              <a:rPr lang="en-US" b="1" dirty="0">
                <a:solidFill>
                  <a:srgbClr val="FF99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&lt;/p&gt;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&lt;/body&gt;</a:t>
            </a:r>
            <a:endParaRPr lang="en-US" b="1" dirty="0">
              <a:solidFill>
                <a:srgbClr val="FF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&lt;/html&gt;</a:t>
            </a:r>
            <a:endParaRPr lang="en-US" b="1" dirty="0">
              <a:solidFill>
                <a:srgbClr val="FF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4300" name="Group 28"/>
          <p:cNvGraphicFramePr>
            <a:graphicFrameLocks noGrp="1"/>
          </p:cNvGraphicFramePr>
          <p:nvPr/>
        </p:nvGraphicFramePr>
        <p:xfrm>
          <a:off x="539750" y="4581525"/>
          <a:ext cx="7704138" cy="518160"/>
        </p:xfrm>
        <a:graphic>
          <a:graphicData uri="http://schemas.openxmlformats.org/drawingml/2006/table">
            <a:tbl>
              <a:tblPr/>
              <a:tblGrid>
                <a:gridCol w="1927225"/>
                <a:gridCol w="1925638"/>
                <a:gridCol w="1927225"/>
                <a:gridCol w="1924050"/>
              </a:tblGrid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&lt;html&gt;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&lt;body&gt;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Courier New" panose="02070309020205020404" pitchFamily="49" charset="0"/>
                        </a:rPr>
                        <a:t>&lt;p&gt;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Parsing XHTML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&lt;html&gt;</a:t>
            </a:r>
            <a:endParaRPr lang="en-US" b="1" dirty="0">
              <a:solidFill>
                <a:srgbClr val="00B0F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	&lt;head&gt;&lt;title&gt;</a:t>
            </a: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Hello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&lt;/title&gt;&lt;/head&gt;</a:t>
            </a:r>
            <a:endParaRPr lang="en-US" b="1" dirty="0">
              <a:solidFill>
                <a:srgbClr val="FF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	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&lt;body&gt;&lt;p&gt;</a:t>
            </a: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This appears in the 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</a:t>
            </a:r>
            <a:r>
              <a:rPr lang="en-US" b="1" dirty="0" err="1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i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&gt;</a:t>
            </a: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browser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&lt;/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i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&gt;</a:t>
            </a: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.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&lt;/p&gt;</a:t>
            </a:r>
            <a:r>
              <a:rPr lang="en-US" b="1" dirty="0">
                <a:solidFill>
                  <a:srgbClr val="FF99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&lt;/body&gt;</a:t>
            </a:r>
            <a:endParaRPr lang="en-US" b="1" dirty="0">
              <a:solidFill>
                <a:srgbClr val="FF99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&lt;/html&gt;</a:t>
            </a:r>
            <a:endParaRPr lang="en-US" b="1" dirty="0">
              <a:solidFill>
                <a:srgbClr val="FF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5324" name="Group 28"/>
          <p:cNvGraphicFramePr>
            <a:graphicFrameLocks noGrp="1"/>
          </p:cNvGraphicFramePr>
          <p:nvPr/>
        </p:nvGraphicFramePr>
        <p:xfrm>
          <a:off x="539750" y="4581525"/>
          <a:ext cx="7704138" cy="518160"/>
        </p:xfrm>
        <a:graphic>
          <a:graphicData uri="http://schemas.openxmlformats.org/drawingml/2006/table">
            <a:tbl>
              <a:tblPr/>
              <a:tblGrid>
                <a:gridCol w="1927225"/>
                <a:gridCol w="1925638"/>
                <a:gridCol w="1927225"/>
                <a:gridCol w="1924050"/>
              </a:tblGrid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&lt;html&gt;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Courier New" panose="02070309020205020404" pitchFamily="49" charset="0"/>
                        </a:rPr>
                        <a:t>&lt;body&gt;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Parsing XHTML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&lt;html&gt;</a:t>
            </a:r>
            <a:endParaRPr lang="en-US" b="1" dirty="0">
              <a:solidFill>
                <a:srgbClr val="00B0F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	&lt;head&gt;&lt;title&gt;</a:t>
            </a: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Hello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&lt;/title&gt;&lt;/head&gt;</a:t>
            </a:r>
            <a:endParaRPr lang="en-US" b="1" dirty="0">
              <a:solidFill>
                <a:srgbClr val="FF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	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&lt;body&gt;&lt;p&gt;</a:t>
            </a: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This appears in the 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</a:t>
            </a:r>
            <a:r>
              <a:rPr lang="en-US" b="1" dirty="0" err="1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i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&gt;</a:t>
            </a: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browser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&lt;/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i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&gt;</a:t>
            </a:r>
            <a:r>
              <a:rPr lang="en-US" b="1" dirty="0">
                <a:latin typeface="Courier New" panose="02070309020205020404" pitchFamily="49" charset="0"/>
                <a:cs typeface="Arial" panose="020B0604020202020204" pitchFamily="34" charset="0"/>
              </a:rPr>
              <a:t>.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&lt;/p&gt;&lt;/body&gt;</a:t>
            </a:r>
            <a:endParaRPr lang="en-US" b="1" dirty="0">
              <a:solidFill>
                <a:srgbClr val="FF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b="1" dirty="0">
                <a:solidFill>
                  <a:srgbClr val="FF99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&lt;/html&gt;</a:t>
            </a:r>
            <a:endParaRPr lang="en-US" b="1" dirty="0">
              <a:solidFill>
                <a:srgbClr val="FF99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endParaRPr lang="en-US" sz="1600" dirty="0">
              <a:solidFill>
                <a:srgbClr val="FF99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6360" name="Group 40"/>
          <p:cNvGraphicFramePr>
            <a:graphicFrameLocks noGrp="1"/>
          </p:cNvGraphicFramePr>
          <p:nvPr/>
        </p:nvGraphicFramePr>
        <p:xfrm>
          <a:off x="539750" y="4581525"/>
          <a:ext cx="7704138" cy="518160"/>
        </p:xfrm>
        <a:graphic>
          <a:graphicData uri="http://schemas.openxmlformats.org/drawingml/2006/table">
            <a:tbl>
              <a:tblPr/>
              <a:tblGrid>
                <a:gridCol w="1927225"/>
                <a:gridCol w="1925638"/>
                <a:gridCol w="1927225"/>
                <a:gridCol w="1924050"/>
              </a:tblGrid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Courier New" panose="02070309020205020404" pitchFamily="49" charset="0"/>
                        </a:rPr>
                        <a:t>&lt;html&gt;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Parsing XHTML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We are finished parsing, and the stack is empty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Possible errors: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closing tag which does not match the opening tag on top of the stack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closing tag when the stack is empty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stack is not empty at the end of the document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Parsing C++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Like opening and closing tags, C++ parentheses, brackets, and braces must be similarly nested: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FontTx/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void initialize</a:t>
            </a:r>
            <a:r>
              <a:rPr lang="en-US" sz="20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*array,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n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en-US" sz="2000" b="1" dirty="0">
              <a:solidFill>
                <a:srgbClr val="00B0F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>
              <a:buFontTx/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for </a:t>
            </a:r>
            <a:r>
              <a:rPr lang="en-US" sz="20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0;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&lt; n; ++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sz="2000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en-US" sz="2000" b="1" dirty="0">
              <a:solidFill>
                <a:srgbClr val="00B0F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>
              <a:buFontTx/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  array</a:t>
            </a:r>
            <a:r>
              <a:rPr lang="en-US" sz="20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0;</a:t>
            </a: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>
              <a:buFontTx/>
              <a:buNone/>
            </a:pP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endParaRPr lang="en-US" sz="20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>
              <a:buFontTx/>
              <a:buNone/>
            </a:pP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20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Function calls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a(){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  b();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  c();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  return 0;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b(){ return 0; }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c(){ return 0; }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main(){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  a();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  return 0;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ransition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Function calls</a:t>
            </a:r>
            <a:endParaRPr lang="zh-CN" altLang="en-US" dirty="0"/>
          </a:p>
        </p:txBody>
      </p:sp>
      <p:graphicFrame>
        <p:nvGraphicFramePr>
          <p:cNvPr id="5" name="Group 28"/>
          <p:cNvGraphicFramePr>
            <a:graphicFrameLocks noGrp="1"/>
          </p:cNvGraphicFramePr>
          <p:nvPr/>
        </p:nvGraphicFramePr>
        <p:xfrm>
          <a:off x="2123728" y="1556792"/>
          <a:ext cx="6480719" cy="503238"/>
        </p:xfrm>
        <a:graphic>
          <a:graphicData uri="http://schemas.openxmlformats.org/drawingml/2006/table">
            <a:tbl>
              <a:tblPr/>
              <a:tblGrid>
                <a:gridCol w="1621181"/>
                <a:gridCol w="1619846"/>
                <a:gridCol w="1621181"/>
                <a:gridCol w="1618511"/>
              </a:tblGrid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main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3528" y="2348880"/>
            <a:ext cx="1710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main() calls a()</a:t>
            </a:r>
            <a:endParaRPr lang="zh-CN" altLang="en-US" dirty="0"/>
          </a:p>
        </p:txBody>
      </p:sp>
      <p:graphicFrame>
        <p:nvGraphicFramePr>
          <p:cNvPr id="9" name="Group 28"/>
          <p:cNvGraphicFramePr>
            <a:graphicFrameLocks noGrp="1"/>
          </p:cNvGraphicFramePr>
          <p:nvPr/>
        </p:nvGraphicFramePr>
        <p:xfrm>
          <a:off x="2123728" y="2307605"/>
          <a:ext cx="6480719" cy="503238"/>
        </p:xfrm>
        <a:graphic>
          <a:graphicData uri="http://schemas.openxmlformats.org/drawingml/2006/table">
            <a:tbl>
              <a:tblPr/>
              <a:tblGrid>
                <a:gridCol w="1621181"/>
                <a:gridCol w="1619846"/>
                <a:gridCol w="1621181"/>
                <a:gridCol w="1618511"/>
              </a:tblGrid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main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3528" y="3099693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a() calls b()</a:t>
            </a:r>
            <a:endParaRPr lang="zh-CN" altLang="en-US" dirty="0"/>
          </a:p>
        </p:txBody>
      </p:sp>
      <p:graphicFrame>
        <p:nvGraphicFramePr>
          <p:cNvPr id="11" name="Group 28"/>
          <p:cNvGraphicFramePr>
            <a:graphicFrameLocks noGrp="1"/>
          </p:cNvGraphicFramePr>
          <p:nvPr/>
        </p:nvGraphicFramePr>
        <p:xfrm>
          <a:off x="2123728" y="3058418"/>
          <a:ext cx="6480719" cy="503238"/>
        </p:xfrm>
        <a:graphic>
          <a:graphicData uri="http://schemas.openxmlformats.org/drawingml/2006/table">
            <a:tbl>
              <a:tblPr/>
              <a:tblGrid>
                <a:gridCol w="1621181"/>
                <a:gridCol w="1619846"/>
                <a:gridCol w="1621181"/>
                <a:gridCol w="1618511"/>
              </a:tblGrid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main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3528" y="3850506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b() returns</a:t>
            </a:r>
            <a:endParaRPr lang="zh-CN" altLang="en-US" dirty="0"/>
          </a:p>
        </p:txBody>
      </p:sp>
      <p:graphicFrame>
        <p:nvGraphicFramePr>
          <p:cNvPr id="13" name="Group 28"/>
          <p:cNvGraphicFramePr>
            <a:graphicFrameLocks noGrp="1"/>
          </p:cNvGraphicFramePr>
          <p:nvPr/>
        </p:nvGraphicFramePr>
        <p:xfrm>
          <a:off x="2123728" y="3809231"/>
          <a:ext cx="6480719" cy="503238"/>
        </p:xfrm>
        <a:graphic>
          <a:graphicData uri="http://schemas.openxmlformats.org/drawingml/2006/table">
            <a:tbl>
              <a:tblPr/>
              <a:tblGrid>
                <a:gridCol w="1621181"/>
                <a:gridCol w="1619846"/>
                <a:gridCol w="1621181"/>
                <a:gridCol w="1618511"/>
              </a:tblGrid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main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23528" y="4601319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a() calls c()</a:t>
            </a:r>
            <a:endParaRPr lang="zh-CN" altLang="en-US" dirty="0"/>
          </a:p>
        </p:txBody>
      </p:sp>
      <p:graphicFrame>
        <p:nvGraphicFramePr>
          <p:cNvPr id="15" name="Group 28"/>
          <p:cNvGraphicFramePr>
            <a:graphicFrameLocks noGrp="1"/>
          </p:cNvGraphicFramePr>
          <p:nvPr/>
        </p:nvGraphicFramePr>
        <p:xfrm>
          <a:off x="2123728" y="4560044"/>
          <a:ext cx="6480719" cy="503238"/>
        </p:xfrm>
        <a:graphic>
          <a:graphicData uri="http://schemas.openxmlformats.org/drawingml/2006/table">
            <a:tbl>
              <a:tblPr/>
              <a:tblGrid>
                <a:gridCol w="1621181"/>
                <a:gridCol w="1619846"/>
                <a:gridCol w="1621181"/>
                <a:gridCol w="1618511"/>
              </a:tblGrid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main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323528" y="5352132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c() returns</a:t>
            </a:r>
            <a:endParaRPr lang="zh-CN" altLang="en-US" dirty="0"/>
          </a:p>
        </p:txBody>
      </p:sp>
      <p:graphicFrame>
        <p:nvGraphicFramePr>
          <p:cNvPr id="17" name="Group 28"/>
          <p:cNvGraphicFramePr>
            <a:graphicFrameLocks noGrp="1"/>
          </p:cNvGraphicFramePr>
          <p:nvPr/>
        </p:nvGraphicFramePr>
        <p:xfrm>
          <a:off x="2123728" y="5310857"/>
          <a:ext cx="6480719" cy="503238"/>
        </p:xfrm>
        <a:graphic>
          <a:graphicData uri="http://schemas.openxmlformats.org/drawingml/2006/table">
            <a:tbl>
              <a:tblPr/>
              <a:tblGrid>
                <a:gridCol w="1621181"/>
                <a:gridCol w="1619846"/>
                <a:gridCol w="1621181"/>
                <a:gridCol w="1618511"/>
              </a:tblGrid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main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3528" y="6100440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a() returns</a:t>
            </a:r>
            <a:endParaRPr lang="zh-CN" altLang="en-US" dirty="0"/>
          </a:p>
        </p:txBody>
      </p:sp>
      <p:graphicFrame>
        <p:nvGraphicFramePr>
          <p:cNvPr id="19" name="Group 28"/>
          <p:cNvGraphicFramePr>
            <a:graphicFrameLocks noGrp="1"/>
          </p:cNvGraphicFramePr>
          <p:nvPr/>
        </p:nvGraphicFramePr>
        <p:xfrm>
          <a:off x="2123728" y="6059165"/>
          <a:ext cx="6480719" cy="503238"/>
        </p:xfrm>
        <a:graphic>
          <a:graphicData uri="http://schemas.openxmlformats.org/drawingml/2006/table">
            <a:tbl>
              <a:tblPr/>
              <a:tblGrid>
                <a:gridCol w="1621181"/>
                <a:gridCol w="1619846"/>
                <a:gridCol w="1621181"/>
                <a:gridCol w="1618511"/>
              </a:tblGrid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main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  <p:bldP spid="12" grpId="0"/>
      <p:bldP spid="14" grpId="0"/>
      <p:bldP spid="16" grpId="0"/>
      <p:bldP spid="18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Function calls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a(){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  return a();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ransition/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Function calls</a:t>
            </a:r>
            <a:endParaRPr lang="zh-CN" altLang="en-US" dirty="0"/>
          </a:p>
        </p:txBody>
      </p:sp>
      <p:graphicFrame>
        <p:nvGraphicFramePr>
          <p:cNvPr id="5" name="Group 28"/>
          <p:cNvGraphicFramePr>
            <a:graphicFrameLocks noGrp="1"/>
          </p:cNvGraphicFramePr>
          <p:nvPr/>
        </p:nvGraphicFramePr>
        <p:xfrm>
          <a:off x="1907704" y="1556792"/>
          <a:ext cx="6480719" cy="503238"/>
        </p:xfrm>
        <a:graphic>
          <a:graphicData uri="http://schemas.openxmlformats.org/drawingml/2006/table">
            <a:tbl>
              <a:tblPr/>
              <a:tblGrid>
                <a:gridCol w="1621181"/>
                <a:gridCol w="1619846"/>
                <a:gridCol w="1621181"/>
                <a:gridCol w="1618511"/>
              </a:tblGrid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3528" y="234888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a() calls a()</a:t>
            </a:r>
            <a:endParaRPr lang="zh-CN" altLang="en-US" dirty="0"/>
          </a:p>
        </p:txBody>
      </p:sp>
      <p:graphicFrame>
        <p:nvGraphicFramePr>
          <p:cNvPr id="9" name="Group 28"/>
          <p:cNvGraphicFramePr>
            <a:graphicFrameLocks noGrp="1"/>
          </p:cNvGraphicFramePr>
          <p:nvPr/>
        </p:nvGraphicFramePr>
        <p:xfrm>
          <a:off x="1907704" y="2307605"/>
          <a:ext cx="6480719" cy="503238"/>
        </p:xfrm>
        <a:graphic>
          <a:graphicData uri="http://schemas.openxmlformats.org/drawingml/2006/table">
            <a:tbl>
              <a:tblPr/>
              <a:tblGrid>
                <a:gridCol w="1621181"/>
                <a:gridCol w="1619846"/>
                <a:gridCol w="1621181"/>
                <a:gridCol w="1618511"/>
              </a:tblGrid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3528" y="3099693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a() calls a()</a:t>
            </a:r>
            <a:endParaRPr lang="zh-CN" altLang="en-US" dirty="0"/>
          </a:p>
        </p:txBody>
      </p:sp>
      <p:graphicFrame>
        <p:nvGraphicFramePr>
          <p:cNvPr id="11" name="Group 28"/>
          <p:cNvGraphicFramePr>
            <a:graphicFrameLocks noGrp="1"/>
          </p:cNvGraphicFramePr>
          <p:nvPr/>
        </p:nvGraphicFramePr>
        <p:xfrm>
          <a:off x="1907704" y="3058418"/>
          <a:ext cx="6480719" cy="503238"/>
        </p:xfrm>
        <a:graphic>
          <a:graphicData uri="http://schemas.openxmlformats.org/drawingml/2006/table">
            <a:tbl>
              <a:tblPr/>
              <a:tblGrid>
                <a:gridCol w="1621181"/>
                <a:gridCol w="1619846"/>
                <a:gridCol w="1621181"/>
                <a:gridCol w="1618511"/>
              </a:tblGrid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3528" y="385050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a() calls a()</a:t>
            </a:r>
            <a:endParaRPr lang="zh-CN" altLang="en-US" dirty="0"/>
          </a:p>
        </p:txBody>
      </p:sp>
      <p:graphicFrame>
        <p:nvGraphicFramePr>
          <p:cNvPr id="13" name="Group 28"/>
          <p:cNvGraphicFramePr>
            <a:graphicFrameLocks noGrp="1"/>
          </p:cNvGraphicFramePr>
          <p:nvPr/>
        </p:nvGraphicFramePr>
        <p:xfrm>
          <a:off x="1907704" y="3809231"/>
          <a:ext cx="6480719" cy="503238"/>
        </p:xfrm>
        <a:graphic>
          <a:graphicData uri="http://schemas.openxmlformats.org/drawingml/2006/table">
            <a:tbl>
              <a:tblPr/>
              <a:tblGrid>
                <a:gridCol w="1621181"/>
                <a:gridCol w="1619846"/>
                <a:gridCol w="1621181"/>
                <a:gridCol w="1618511"/>
              </a:tblGrid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23528" y="4601319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a() calls a()</a:t>
            </a:r>
            <a:endParaRPr lang="zh-CN" altLang="en-US" dirty="0"/>
          </a:p>
        </p:txBody>
      </p:sp>
      <p:graphicFrame>
        <p:nvGraphicFramePr>
          <p:cNvPr id="15" name="Group 28"/>
          <p:cNvGraphicFramePr>
            <a:graphicFrameLocks noGrp="1"/>
          </p:cNvGraphicFramePr>
          <p:nvPr/>
        </p:nvGraphicFramePr>
        <p:xfrm>
          <a:off x="1907704" y="4560044"/>
          <a:ext cx="6480719" cy="503238"/>
        </p:xfrm>
        <a:graphic>
          <a:graphicData uri="http://schemas.openxmlformats.org/drawingml/2006/table">
            <a:tbl>
              <a:tblPr/>
              <a:tblGrid>
                <a:gridCol w="1621181"/>
                <a:gridCol w="1619846"/>
                <a:gridCol w="1621181"/>
                <a:gridCol w="1618511"/>
              </a:tblGrid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323528" y="1598067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calls a()</a:t>
            </a:r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946031" y="4560044"/>
            <a:ext cx="65434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b="1" dirty="0">
                <a:solidFill>
                  <a:srgbClr val="C00000"/>
                </a:solidFill>
              </a:rPr>
              <a:t>?</a:t>
            </a:r>
            <a:endParaRPr lang="zh-CN" altLang="en-US" sz="6000" b="1" dirty="0">
              <a:solidFill>
                <a:srgbClr val="C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92080" y="5445224"/>
            <a:ext cx="26997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>
                <a:solidFill>
                  <a:srgbClr val="C00000"/>
                </a:solidFill>
              </a:rPr>
              <a:t>Stack Overflow!</a:t>
            </a:r>
            <a:endParaRPr lang="zh-CN" altLang="en-US" sz="2800" i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  <p:bldP spid="12" grpId="0"/>
      <p:bldP spid="14" grpId="0"/>
      <p:bldP spid="20" grpId="0"/>
      <p:bldP spid="3" grpId="0"/>
      <p:bldP spid="6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6404" name="Picture 4" descr="https://upload.wikimedia.org/wikipedia/commons/thumb/6/6a/Stack_Overflow_homepage.png/1200px-Stack_Overflow_homepage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700808"/>
            <a:ext cx="8450149" cy="4464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StackOverflow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Summary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Stack ADT</a:t>
            </a:r>
            <a:endParaRPr lang="en-US" altLang="zh-CN" dirty="0"/>
          </a:p>
          <a:p>
            <a:pPr lvl="1"/>
            <a:r>
              <a:rPr lang="en-US" altLang="zh-CN" dirty="0"/>
              <a:t>Push, pop, LIFO</a:t>
            </a:r>
            <a:endParaRPr lang="en-US" altLang="zh-CN" dirty="0"/>
          </a:p>
          <a:p>
            <a:r>
              <a:rPr lang="en-US" altLang="zh-CN" dirty="0"/>
              <a:t>Implementation</a:t>
            </a:r>
            <a:endParaRPr lang="en-US" altLang="zh-CN" dirty="0"/>
          </a:p>
          <a:p>
            <a:pPr lvl="1"/>
            <a:r>
              <a:rPr lang="en-US" altLang="zh-CN" dirty="0"/>
              <a:t>Linked list</a:t>
            </a:r>
            <a:endParaRPr lang="en-US" altLang="zh-CN" dirty="0"/>
          </a:p>
          <a:p>
            <a:pPr lvl="1"/>
            <a:r>
              <a:rPr lang="en-US" altLang="zh-CN" dirty="0"/>
              <a:t>Array</a:t>
            </a:r>
            <a:endParaRPr lang="en-US" altLang="zh-CN" dirty="0"/>
          </a:p>
          <a:p>
            <a:pPr lvl="2"/>
            <a:r>
              <a:rPr lang="en-US" altLang="zh-CN" dirty="0"/>
              <a:t>How to increase the array capacity</a:t>
            </a:r>
            <a:endParaRPr lang="en-US" altLang="zh-CN" dirty="0"/>
          </a:p>
          <a:p>
            <a:r>
              <a:rPr lang="en-US" altLang="zh-CN" dirty="0"/>
              <a:t>Example</a:t>
            </a:r>
            <a:r>
              <a:rPr lang="zh-CN" altLang="en-US" dirty="0"/>
              <a:t> </a:t>
            </a:r>
            <a:r>
              <a:rPr lang="en-US" altLang="zh-CN" dirty="0"/>
              <a:t>Applications</a:t>
            </a:r>
            <a:endParaRPr lang="en-US" altLang="zh-CN" dirty="0"/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Reverse-Polish Notation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dirty="0"/>
              <a:t>Maze Routing</a:t>
            </a:r>
            <a:endParaRPr lang="zh-CN" altLang="en-US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Standard Template Library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The Standard Template Library (STL) has a </a:t>
            </a:r>
            <a:r>
              <a:rPr lang="en-US" i="1">
                <a:latin typeface="Arial" panose="020B0604020202020204" pitchFamily="34" charset="0"/>
                <a:cs typeface="Arial" panose="020B0604020202020204" pitchFamily="34" charset="0"/>
              </a:rPr>
              <a:t>wrapper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class stack with the following declaration: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1800" b="1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lvl="2">
              <a:buFontTx/>
              <a:buNone/>
            </a:pPr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template &lt;typename T&gt;</a:t>
            </a:r>
            <a:endParaRPr lang="en-US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>
              <a:buFontTx/>
              <a:buNone/>
            </a:pPr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class stack {</a:t>
            </a:r>
            <a:endParaRPr lang="en-US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>
              <a:buFontTx/>
              <a:buNone/>
            </a:pPr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    public:</a:t>
            </a:r>
            <a:endParaRPr lang="en-US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>
              <a:buFontTx/>
              <a:buNone/>
            </a:pPr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        stack();                  // not quite true...</a:t>
            </a:r>
            <a:endParaRPr lang="en-US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>
              <a:buFontTx/>
              <a:buNone/>
            </a:pPr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        bool empty() const;</a:t>
            </a:r>
            <a:endParaRPr lang="en-US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>
              <a:buFontTx/>
              <a:buNone/>
            </a:pPr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        int size() const;</a:t>
            </a:r>
            <a:endParaRPr lang="en-US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>
              <a:buFontTx/>
              <a:buNone/>
            </a:pPr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        const T &amp; top() const;</a:t>
            </a:r>
            <a:endParaRPr lang="en-US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>
              <a:buFontTx/>
              <a:buNone/>
            </a:pPr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        void push( const T &amp; );</a:t>
            </a:r>
            <a:endParaRPr lang="en-US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>
              <a:buFontTx/>
              <a:buNone/>
            </a:pPr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        void pop();</a:t>
            </a:r>
            <a:endParaRPr lang="en-US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>
              <a:buFontTx/>
              <a:buNone/>
            </a:pPr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  <a:endParaRPr lang="en-US" sz="18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5" name="Picture 10" descr="noexam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6913" y="5949950"/>
            <a:ext cx="320675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Standard Template Library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lvl="2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iostream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#include &lt;stack&gt;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using namespace std;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>
              <a:buFontTx/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main() {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stack&lt;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&gt;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istack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>
              <a:buFontTx/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istack.push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( 13 );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istack.push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( 42 );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&lt;&lt; "Top: " &lt;&lt;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istack.top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&lt;&lt;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istack.pop();                             // no return value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&lt;&lt; "Top: " &lt;&lt;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istack.top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&lt;&lt;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&lt;&lt; "Size: " &lt;&lt;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istack.size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&lt;&lt;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>
              <a:buFontTx/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>
              <a:buFontTx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5" name="Picture 10" descr="noexam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6913" y="5949950"/>
            <a:ext cx="320675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Standard Template Library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The reason that the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stack</a:t>
            </a: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class is termed a wrapper is because it uses a different container class to actually store the elements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The 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stack</a:t>
            </a:r>
            <a:r>
              <a:rPr lang="en-US" sz="1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class simply presents the </a:t>
            </a:r>
            <a:r>
              <a:rPr lang="en-US" i="1">
                <a:latin typeface="Arial" panose="020B0604020202020204" pitchFamily="34" charset="0"/>
                <a:cs typeface="Arial" panose="020B0604020202020204" pitchFamily="34" charset="0"/>
              </a:rPr>
              <a:t>stack interface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with appropriately named member functions: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push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pop</a:t>
            </a: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top</a:t>
            </a: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b="1">
              <a:latin typeface="Courier New" panose="02070309020205020404" pitchFamily="49" charset="0"/>
              <a:cs typeface="Arial" panose="020B0604020202020204" pitchFamily="34" charset="0"/>
            </a:endParaRPr>
          </a:p>
        </p:txBody>
      </p:sp>
      <p:pic>
        <p:nvPicPr>
          <p:cNvPr id="5" name="Picture 10" descr="noexam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6913" y="5949950"/>
            <a:ext cx="320675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22901</Words>
  <Application>WPS 演示</Application>
  <PresentationFormat>全屏显示(4:3)</PresentationFormat>
  <Paragraphs>1864</Paragraphs>
  <Slides>111</Slides>
  <Notes>104</Notes>
  <HiddenSlides>44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12</vt:i4>
      </vt:variant>
      <vt:variant>
        <vt:lpstr>幻灯片标题</vt:lpstr>
      </vt:variant>
      <vt:variant>
        <vt:i4>111</vt:i4>
      </vt:variant>
    </vt:vector>
  </HeadingPairs>
  <TitlesOfParts>
    <vt:vector size="138" baseType="lpstr">
      <vt:lpstr>Arial</vt:lpstr>
      <vt:lpstr>宋体</vt:lpstr>
      <vt:lpstr>Wingdings</vt:lpstr>
      <vt:lpstr>Calibri</vt:lpstr>
      <vt:lpstr>Arial</vt:lpstr>
      <vt:lpstr>Times New Roman</vt:lpstr>
      <vt:lpstr>微软雅黑</vt:lpstr>
      <vt:lpstr>Arial Unicode MS</vt:lpstr>
      <vt:lpstr>Symbol</vt:lpstr>
      <vt:lpstr>Consolas</vt:lpstr>
      <vt:lpstr>Courier New</vt:lpstr>
      <vt:lpstr>Tahoma</vt:lpstr>
      <vt:lpstr>楷体_GB2312</vt:lpstr>
      <vt:lpstr>新宋体</vt:lpstr>
      <vt:lpstr>Custom Design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CS101 Algorithms and Data Structures</vt:lpstr>
      <vt:lpstr>Outline</vt:lpstr>
      <vt:lpstr>Reverse-Polish Notation</vt:lpstr>
      <vt:lpstr>Reverse-Polish Notation</vt:lpstr>
      <vt:lpstr>Reverse-Polish Notation</vt:lpstr>
      <vt:lpstr>Reverse-Polish Notation</vt:lpstr>
      <vt:lpstr>Reverse-Polish Notation</vt:lpstr>
      <vt:lpstr>Reverse-Polish Notation</vt:lpstr>
      <vt:lpstr>Stack ADT</vt:lpstr>
      <vt:lpstr>Applications</vt:lpstr>
      <vt:lpstr>Reverse-Polish Notation</vt:lpstr>
      <vt:lpstr>Reverse-Polish Notation</vt:lpstr>
      <vt:lpstr>Reverse-Polish Notation</vt:lpstr>
      <vt:lpstr>Reverse-Polish Notation</vt:lpstr>
      <vt:lpstr>Reverse-Polish Notation</vt:lpstr>
      <vt:lpstr>Reverse-Polish Notation</vt:lpstr>
      <vt:lpstr>Reverse-Polish Notation</vt:lpstr>
      <vt:lpstr>Reverse-Polish Notation</vt:lpstr>
      <vt:lpstr>Reverse-Polish Notation</vt:lpstr>
      <vt:lpstr>Reverse-Polish Notation</vt:lpstr>
      <vt:lpstr>Reverse-Polish Notation</vt:lpstr>
      <vt:lpstr>Reverse-Polish Notation</vt:lpstr>
      <vt:lpstr>Reverse-Polish Notation</vt:lpstr>
      <vt:lpstr>Reverse-Polish Notation</vt:lpstr>
      <vt:lpstr>Reverse-Polish Notation</vt:lpstr>
      <vt:lpstr>Reverse-Polish Notation</vt:lpstr>
      <vt:lpstr>Reverse-Polish Notation</vt:lpstr>
      <vt:lpstr>Reverse-Polish Notation</vt:lpstr>
      <vt:lpstr>Reverse-Polish Notation</vt:lpstr>
      <vt:lpstr>Stack ADT</vt:lpstr>
      <vt:lpstr>Outline</vt:lpstr>
      <vt:lpstr>Implementations</vt:lpstr>
      <vt:lpstr>Linked-List Implementation</vt:lpstr>
      <vt:lpstr>Single_list Definition</vt:lpstr>
      <vt:lpstr>Stack-as-List Class</vt:lpstr>
      <vt:lpstr>Stack-as-List Class</vt:lpstr>
      <vt:lpstr>void push_front( int )</vt:lpstr>
      <vt:lpstr>void push_front( int )</vt:lpstr>
      <vt:lpstr>Stack-as-List Class</vt:lpstr>
      <vt:lpstr>int pop_front()</vt:lpstr>
      <vt:lpstr>int pop_front()</vt:lpstr>
      <vt:lpstr>int pop_front()</vt:lpstr>
      <vt:lpstr>int pop_front()</vt:lpstr>
      <vt:lpstr>int pop_front()</vt:lpstr>
      <vt:lpstr>int pop_front()</vt:lpstr>
      <vt:lpstr>int pop_front()</vt:lpstr>
      <vt:lpstr>int pop_front()</vt:lpstr>
      <vt:lpstr>int pop_front()</vt:lpstr>
      <vt:lpstr>Stack-as-List Class</vt:lpstr>
      <vt:lpstr>Array Implementation</vt:lpstr>
      <vt:lpstr>Stack-as-Array Class</vt:lpstr>
      <vt:lpstr>Constructor</vt:lpstr>
      <vt:lpstr>Constructor</vt:lpstr>
      <vt:lpstr>Destructor</vt:lpstr>
      <vt:lpstr>Empty</vt:lpstr>
      <vt:lpstr>Top</vt:lpstr>
      <vt:lpstr>Pop</vt:lpstr>
      <vt:lpstr>Push</vt:lpstr>
      <vt:lpstr>Exceptions</vt:lpstr>
      <vt:lpstr>Array Capacity</vt:lpstr>
      <vt:lpstr>Array Capacity</vt:lpstr>
      <vt:lpstr>Array Capacity</vt:lpstr>
      <vt:lpstr>Array Capacity</vt:lpstr>
      <vt:lpstr>Array Capacity</vt:lpstr>
      <vt:lpstr>Array Capacity</vt:lpstr>
      <vt:lpstr>Array Capacity</vt:lpstr>
      <vt:lpstr>Array Capacity</vt:lpstr>
      <vt:lpstr>Array Capacity</vt:lpstr>
      <vt:lpstr>Array Capacity</vt:lpstr>
      <vt:lpstr>Array Capacity</vt:lpstr>
      <vt:lpstr>Array Capacity</vt:lpstr>
      <vt:lpstr>Array Capacity</vt:lpstr>
      <vt:lpstr>Array Capacity</vt:lpstr>
      <vt:lpstr>Array Capacity</vt:lpstr>
      <vt:lpstr>Array Capacity</vt:lpstr>
      <vt:lpstr>Array Capacity</vt:lpstr>
      <vt:lpstr>Array Capacity</vt:lpstr>
      <vt:lpstr>Array Capacity</vt:lpstr>
      <vt:lpstr>Array Capacity</vt:lpstr>
      <vt:lpstr>Array Capacity</vt:lpstr>
      <vt:lpstr>Outline</vt:lpstr>
      <vt:lpstr>PowerPoint 演示文稿</vt:lpstr>
      <vt:lpstr>PowerPoint 演示文稿</vt:lpstr>
      <vt:lpstr>PowerPoint 演示文稿</vt:lpstr>
      <vt:lpstr>Application: Parsing</vt:lpstr>
      <vt:lpstr>Parsing XHTML</vt:lpstr>
      <vt:lpstr>Parsing XHTML</vt:lpstr>
      <vt:lpstr>Parsing XHTML</vt:lpstr>
      <vt:lpstr>Parsing XHTML</vt:lpstr>
      <vt:lpstr>Parsing XHTML</vt:lpstr>
      <vt:lpstr>Parsing XHTML</vt:lpstr>
      <vt:lpstr>Parsing XHTML</vt:lpstr>
      <vt:lpstr>Parsing XHTML</vt:lpstr>
      <vt:lpstr>Parsing XHTML</vt:lpstr>
      <vt:lpstr>Parsing XHTML</vt:lpstr>
      <vt:lpstr>Parsing XHTML</vt:lpstr>
      <vt:lpstr>Parsing XHTML</vt:lpstr>
      <vt:lpstr>Parsing XHTML</vt:lpstr>
      <vt:lpstr>Parsing XHTML</vt:lpstr>
      <vt:lpstr>Parsing XHTML</vt:lpstr>
      <vt:lpstr>Parsing XHTML</vt:lpstr>
      <vt:lpstr>Parsing C++</vt:lpstr>
      <vt:lpstr>Function calls</vt:lpstr>
      <vt:lpstr>Function calls</vt:lpstr>
      <vt:lpstr>Function calls</vt:lpstr>
      <vt:lpstr>Function calls</vt:lpstr>
      <vt:lpstr>StackOverflow</vt:lpstr>
      <vt:lpstr>Summary</vt:lpstr>
      <vt:lpstr>Standard Template Library</vt:lpstr>
      <vt:lpstr>Standard Template Library</vt:lpstr>
      <vt:lpstr>Standard Template Library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ECE 250 Algorithms and Data Structures</dc:title>
  <dc:creator>dwharder</dc:creator>
  <cp:lastModifiedBy>山河遗海</cp:lastModifiedBy>
  <cp:revision>1492</cp:revision>
  <dcterms:created xsi:type="dcterms:W3CDTF">2009-09-11T23:00:00Z</dcterms:created>
  <dcterms:modified xsi:type="dcterms:W3CDTF">2025-10-17T02:00:19Z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FCB6EA4A1D0D43F597E66ECAE8B1339E_13</vt:lpwstr>
  </property>
  <property fmtid="{D5CDD505-2E9C-101B-9397-08002B2CF9AE}" pid="3" name="KSOProductBuildVer">
    <vt:lpwstr>2052-12.1.0.22089</vt:lpwstr>
  </property>
</Properties>
</file>